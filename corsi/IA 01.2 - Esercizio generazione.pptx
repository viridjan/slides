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CA9440-8AAD-4FC4-B5F3-0C1070159A0A}">
  <a:tblStyle styleId="{4BCA9440-8AAD-4FC4-B5F3-0C1070159A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4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8333617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833361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965474a9_3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e965474a9_3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app.ludo.ai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blitzy.com/" TargetMode="External"/><Relationship Id="rId10" Type="http://schemas.openxmlformats.org/officeDocument/2006/relationships/hyperlink" Target="https://www.perplexity.ai/" TargetMode="External"/><Relationship Id="rId13" Type="http://schemas.openxmlformats.org/officeDocument/2006/relationships/hyperlink" Target="https://notebooklm.google/" TargetMode="External"/><Relationship Id="rId12" Type="http://schemas.openxmlformats.org/officeDocument/2006/relationships/hyperlink" Target="https://www.descript.com/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gemini.google.com" TargetMode="External"/><Relationship Id="rId9" Type="http://schemas.openxmlformats.org/officeDocument/2006/relationships/hyperlink" Target="https://elevenlabs.io/" TargetMode="External"/><Relationship Id="rId15" Type="http://schemas.openxmlformats.org/officeDocument/2006/relationships/hyperlink" Target="https://character.ai/" TargetMode="External"/><Relationship Id="rId14" Type="http://schemas.openxmlformats.org/officeDocument/2006/relationships/hyperlink" Target="https://aistudio.google.com" TargetMode="External"/><Relationship Id="rId17" Type="http://schemas.openxmlformats.org/officeDocument/2006/relationships/hyperlink" Target="https://www.meshy.ai" TargetMode="External"/><Relationship Id="rId16" Type="http://schemas.openxmlformats.org/officeDocument/2006/relationships/hyperlink" Target="https://suno.com/home" TargetMode="External"/><Relationship Id="rId5" Type="http://schemas.openxmlformats.org/officeDocument/2006/relationships/hyperlink" Target="https://deepai.org" TargetMode="External"/><Relationship Id="rId6" Type="http://schemas.openxmlformats.org/officeDocument/2006/relationships/hyperlink" Target="https://sora.chatgpt.com" TargetMode="External"/><Relationship Id="rId7" Type="http://schemas.openxmlformats.org/officeDocument/2006/relationships/hyperlink" Target="https://aistudio.google.com" TargetMode="External"/><Relationship Id="rId8" Type="http://schemas.openxmlformats.org/officeDocument/2006/relationships/hyperlink" Target="https://www.udio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 per Docenti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Approfondimento sugli Strumenti Digitali per la Didattica 4.0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44250" y="559075"/>
            <a:ext cx="5171100" cy="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Utilizziamo le IA</a:t>
            </a:r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525" y="1924150"/>
            <a:ext cx="4292466" cy="321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789525" y="3367575"/>
            <a:ext cx="207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https://app.ludo.ai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83101" y="712150"/>
            <a:ext cx="33585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4"/>
              </a:rPr>
              <a:t>Gemini (Veo)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000" u="sng">
                <a:solidFill>
                  <a:schemeClr val="hlink"/>
                </a:solidFill>
                <a:hlinkClick r:id="rId5"/>
              </a:rPr>
              <a:t>DeepAI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6"/>
              </a:rPr>
              <a:t>chatGPT (Sora)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7"/>
              </a:rPr>
              <a:t>Google AI Studio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8"/>
              </a:rPr>
              <a:t>Udio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9"/>
              </a:rPr>
              <a:t>Eleven labs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0"/>
              </a:rPr>
              <a:t>Perplexity</a:t>
            </a:r>
            <a:endParaRPr sz="3000"/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3811126" y="712150"/>
            <a:ext cx="33585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1"/>
              </a:rPr>
              <a:t>Blitzy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2"/>
              </a:rPr>
              <a:t>Descript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3"/>
              </a:rPr>
              <a:t>NotebookLM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4"/>
              </a:rPr>
              <a:t>Google AI Studio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5"/>
              </a:rPr>
              <a:t>Character.ai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6"/>
              </a:rPr>
              <a:t>Suno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17"/>
              </a:rPr>
              <a:t>Meshy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Creiamo con l’IA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92" name="Google Shape;92;p16"/>
          <p:cNvGraphicFramePr/>
          <p:nvPr/>
        </p:nvGraphicFramePr>
        <p:xfrm>
          <a:off x="323100" y="23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{4BCA9440-8AAD-4FC4-B5F3-0C1070159A0A}</a:tableStyleId>
              </a:tblPr>
              <a:tblGrid>
                <a:gridCol w="710225"/>
                <a:gridCol w="710225"/>
                <a:gridCol w="710225"/>
                <a:gridCol w="1037600"/>
                <a:gridCol w="382850"/>
                <a:gridCol w="710225"/>
                <a:gridCol w="710225"/>
                <a:gridCol w="710225"/>
                <a:gridCol w="710225"/>
                <a:gridCol w="710225"/>
                <a:gridCol w="710225"/>
                <a:gridCol w="710225"/>
              </a:tblGrid>
              <a:tr h="719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Progettazione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Realizzazione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93" name="Google Shape;93;p16"/>
          <p:cNvCxnSpPr/>
          <p:nvPr/>
        </p:nvCxnSpPr>
        <p:spPr>
          <a:xfrm rot="10800000">
            <a:off x="569975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" name="Google Shape;94;p16"/>
          <p:cNvSpPr txBox="1"/>
          <p:nvPr>
            <p:ph type="title"/>
          </p:nvPr>
        </p:nvSpPr>
        <p:spPr>
          <a:xfrm>
            <a:off x="646175" y="1235062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Target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5" name="Google Shape;95;p16"/>
          <p:cNvSpPr txBox="1"/>
          <p:nvPr>
            <p:ph idx="4294967295" type="body"/>
          </p:nvPr>
        </p:nvSpPr>
        <p:spPr>
          <a:xfrm>
            <a:off x="646175" y="1560475"/>
            <a:ext cx="18834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Definiamo un target comune da realizzare.</a:t>
            </a:r>
            <a:endParaRPr sz="1400"/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1422209" y="3668337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Task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16"/>
          <p:cNvSpPr txBox="1"/>
          <p:nvPr>
            <p:ph idx="4294967295" type="body"/>
          </p:nvPr>
        </p:nvSpPr>
        <p:spPr>
          <a:xfrm>
            <a:off x="1422209" y="3993750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dividiamo </a:t>
            </a:r>
            <a:r>
              <a:rPr lang="en" sz="1400"/>
              <a:t>l'attività</a:t>
            </a:r>
            <a:r>
              <a:rPr lang="en" sz="1400"/>
              <a:t> in compiti individuali</a:t>
            </a:r>
            <a:endParaRPr sz="1400"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3414657" y="1235062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Pick yours!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>
            <p:ph idx="4294967295" type="body"/>
          </p:nvPr>
        </p:nvSpPr>
        <p:spPr>
          <a:xfrm>
            <a:off x="3414649" y="1560476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Assegniamo</a:t>
            </a:r>
            <a:r>
              <a:rPr lang="en" sz="1400"/>
              <a:t> i compiti a singole persone (o gruppi)</a:t>
            </a:r>
            <a:endParaRPr sz="1400"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654322" y="3668337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bit of work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1" name="Google Shape;101;p16"/>
          <p:cNvSpPr txBox="1"/>
          <p:nvPr>
            <p:ph idx="4294967295" type="body"/>
          </p:nvPr>
        </p:nvSpPr>
        <p:spPr>
          <a:xfrm>
            <a:off x="3654325" y="3993750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Risolviamo i compiti</a:t>
            </a:r>
            <a:endParaRPr sz="1400"/>
          </a:p>
        </p:txBody>
      </p:sp>
      <p:cxnSp>
        <p:nvCxnSpPr>
          <p:cNvPr id="102" name="Google Shape;102;p16"/>
          <p:cNvCxnSpPr/>
          <p:nvPr/>
        </p:nvCxnSpPr>
        <p:spPr>
          <a:xfrm>
            <a:off x="1346000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3" name="Google Shape;103;p16"/>
          <p:cNvCxnSpPr/>
          <p:nvPr/>
        </p:nvCxnSpPr>
        <p:spPr>
          <a:xfrm rot="10800000">
            <a:off x="3321350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3578125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5" name="Google Shape;105;p16"/>
          <p:cNvSpPr txBox="1"/>
          <p:nvPr>
            <p:ph type="title"/>
          </p:nvPr>
        </p:nvSpPr>
        <p:spPr>
          <a:xfrm>
            <a:off x="7088807" y="1235062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Assemble!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6" name="Google Shape;106;p16"/>
          <p:cNvSpPr txBox="1"/>
          <p:nvPr>
            <p:ph idx="4294967295" type="body"/>
          </p:nvPr>
        </p:nvSpPr>
        <p:spPr>
          <a:xfrm>
            <a:off x="7088800" y="1560475"/>
            <a:ext cx="1636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Mettiamo assieme i risultati</a:t>
            </a:r>
            <a:endParaRPr sz="1400"/>
          </a:p>
        </p:txBody>
      </p:sp>
      <p:cxnSp>
        <p:nvCxnSpPr>
          <p:cNvPr id="107" name="Google Shape;107;p16"/>
          <p:cNvCxnSpPr/>
          <p:nvPr/>
        </p:nvCxnSpPr>
        <p:spPr>
          <a:xfrm rot="10800000">
            <a:off x="6995500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