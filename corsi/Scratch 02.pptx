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embeddedFontLst>
    <p:embeddedFont>
      <p:font typeface="Raleway"/>
      <p:regular r:id="rId35"/>
      <p:bold r:id="rId36"/>
      <p:italic r:id="rId37"/>
      <p:boldItalic r:id="rId38"/>
    </p:embeddedFont>
    <p:embeddedFont>
      <p:font typeface="Lato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bold.fntdata"/><Relationship Id="rId20" Type="http://schemas.openxmlformats.org/officeDocument/2006/relationships/slide" Target="slides/slide15.xml"/><Relationship Id="rId42" Type="http://schemas.openxmlformats.org/officeDocument/2006/relationships/font" Target="fonts/Lato-boldItalic.fntdata"/><Relationship Id="rId41" Type="http://schemas.openxmlformats.org/officeDocument/2006/relationships/font" Target="fonts/Lato-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Raleway-regular.fnt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Raleway-italic.fntdata"/><Relationship Id="rId14" Type="http://schemas.openxmlformats.org/officeDocument/2006/relationships/slide" Target="slides/slide9.xml"/><Relationship Id="rId36" Type="http://schemas.openxmlformats.org/officeDocument/2006/relationships/font" Target="fonts/Raleway-bold.fntdata"/><Relationship Id="rId17" Type="http://schemas.openxmlformats.org/officeDocument/2006/relationships/slide" Target="slides/slide12.xml"/><Relationship Id="rId39" Type="http://schemas.openxmlformats.org/officeDocument/2006/relationships/font" Target="fonts/Lato-regular.fntdata"/><Relationship Id="rId16" Type="http://schemas.openxmlformats.org/officeDocument/2006/relationships/slide" Target="slides/slide11.xml"/><Relationship Id="rId38" Type="http://schemas.openxmlformats.org/officeDocument/2006/relationships/font" Target="fonts/Raleway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b9a0b07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b9a0b07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d95cf5b0e5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d95cf5b0e5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37bda883d3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37bda883d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37bda883d3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37bda883d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37bda883d3_0_1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37bda883d3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723630543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723630543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37bda883d3_0_2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37bda883d3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37bda883d3_0_3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37bda883d3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37bda883d3_0_5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37bda883d3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37bda883d3_0_6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37bda883d3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37bda883d3_0_7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37bda883d3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37bda883d3_0_8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37bda883d3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37bda883d3_0_9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37bda883d3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37bda883d3_0_10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37bda883d3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37bda883d3_0_1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37bda883d3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37bda883d3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37bda883d3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37bda883d3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37bda883d3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37bda883d3_0_14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37bda883d3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37bda883d3_0_16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37bda883d3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37bda883d3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37bda883d3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37bda883d3_0_17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37bda883d3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37bda883d3_0_18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37bda883d3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37bda883d3_0_19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37bda883d3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37bda883d3_0_20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37bda883d3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37bda883d3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37bda883d3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37bda883d3_0_21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37bda883d3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37bda883d3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37bda883d3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37bda883d3_0_2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37bda883d3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37bda883d3_0_25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37bda883d3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353535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8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Relationship Id="rId6" Type="http://schemas.openxmlformats.org/officeDocument/2006/relationships/image" Target="../media/image24.png"/><Relationship Id="rId7" Type="http://schemas.openxmlformats.org/officeDocument/2006/relationships/image" Target="../media/image14.png"/><Relationship Id="rId8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Relationship Id="rId6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35.png"/><Relationship Id="rId6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18.png"/><Relationship Id="rId6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2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3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3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5.png"/><Relationship Id="rId4" Type="http://schemas.openxmlformats.org/officeDocument/2006/relationships/image" Target="../media/image31.png"/><Relationship Id="rId5" Type="http://schemas.openxmlformats.org/officeDocument/2006/relationships/image" Target="../media/image3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2.png"/><Relationship Id="rId4" Type="http://schemas.openxmlformats.org/officeDocument/2006/relationships/image" Target="../media/image27.png"/><Relationship Id="rId5" Type="http://schemas.openxmlformats.org/officeDocument/2006/relationships/image" Target="../media/image2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0.png"/><Relationship Id="rId4" Type="http://schemas.openxmlformats.org/officeDocument/2006/relationships/image" Target="../media/image40.png"/><Relationship Id="rId5" Type="http://schemas.openxmlformats.org/officeDocument/2006/relationships/image" Target="../media/image2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9" Type="http://schemas.openxmlformats.org/officeDocument/2006/relationships/image" Target="../media/image33.png"/><Relationship Id="rId5" Type="http://schemas.openxmlformats.org/officeDocument/2006/relationships/image" Target="../media/image29.png"/><Relationship Id="rId6" Type="http://schemas.openxmlformats.org/officeDocument/2006/relationships/image" Target="../media/image41.png"/><Relationship Id="rId7" Type="http://schemas.openxmlformats.org/officeDocument/2006/relationships/image" Target="../media/image26.png"/><Relationship Id="rId8" Type="http://schemas.openxmlformats.org/officeDocument/2006/relationships/image" Target="../media/image2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3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39.png"/><Relationship Id="rId6" Type="http://schemas.openxmlformats.org/officeDocument/2006/relationships/image" Target="../media/image36.png"/><Relationship Id="rId7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4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Corso di Formazione per Docenti</a:t>
            </a:r>
            <a:endParaRPr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Approfondimento sugli Strumenti Digitali per la Didattica 4.0</a:t>
            </a:r>
            <a:endParaRPr b="1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idx="4294967295" type="title"/>
          </p:nvPr>
        </p:nvSpPr>
        <p:spPr>
          <a:xfrm>
            <a:off x="535775" y="712150"/>
            <a:ext cx="5197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600">
                <a:solidFill>
                  <a:schemeClr val="accent4"/>
                </a:solidFill>
              </a:rPr>
              <a:t>Contenuti del corso</a:t>
            </a:r>
            <a:endParaRPr sz="2400">
              <a:solidFill>
                <a:schemeClr val="accent4"/>
              </a:solidFill>
            </a:endParaRPr>
          </a:p>
        </p:txBody>
      </p:sp>
      <p:sp>
        <p:nvSpPr>
          <p:cNvPr id="79" name="Google Shape;79;p14"/>
          <p:cNvSpPr txBox="1"/>
          <p:nvPr>
            <p:ph idx="4294967295" type="title"/>
          </p:nvPr>
        </p:nvSpPr>
        <p:spPr>
          <a:xfrm>
            <a:off x="535775" y="1480150"/>
            <a:ext cx="5197200" cy="30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0" lang="en" sz="1800">
                <a:latin typeface="Lato"/>
                <a:ea typeface="Lato"/>
                <a:cs typeface="Lato"/>
                <a:sym typeface="Lato"/>
              </a:rPr>
              <a:t>Programmazione con Scratch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0" name="Google Shape;8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6100" y="2164812"/>
            <a:ext cx="5197200" cy="2486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/>
          <p:nvPr>
            <p:ph idx="1" type="body"/>
          </p:nvPr>
        </p:nvSpPr>
        <p:spPr>
          <a:xfrm>
            <a:off x="297900" y="108725"/>
            <a:ext cx="8548200" cy="97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000">
                <a:solidFill>
                  <a:schemeClr val="accent4"/>
                </a:solidFill>
              </a:rPr>
              <a:t>Aggiungiamo nuovi comandi ed estensioni</a:t>
            </a:r>
            <a:endParaRPr sz="1500">
              <a:solidFill>
                <a:srgbClr val="000000"/>
              </a:solidFill>
            </a:endParaRPr>
          </a:p>
        </p:txBody>
      </p:sp>
      <p:pic>
        <p:nvPicPr>
          <p:cNvPr id="86" name="Google Shape;8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3261" y="1429725"/>
            <a:ext cx="6277477" cy="3350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4175" y="1068574"/>
            <a:ext cx="985600" cy="34994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5"/>
          <p:cNvSpPr/>
          <p:nvPr/>
        </p:nvSpPr>
        <p:spPr>
          <a:xfrm>
            <a:off x="186650" y="4040575"/>
            <a:ext cx="705600" cy="739800"/>
          </a:xfrm>
          <a:prstGeom prst="ellipse">
            <a:avLst/>
          </a:prstGeom>
          <a:solidFill>
            <a:srgbClr val="9E9E9E">
              <a:alpha val="0"/>
            </a:srgbClr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9" name="Google Shape;89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10527" y="403863"/>
            <a:ext cx="565550" cy="429117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5"/>
          <p:cNvSpPr/>
          <p:nvPr/>
        </p:nvSpPr>
        <p:spPr>
          <a:xfrm>
            <a:off x="8140500" y="4040575"/>
            <a:ext cx="705600" cy="739800"/>
          </a:xfrm>
          <a:prstGeom prst="ellipse">
            <a:avLst/>
          </a:prstGeom>
          <a:solidFill>
            <a:srgbClr val="9E9E9E">
              <a:alpha val="0"/>
            </a:srgbClr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96" name="Google Shape;96;p16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1250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6"/>
          <p:cNvSpPr txBox="1"/>
          <p:nvPr/>
        </p:nvSpPr>
        <p:spPr>
          <a:xfrm>
            <a:off x="569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Questionario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8" name="Google Shape;98;p16"/>
          <p:cNvSpPr txBox="1"/>
          <p:nvPr>
            <p:ph idx="1" type="body"/>
          </p:nvPr>
        </p:nvSpPr>
        <p:spPr>
          <a:xfrm>
            <a:off x="569550" y="135400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Realizziamo un questionario a tempo.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Come primo passo creiamo un nuovo file tramite il percorso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File &gt; Nuovo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Importiamo gli sprite necessari.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In questo caso sono stati importati gli sprite di Dante e di Paolo e Francesca.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Se non disponiamo di tali sprite, possiamo provare a cercarli su un motore di ricerca.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Le parole chiave “sprite” e “png” dovrebbero essere d’aiuto.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99" name="Google Shape;99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02700" y="152400"/>
            <a:ext cx="3983039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05" name="Google Shape;105;p17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1250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7"/>
          <p:cNvSpPr txBox="1"/>
          <p:nvPr/>
        </p:nvSpPr>
        <p:spPr>
          <a:xfrm>
            <a:off x="569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Questionario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7" name="Google Shape;107;p17"/>
          <p:cNvSpPr txBox="1"/>
          <p:nvPr>
            <p:ph idx="1" type="body"/>
          </p:nvPr>
        </p:nvSpPr>
        <p:spPr>
          <a:xfrm>
            <a:off x="569550" y="135400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Una volta inseriti i personaggi, importiamo uno stage dalla libreria Scratch e posizioniamoci su di esso per scrivere un codice comune.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Possiamo inserire un timer nel questionario, quindi abbiamo bisogno della variabile “tempo”.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08" name="Google Shape;10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02700" y="152400"/>
            <a:ext cx="3983039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4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14" name="Google Shape;114;p18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8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Variabili e liste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6" name="Google Shape;116;p18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Sia per le animazioni che per i giochi, avremo bisogno di variabili e liste per memorizzare i dati e prelevarli quando necessari.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In Scratch le variabili non hanno una tipologia definita, quindi possiamo caricare dentro di essa numeri, lettere o parole a nostro piacimento senza dover specificare lunghezza e/o tipo della variabile.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In Scratch le variabili contengono un singola informazione, possiamo considerarle come un cassetto. Le liste invece possono contenere una serie di informazioni, potremo quindi considerarle come delle cassettiere.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22" name="Google Shape;122;p19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1250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9"/>
          <p:cNvSpPr txBox="1"/>
          <p:nvPr/>
        </p:nvSpPr>
        <p:spPr>
          <a:xfrm>
            <a:off x="569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Questionario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24" name="Google Shape;124;p19"/>
          <p:cNvSpPr txBox="1"/>
          <p:nvPr>
            <p:ph idx="1" type="body"/>
          </p:nvPr>
        </p:nvSpPr>
        <p:spPr>
          <a:xfrm>
            <a:off x="569550" y="135400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Clicchiamo sul pulsante Variabili per accedere ai comandi per le variabili.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Cliccando su “Crea una Variabile” ci sarà richiesto di inserire il nome della variabile.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Utilizzare nomi semplici ed esplicativi è consigliato anche in questo caso.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La forma delle variabili è quella tondeggiante presente all’interno dei vari comandi, ciò significa che le variabili possono essere inserite in tali spazi al posto di valori statici rendendo tutto più versatile.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25" name="Google Shape;125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65700" y="535975"/>
            <a:ext cx="809625" cy="69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06800" y="1134225"/>
            <a:ext cx="2035475" cy="287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94675" y="1143000"/>
            <a:ext cx="1588900" cy="132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363175" y="2608775"/>
            <a:ext cx="1588900" cy="1335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34" name="Google Shape;134;p20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1250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0"/>
          <p:cNvSpPr txBox="1"/>
          <p:nvPr/>
        </p:nvSpPr>
        <p:spPr>
          <a:xfrm>
            <a:off x="569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Questionario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6" name="Google Shape;136;p20"/>
          <p:cNvSpPr txBox="1"/>
          <p:nvPr>
            <p:ph idx="1" type="body"/>
          </p:nvPr>
        </p:nvSpPr>
        <p:spPr>
          <a:xfrm>
            <a:off x="569550" y="135400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In qualsiasi momento possiamo interagire con una variabile attraverso i comandi: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Font typeface="Raleway"/>
              <a:buChar char="-"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Porta X a Y 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Associa alla variabile un nuovo valore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Font typeface="Raleway"/>
              <a:buChar char="-"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Cambia X di Y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Cambia il valore di un numero Y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37" name="Google Shape;13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78050" y="1134225"/>
            <a:ext cx="2035475" cy="287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43" name="Google Shape;143;p21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1250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1"/>
          <p:cNvSpPr txBox="1"/>
          <p:nvPr/>
        </p:nvSpPr>
        <p:spPr>
          <a:xfrm>
            <a:off x="569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Questionario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5" name="Google Shape;145;p21"/>
          <p:cNvSpPr txBox="1"/>
          <p:nvPr>
            <p:ph idx="1" type="body"/>
          </p:nvPr>
        </p:nvSpPr>
        <p:spPr>
          <a:xfrm>
            <a:off x="569550" y="135400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Iniziamo a programmare lo stage creando un messaggio di inizio.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46" name="Google Shape;146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65700" y="1828800"/>
            <a:ext cx="3995425" cy="2970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50675" y="227750"/>
            <a:ext cx="1619350" cy="216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53" name="Google Shape;153;p22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1250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2"/>
          <p:cNvSpPr txBox="1"/>
          <p:nvPr/>
        </p:nvSpPr>
        <p:spPr>
          <a:xfrm>
            <a:off x="569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Questionario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5" name="Google Shape;155;p22"/>
          <p:cNvSpPr txBox="1"/>
          <p:nvPr>
            <p:ph idx="1" type="body"/>
          </p:nvPr>
        </p:nvSpPr>
        <p:spPr>
          <a:xfrm>
            <a:off x="569550" y="135400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Iniziamo a programmare lo stage creando un messaggio di inizio.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Posizioniamoci nei rispettivi sprite e </a:t>
            </a:r>
            <a:r>
              <a:rPr b="1" lang="en">
                <a:latin typeface="Raleway"/>
                <a:ea typeface="Raleway"/>
                <a:cs typeface="Raleway"/>
                <a:sym typeface="Raleway"/>
              </a:rPr>
              <a:t>inizializziamo</a:t>
            </a:r>
            <a:r>
              <a:rPr lang="en">
                <a:latin typeface="Raleway"/>
                <a:ea typeface="Raleway"/>
                <a:cs typeface="Raleway"/>
                <a:sym typeface="Raleway"/>
              </a:rPr>
              <a:t> il gatto (visibile), Dante e Paolo e Francesca (invisibili).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Il termine </a:t>
            </a:r>
            <a:r>
              <a:rPr i="1" lang="en">
                <a:latin typeface="Raleway"/>
                <a:ea typeface="Raleway"/>
                <a:cs typeface="Raleway"/>
                <a:sym typeface="Raleway"/>
              </a:rPr>
              <a:t>inizializzare</a:t>
            </a:r>
            <a:r>
              <a:rPr lang="en">
                <a:latin typeface="Raleway"/>
                <a:ea typeface="Raleway"/>
                <a:cs typeface="Raleway"/>
                <a:sym typeface="Raleway"/>
              </a:rPr>
              <a:t> si riferisce all’algoritmo che definisce qual è lo stato iniziale di una variabile o oggetto.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56" name="Google Shape;156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65700" y="1828800"/>
            <a:ext cx="3995425" cy="2970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31749" y="242275"/>
            <a:ext cx="2310201" cy="11526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94974" y="1449999"/>
            <a:ext cx="2183750" cy="105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594975" y="2501750"/>
            <a:ext cx="2183750" cy="1430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65" name="Google Shape;165;p23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1250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3"/>
          <p:cNvSpPr txBox="1"/>
          <p:nvPr/>
        </p:nvSpPr>
        <p:spPr>
          <a:xfrm>
            <a:off x="569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Interagiamo!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67" name="Google Shape;167;p23"/>
          <p:cNvSpPr txBox="1"/>
          <p:nvPr>
            <p:ph idx="1" type="body"/>
          </p:nvPr>
        </p:nvSpPr>
        <p:spPr>
          <a:xfrm>
            <a:off x="569550" y="135400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All’interno della scheda Sensori, possiamo inserire un blocco di domanda.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Anche in questo caso stiamo attribuendo un valore ad una variabile, ma a differenza dei casi precedenti, sarà l’utente ad inserirne il valore.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Questa variabile potrà essere utilizzata come quelle viste in passato.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ATTENZIONE! Sarà sempre memorizzata l’ultima risposta digitata.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68" name="Google Shape;168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65700" y="1828800"/>
            <a:ext cx="3995425" cy="2970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86988" y="162725"/>
            <a:ext cx="3752850" cy="148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75" name="Google Shape;175;p24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1250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4"/>
          <p:cNvSpPr txBox="1"/>
          <p:nvPr/>
        </p:nvSpPr>
        <p:spPr>
          <a:xfrm>
            <a:off x="569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Interagiamo!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7" name="Google Shape;177;p24"/>
          <p:cNvSpPr txBox="1"/>
          <p:nvPr>
            <p:ph idx="1" type="body"/>
          </p:nvPr>
        </p:nvSpPr>
        <p:spPr>
          <a:xfrm>
            <a:off x="569550" y="135400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Il sistema permette di fare tantissime cose, però bisogna sempre ricordare che il PC non capisce il nostro linguaggio e si limiterà a memorizzare quanto scritto.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Tutto ciò che verrà scritto verrà memorizzato ed è </a:t>
            </a:r>
            <a:r>
              <a:rPr b="1" lang="en">
                <a:latin typeface="Raleway"/>
                <a:ea typeface="Raleway"/>
                <a:cs typeface="Raleway"/>
                <a:sym typeface="Raleway"/>
              </a:rPr>
              <a:t>case sensitive</a:t>
            </a:r>
            <a:r>
              <a:rPr lang="en">
                <a:latin typeface="Raleway"/>
                <a:ea typeface="Raleway"/>
                <a:cs typeface="Raleway"/>
                <a:sym typeface="Raleway"/>
              </a:rPr>
              <a:t> (distingue e ricorda quali lettere sono state scritte in maiuscolo e quali in minuscolo).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Pertanto ricordiamo che è importante fare attenzione quando si faranno dei controlli sulle risposte date dai ragazzi.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78" name="Google Shape;178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1" y="768750"/>
            <a:ext cx="4301800" cy="159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95600" y="2889113"/>
            <a:ext cx="4254601" cy="14363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85" name="Google Shape;185;p25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1250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5"/>
          <p:cNvSpPr txBox="1"/>
          <p:nvPr/>
        </p:nvSpPr>
        <p:spPr>
          <a:xfrm>
            <a:off x="569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Interagiamo!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87" name="Google Shape;187;p25"/>
          <p:cNvSpPr txBox="1"/>
          <p:nvPr>
            <p:ph idx="1" type="body"/>
          </p:nvPr>
        </p:nvSpPr>
        <p:spPr>
          <a:xfrm>
            <a:off x="569550" y="135400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La struttura può sembrare complessa ma è abbastanza elementare se ci soffermiamo sui blocchi singoli.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Inoltre se la costruzione di tali pile risulta complessa, non scoraggiamoci, man mano verranno sempre più naturali.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Il comando </a:t>
            </a:r>
            <a:r>
              <a:rPr b="1" lang="en">
                <a:latin typeface="Raleway"/>
                <a:ea typeface="Raleway"/>
                <a:cs typeface="Raleway"/>
                <a:sym typeface="Raleway"/>
              </a:rPr>
              <a:t>unione </a:t>
            </a:r>
            <a:r>
              <a:rPr lang="en">
                <a:latin typeface="Raleway"/>
                <a:ea typeface="Raleway"/>
                <a:cs typeface="Raleway"/>
                <a:sym typeface="Raleway"/>
              </a:rPr>
              <a:t>permette di </a:t>
            </a:r>
            <a:r>
              <a:rPr b="1" lang="en">
                <a:latin typeface="Raleway"/>
                <a:ea typeface="Raleway"/>
                <a:cs typeface="Raleway"/>
                <a:sym typeface="Raleway"/>
              </a:rPr>
              <a:t>concatenare </a:t>
            </a:r>
            <a:r>
              <a:rPr lang="en">
                <a:latin typeface="Raleway"/>
                <a:ea typeface="Raleway"/>
                <a:cs typeface="Raleway"/>
                <a:sym typeface="Raleway"/>
              </a:rPr>
              <a:t>due variabili.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Le variabili verranno pertanto mostrate in sequenza.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88" name="Google Shape;188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96650" y="1351450"/>
            <a:ext cx="4425899" cy="24405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94" name="Google Shape;194;p26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1250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6"/>
          <p:cNvSpPr txBox="1"/>
          <p:nvPr/>
        </p:nvSpPr>
        <p:spPr>
          <a:xfrm>
            <a:off x="569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Interagiamo!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96" name="Google Shape;196;p26"/>
          <p:cNvSpPr txBox="1"/>
          <p:nvPr>
            <p:ph idx="1" type="body"/>
          </p:nvPr>
        </p:nvSpPr>
        <p:spPr>
          <a:xfrm>
            <a:off x="569550" y="135400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La risposta ulteriore, può contenere comandi </a:t>
            </a:r>
            <a:r>
              <a:rPr b="1" lang="en">
                <a:latin typeface="Raleway"/>
                <a:ea typeface="Raleway"/>
                <a:cs typeface="Raleway"/>
                <a:sym typeface="Raleway"/>
              </a:rPr>
              <a:t>annidati</a:t>
            </a:r>
            <a:r>
              <a:rPr lang="en">
                <a:latin typeface="Raleway"/>
                <a:ea typeface="Raleway"/>
                <a:cs typeface="Raleway"/>
                <a:sym typeface="Raleway"/>
              </a:rPr>
              <a:t>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I comandi sono gli stessi visti nella slide precedente ma messi gli uni dentro gli altri.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97" name="Google Shape;197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96650" y="1351450"/>
            <a:ext cx="4425899" cy="2440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4495" y="1942420"/>
            <a:ext cx="3503000" cy="52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204" name="Google Shape;204;p27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1250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7"/>
          <p:cNvSpPr txBox="1"/>
          <p:nvPr/>
        </p:nvSpPr>
        <p:spPr>
          <a:xfrm>
            <a:off x="569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Interagiamo!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06" name="Google Shape;206;p27"/>
          <p:cNvSpPr txBox="1"/>
          <p:nvPr>
            <p:ph idx="1" type="body"/>
          </p:nvPr>
        </p:nvSpPr>
        <p:spPr>
          <a:xfrm>
            <a:off x="569550" y="135400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In questo blocco inseriamo una condizione tale da permettere un comportamento diverso sulla base della risposta del ragazzo.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Se la risposta dovesse essere “si” (in minuscolo, senza spazi o altri caratteri), l’algoritmo procederà ad inviare la prima domanda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07" name="Google Shape;207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24050" y="1551613"/>
            <a:ext cx="4425900" cy="20402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4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700" y="162725"/>
            <a:ext cx="4615350" cy="48180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213" name="Google Shape;213;p28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1430375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8"/>
          <p:cNvSpPr txBox="1"/>
          <p:nvPr/>
        </p:nvSpPr>
        <p:spPr>
          <a:xfrm>
            <a:off x="569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If / then / else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5" name="Google Shape;215;p28"/>
          <p:cNvSpPr txBox="1"/>
          <p:nvPr>
            <p:ph idx="4294967295" type="body"/>
          </p:nvPr>
        </p:nvSpPr>
        <p:spPr>
          <a:xfrm>
            <a:off x="504525" y="1377475"/>
            <a:ext cx="39237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Una struttura molto ricorrente nella programmazione sono gli </a:t>
            </a: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if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Permettono di imporre una condizione sulla base della quale viene eseguito un codice oppure no.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Le </a:t>
            </a: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condizioni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, in Scratch, sono raffigurate da esagoni.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Il blocco in alto presenta la condizione </a:t>
            </a: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if / then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. Nel caso la condizione dovesse essere vera, il codice procede con le istruzioni all’interno, altrimenti le salta.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Il blocco in basso permette di eseguire un set di istruzioni in caso di condizione vera o un secondo set di istruzioni in caso di condizione falsa.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16" name="Google Shape;216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99950" y="152400"/>
            <a:ext cx="2724009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4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700" y="162725"/>
            <a:ext cx="4615350" cy="48180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222" name="Google Shape;222;p29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1430375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9"/>
          <p:cNvSpPr txBox="1"/>
          <p:nvPr/>
        </p:nvSpPr>
        <p:spPr>
          <a:xfrm>
            <a:off x="569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Condizioni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24" name="Google Shape;224;p29"/>
          <p:cNvSpPr txBox="1"/>
          <p:nvPr>
            <p:ph idx="4294967295" type="body"/>
          </p:nvPr>
        </p:nvSpPr>
        <p:spPr>
          <a:xfrm>
            <a:off x="504525" y="1377475"/>
            <a:ext cx="39237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Le condizioni possono essere di diversi tipi, sulla destra ne vediamo raffigurate alcune.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Le prime sono di natura puramente aritmetica, le seconde sono di natura logica.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i="1" lang="en" sz="1200">
                <a:latin typeface="Raleway"/>
                <a:ea typeface="Raleway"/>
                <a:cs typeface="Raleway"/>
                <a:sym typeface="Raleway"/>
              </a:rPr>
              <a:t>Provate a suggerire il loro funzionamento!</a:t>
            </a:r>
            <a:endParaRPr i="1"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25" name="Google Shape;225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84025" y="895350"/>
            <a:ext cx="1771650" cy="335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231" name="Google Shape;231;p30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1250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30"/>
          <p:cNvSpPr txBox="1"/>
          <p:nvPr/>
        </p:nvSpPr>
        <p:spPr>
          <a:xfrm>
            <a:off x="569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Il timer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33" name="Google Shape;233;p30"/>
          <p:cNvSpPr txBox="1"/>
          <p:nvPr>
            <p:ph idx="1" type="body"/>
          </p:nvPr>
        </p:nvSpPr>
        <p:spPr>
          <a:xfrm>
            <a:off x="569550" y="135400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L’algoritmo sulla destra rappresenta una sequenza di comandi che permette di fare un countdown.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Fa utilizzo di un ciclo per sempre e agisce riducendo il tempo di 1, quindi aspetta 1 secondo  e ripete la procedura.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Ogni volta che l’algoritmo si ripete, verifica se il tempo ha raggiunto lo zero, in tal caso procede inviando il messaggio “tempo scaduto”.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34" name="Google Shape;234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94475" y="412500"/>
            <a:ext cx="3701576" cy="431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240" name="Google Shape;240;p31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1250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1"/>
          <p:cNvSpPr txBox="1"/>
          <p:nvPr/>
        </p:nvSpPr>
        <p:spPr>
          <a:xfrm>
            <a:off x="569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Il timer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42" name="Google Shape;242;p31"/>
          <p:cNvSpPr txBox="1"/>
          <p:nvPr>
            <p:ph idx="1" type="body"/>
          </p:nvPr>
        </p:nvSpPr>
        <p:spPr>
          <a:xfrm>
            <a:off x="569550" y="135400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L’algoritmo sulla destra rappresenta una sequenza di comandi che permette di fare un countdown.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Fa utilizzo di un ciclo per sempre e agisce riducendo il tempo di 1, quindi aspetta 1 secondo  e ripete la procedura.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Ogni volta che l’algoritmo si ripete, verifica se il tempo ha raggiunto lo zero, in tal caso procede inviando il messaggio “tempo scaduto”.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i="1" lang="en">
                <a:latin typeface="Raleway"/>
                <a:ea typeface="Raleway"/>
                <a:cs typeface="Raleway"/>
                <a:sym typeface="Raleway"/>
              </a:rPr>
              <a:t>Trova l’errore!</a:t>
            </a:r>
            <a:endParaRPr i="1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43" name="Google Shape;24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65700" y="152400"/>
            <a:ext cx="4425899" cy="46508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4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700" y="162725"/>
            <a:ext cx="4615350" cy="48180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249" name="Google Shape;249;p32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1430375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2"/>
          <p:cNvSpPr txBox="1"/>
          <p:nvPr/>
        </p:nvSpPr>
        <p:spPr>
          <a:xfrm>
            <a:off x="569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Cicli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51" name="Google Shape;251;p32"/>
          <p:cNvSpPr txBox="1"/>
          <p:nvPr>
            <p:ph idx="4294967295" type="body"/>
          </p:nvPr>
        </p:nvSpPr>
        <p:spPr>
          <a:xfrm>
            <a:off x="504525" y="1377475"/>
            <a:ext cx="39237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Rappresentati da un blocco che può contenere altri blocchi all’interno.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Il ciclo sulla destra è del tipo </a:t>
            </a: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per sempre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, il che significa che non c’è modo di interromperlo: molto utile per un controllo costante come quello di un timer.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Il blocco non ha incastri sotto ad indicare che nulla potrà avvenire dopo.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ATTENZIONE! Non esageriamo con questa tipologia di funzione per non intasare troppo Scratch.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52" name="Google Shape;252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62075" y="1481138"/>
            <a:ext cx="3267075" cy="218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927108"/>
            <a:ext cx="4254600" cy="135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258" name="Google Shape;258;p33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536000" y="1911676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3"/>
          <p:cNvSpPr txBox="1"/>
          <p:nvPr>
            <p:ph idx="1" type="body"/>
          </p:nvPr>
        </p:nvSpPr>
        <p:spPr>
          <a:xfrm>
            <a:off x="2855550" y="2762200"/>
            <a:ext cx="3432900" cy="47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Completiamo il questionario.</a:t>
            </a:r>
            <a:endParaRPr i="1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428206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68627" y="1104475"/>
            <a:ext cx="2767124" cy="136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01527" y="2110525"/>
            <a:ext cx="1438350" cy="156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3991301" cy="483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05700" y="1351050"/>
            <a:ext cx="2676650" cy="138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93175" y="2398050"/>
            <a:ext cx="1119600" cy="1999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3634024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2950" y="659250"/>
            <a:ext cx="2807876" cy="125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71725" y="1836525"/>
            <a:ext cx="2239375" cy="180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4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286" name="Google Shape;286;p37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37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Sprite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88" name="Google Shape;288;p37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Confrontando i tre codici dei 3 sprite, notiamo che sono molto simili e differiscono solo nelle domande e nei messaggi di attivazione.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È anche importante in questo caso l’utilizzo della variabile “punti” che tiene traccia della qualità delle risposte dello studente.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294" name="Google Shape;294;p38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1250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38"/>
          <p:cNvSpPr txBox="1"/>
          <p:nvPr/>
        </p:nvSpPr>
        <p:spPr>
          <a:xfrm>
            <a:off x="569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Il timer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96" name="Google Shape;296;p38"/>
          <p:cNvSpPr txBox="1"/>
          <p:nvPr>
            <p:ph idx="1" type="body"/>
          </p:nvPr>
        </p:nvSpPr>
        <p:spPr>
          <a:xfrm>
            <a:off x="569550" y="135400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Inseriamo la parte di codice che permette di far terminare il questionario quando il tempo è scaduto.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Il codice in basso deve essere inserito all’interno degli sprite di Dante e Paolo e Francesca, mentre quello in alto dentro il gatto.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Quando il tempo termina, il gatto annuncia il punteggio del giocatore.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97" name="Google Shape;297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80775" y="405825"/>
            <a:ext cx="3808174" cy="2642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10900" y="3629005"/>
            <a:ext cx="1989200" cy="87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3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74000" y="3556825"/>
            <a:ext cx="673983" cy="120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3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99150" y="3747525"/>
            <a:ext cx="1253875" cy="101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3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802113" y="405825"/>
            <a:ext cx="1047950" cy="114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4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307" name="Google Shape;307;p39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9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Strade infinite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09" name="Google Shape;309;p39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Le possibilità sono infinite, è possibile aumentare le domande, inserire penalità per le risposte sbagliate, ma anche possibilità di riprovare e suggerimenti.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i="1" lang="en" sz="1200">
                <a:latin typeface="Raleway"/>
                <a:ea typeface="Raleway"/>
                <a:cs typeface="Raleway"/>
                <a:sym typeface="Raleway"/>
              </a:rPr>
              <a:t>Vi viene in mente qualcosa da aggiungere all’algoritmo?</a:t>
            </a:r>
            <a:endParaRPr i="1"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i="1" lang="en" sz="1200">
                <a:latin typeface="Raleway"/>
                <a:ea typeface="Raleway"/>
                <a:cs typeface="Raleway"/>
                <a:sym typeface="Raleway"/>
              </a:rPr>
              <a:t>Come pensate di aggiungerla?</a:t>
            </a:r>
            <a:endParaRPr i="1"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315" name="Google Shape;315;p40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1250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40"/>
          <p:cNvSpPr txBox="1"/>
          <p:nvPr/>
        </p:nvSpPr>
        <p:spPr>
          <a:xfrm>
            <a:off x="569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Le liste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17" name="Google Shape;317;p40"/>
          <p:cNvSpPr txBox="1"/>
          <p:nvPr>
            <p:ph idx="1" type="body"/>
          </p:nvPr>
        </p:nvSpPr>
        <p:spPr>
          <a:xfrm>
            <a:off x="569550" y="135400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A volte la singola variabile non basta.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Le liste sono contenitori con un unico nome ma più valori al loro interno.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Tutti i valori hanno un indice da 1 e fino all’ultimo valore.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Per accedere ad un valore specifico nella lista dobbiamo però conoscerne la posizione.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318" name="Google Shape;318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38300" y="473138"/>
            <a:ext cx="4425900" cy="41972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323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324" name="Google Shape;324;p41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1250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41"/>
          <p:cNvSpPr txBox="1"/>
          <p:nvPr/>
        </p:nvSpPr>
        <p:spPr>
          <a:xfrm>
            <a:off x="569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Le liste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26" name="Google Shape;326;p41"/>
          <p:cNvSpPr txBox="1"/>
          <p:nvPr>
            <p:ph idx="1" type="body"/>
          </p:nvPr>
        </p:nvSpPr>
        <p:spPr>
          <a:xfrm>
            <a:off x="569550" y="135400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L’utilizzo delle liste “domande” e “risposte” permette una compilazione più rapida del codice, inoltre permette di aggiungere, rimuovere e cambiare rapidamente il contenuto del questionario.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In questo codice è possibile addirittura utilizzare una variabile (in questo caso dal nome “pos” = posizione) che scorre le domande.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Proviamo ad analizzare l’algoritmo riportato qui a destra.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327" name="Google Shape;327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54375" y="162725"/>
            <a:ext cx="1853950" cy="171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54375" y="1862100"/>
            <a:ext cx="3066301" cy="118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4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454370" y="3046320"/>
            <a:ext cx="2685675" cy="188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