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5143500" cx="9144000"/>
  <p:notesSz cx="6858000" cy="9144000"/>
  <p:embeddedFontLst>
    <p:embeddedFont>
      <p:font typeface="Raleway"/>
      <p:regular r:id="rId37"/>
      <p:bold r:id="rId38"/>
      <p:italic r:id="rId39"/>
      <p:boldItalic r:id="rId40"/>
    </p:embeddedFont>
    <p:embeddedFont>
      <p:font typeface="Lato"/>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aleway-boldItalic.fntdata"/><Relationship Id="rId20" Type="http://schemas.openxmlformats.org/officeDocument/2006/relationships/slide" Target="slides/slide15.xml"/><Relationship Id="rId42" Type="http://schemas.openxmlformats.org/officeDocument/2006/relationships/font" Target="fonts/Lato-bold.fntdata"/><Relationship Id="rId41" Type="http://schemas.openxmlformats.org/officeDocument/2006/relationships/font" Target="fonts/Lato-regular.fntdata"/><Relationship Id="rId22" Type="http://schemas.openxmlformats.org/officeDocument/2006/relationships/slide" Target="slides/slide17.xml"/><Relationship Id="rId44" Type="http://schemas.openxmlformats.org/officeDocument/2006/relationships/font" Target="fonts/Lato-boldItalic.fntdata"/><Relationship Id="rId21" Type="http://schemas.openxmlformats.org/officeDocument/2006/relationships/slide" Target="slides/slide16.xml"/><Relationship Id="rId43" Type="http://schemas.openxmlformats.org/officeDocument/2006/relationships/font" Target="fonts/Lato-italic.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Raleway-regular.fntdata"/><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Raleway-italic.fntdata"/><Relationship Id="rId16" Type="http://schemas.openxmlformats.org/officeDocument/2006/relationships/slide" Target="slides/slide11.xml"/><Relationship Id="rId38" Type="http://schemas.openxmlformats.org/officeDocument/2006/relationships/font" Target="fonts/Raleway-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cb9a0b07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cb9a0b07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385d7b9ce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385d7b9ce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2d970c7fbfa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2d970c7fbfa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d970c7fbfa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d970c7fbfa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385d7b9ce8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385d7b9ce8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385d7b9ce8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385d7b9ce8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9d962315b2bab44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9d962315b2bab44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385d7b9ce8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385d7b9ce8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385d7b9ce8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385d7b9ce8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385d7b9ce8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385d7b9ce8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385d7b9ce8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385d7b9ce8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385d7b9ce8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385d7b9ce8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385d7b9ce8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385d7b9ce8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385d7b9ce8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385d7b9ce8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385d7b9ce8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385d7b9ce8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385d7b9ce8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385d7b9ce8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385d7b9ce8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385d7b9ce8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385d7b9ce8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385d7b9ce8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385d7b9ce8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385d7b9ce8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385d7b9ce8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385d7b9ce8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385d7b9ce8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385d7b9ce8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385d7b9ce8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385d7b9ce8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385d7b9ce8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385d7b9ce8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385d7b9ce8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385d7b9ce8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385d7b9ce8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385d7b9ce8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385d7b9ce8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385d7b9ce8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385d7b9ce8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385d7b9ce8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385d7b9ce8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385d7b9ce8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385d7b9ce8_0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385d7b9ce8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385d7b9ce8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385d7b9ce8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385d7b9ce8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385d7b9ce8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2477724" y="415650"/>
            <a:ext cx="6244200" cy="0"/>
          </a:xfrm>
          <a:prstGeom prst="straightConnector1">
            <a:avLst/>
          </a:prstGeom>
          <a:noFill/>
          <a:ln cap="flat" cmpd="sng" w="38100">
            <a:solidFill>
              <a:schemeClr val="lt1"/>
            </a:solidFill>
            <a:prstDash val="solid"/>
            <a:round/>
            <a:headEnd len="sm" w="sm" type="none"/>
            <a:tailEnd len="sm" w="sm" type="none"/>
          </a:ln>
        </p:spPr>
      </p:cxnSp>
      <p:cxnSp>
        <p:nvCxnSpPr>
          <p:cNvPr id="11" name="Google Shape;11;p2"/>
          <p:cNvCxnSpPr/>
          <p:nvPr/>
        </p:nvCxnSpPr>
        <p:spPr>
          <a:xfrm>
            <a:off x="2477724" y="4740000"/>
            <a:ext cx="6244200" cy="0"/>
          </a:xfrm>
          <a:prstGeom prst="straightConnector1">
            <a:avLst/>
          </a:prstGeom>
          <a:noFill/>
          <a:ln cap="flat" cmpd="sng" w="19050">
            <a:solidFill>
              <a:schemeClr val="lt1"/>
            </a:solidFill>
            <a:prstDash val="solid"/>
            <a:round/>
            <a:headEnd len="sm" w="sm" type="none"/>
            <a:tailEnd len="sm" w="sm" type="none"/>
          </a:ln>
        </p:spPr>
      </p:cxnSp>
      <p:cxnSp>
        <p:nvCxnSpPr>
          <p:cNvPr id="12" name="Google Shape;12;p2"/>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13" name="Google Shape;13;p2"/>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14" name="Google Shape;14;p2"/>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Clr>
                <a:schemeClr val="lt1"/>
              </a:buClr>
              <a:buSzPts val="1800"/>
              <a:buNone/>
              <a:defRPr>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15" name="Google Shape;15;p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6" name="Shape 16"/>
        <p:cNvGrpSpPr/>
        <p:nvPr/>
      </p:nvGrpSpPr>
      <p:grpSpPr>
        <a:xfrm>
          <a:off x="0" y="0"/>
          <a:ext cx="0" cy="0"/>
          <a:chOff x="0" y="0"/>
          <a:chExt cx="0" cy="0"/>
        </a:xfrm>
      </p:grpSpPr>
      <p:cxnSp>
        <p:nvCxnSpPr>
          <p:cNvPr id="17" name="Google Shape;17;p3"/>
          <p:cNvCxnSpPr/>
          <p:nvPr/>
        </p:nvCxnSpPr>
        <p:spPr>
          <a:xfrm>
            <a:off x="425200" y="415650"/>
            <a:ext cx="8296800" cy="0"/>
          </a:xfrm>
          <a:prstGeom prst="straightConnector1">
            <a:avLst/>
          </a:prstGeom>
          <a:noFill/>
          <a:ln cap="flat" cmpd="sng" w="38100">
            <a:solidFill>
              <a:schemeClr val="lt1"/>
            </a:solidFill>
            <a:prstDash val="solid"/>
            <a:round/>
            <a:headEnd len="sm" w="sm" type="none"/>
            <a:tailEnd len="sm" w="sm" type="none"/>
          </a:ln>
        </p:spPr>
      </p:cxnSp>
      <p:cxnSp>
        <p:nvCxnSpPr>
          <p:cNvPr id="18" name="Google Shape;18;p3"/>
          <p:cNvCxnSpPr/>
          <p:nvPr/>
        </p:nvCxnSpPr>
        <p:spPr>
          <a:xfrm>
            <a:off x="425200" y="4740000"/>
            <a:ext cx="8296800" cy="0"/>
          </a:xfrm>
          <a:prstGeom prst="straightConnector1">
            <a:avLst/>
          </a:prstGeom>
          <a:noFill/>
          <a:ln cap="flat" cmpd="sng" w="19050">
            <a:solidFill>
              <a:schemeClr val="lt1"/>
            </a:solidFill>
            <a:prstDash val="solid"/>
            <a:round/>
            <a:headEnd len="sm" w="sm" type="none"/>
            <a:tailEnd len="sm" w="sm" type="none"/>
          </a:ln>
        </p:spPr>
      </p:cxnSp>
      <p:sp>
        <p:nvSpPr>
          <p:cNvPr id="19" name="Google Shape;19;p3"/>
          <p:cNvSpPr txBox="1"/>
          <p:nvPr>
            <p:ph type="title"/>
          </p:nvPr>
        </p:nvSpPr>
        <p:spPr>
          <a:xfrm>
            <a:off x="406425" y="1806825"/>
            <a:ext cx="8296800" cy="1542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4800"/>
              <a:buNone/>
              <a:defRPr sz="4800">
                <a:solidFill>
                  <a:schemeClr val="lt1"/>
                </a:solidFill>
              </a:defRPr>
            </a:lvl1pPr>
            <a:lvl2pPr lvl="1" rtl="0" algn="ctr">
              <a:spcBef>
                <a:spcPts val="0"/>
              </a:spcBef>
              <a:spcAft>
                <a:spcPts val="0"/>
              </a:spcAft>
              <a:buClr>
                <a:schemeClr val="lt1"/>
              </a:buClr>
              <a:buSzPts val="4800"/>
              <a:buNone/>
              <a:defRPr sz="4800">
                <a:solidFill>
                  <a:schemeClr val="lt1"/>
                </a:solidFill>
              </a:defRPr>
            </a:lvl2pPr>
            <a:lvl3pPr lvl="2" rtl="0" algn="ctr">
              <a:spcBef>
                <a:spcPts val="0"/>
              </a:spcBef>
              <a:spcAft>
                <a:spcPts val="0"/>
              </a:spcAft>
              <a:buClr>
                <a:schemeClr val="lt1"/>
              </a:buClr>
              <a:buSzPts val="4800"/>
              <a:buNone/>
              <a:defRPr sz="4800">
                <a:solidFill>
                  <a:schemeClr val="lt1"/>
                </a:solidFill>
              </a:defRPr>
            </a:lvl3pPr>
            <a:lvl4pPr lvl="3" rtl="0" algn="ctr">
              <a:spcBef>
                <a:spcPts val="0"/>
              </a:spcBef>
              <a:spcAft>
                <a:spcPts val="0"/>
              </a:spcAft>
              <a:buClr>
                <a:schemeClr val="lt1"/>
              </a:buClr>
              <a:buSzPts val="4800"/>
              <a:buNone/>
              <a:defRPr sz="4800">
                <a:solidFill>
                  <a:schemeClr val="lt1"/>
                </a:solidFill>
              </a:defRPr>
            </a:lvl4pPr>
            <a:lvl5pPr lvl="4" rtl="0" algn="ctr">
              <a:spcBef>
                <a:spcPts val="0"/>
              </a:spcBef>
              <a:spcAft>
                <a:spcPts val="0"/>
              </a:spcAft>
              <a:buClr>
                <a:schemeClr val="lt1"/>
              </a:buClr>
              <a:buSzPts val="4800"/>
              <a:buNone/>
              <a:defRPr sz="4800">
                <a:solidFill>
                  <a:schemeClr val="lt1"/>
                </a:solidFill>
              </a:defRPr>
            </a:lvl5pPr>
            <a:lvl6pPr lvl="5" rtl="0" algn="ctr">
              <a:spcBef>
                <a:spcPts val="0"/>
              </a:spcBef>
              <a:spcAft>
                <a:spcPts val="0"/>
              </a:spcAft>
              <a:buClr>
                <a:schemeClr val="lt1"/>
              </a:buClr>
              <a:buSzPts val="4800"/>
              <a:buNone/>
              <a:defRPr sz="4800">
                <a:solidFill>
                  <a:schemeClr val="lt1"/>
                </a:solidFill>
              </a:defRPr>
            </a:lvl6pPr>
            <a:lvl7pPr lvl="6" rtl="0" algn="ctr">
              <a:spcBef>
                <a:spcPts val="0"/>
              </a:spcBef>
              <a:spcAft>
                <a:spcPts val="0"/>
              </a:spcAft>
              <a:buClr>
                <a:schemeClr val="lt1"/>
              </a:buClr>
              <a:buSzPts val="4800"/>
              <a:buNone/>
              <a:defRPr sz="4800">
                <a:solidFill>
                  <a:schemeClr val="lt1"/>
                </a:solidFill>
              </a:defRPr>
            </a:lvl7pPr>
            <a:lvl8pPr lvl="7" rtl="0" algn="ctr">
              <a:spcBef>
                <a:spcPts val="0"/>
              </a:spcBef>
              <a:spcAft>
                <a:spcPts val="0"/>
              </a:spcAft>
              <a:buClr>
                <a:schemeClr val="lt1"/>
              </a:buClr>
              <a:buSzPts val="4800"/>
              <a:buNone/>
              <a:defRPr sz="4800">
                <a:solidFill>
                  <a:schemeClr val="lt1"/>
                </a:solidFill>
              </a:defRPr>
            </a:lvl8pPr>
            <a:lvl9pPr lvl="8" rtl="0" algn="ctr">
              <a:spcBef>
                <a:spcPts val="0"/>
              </a:spcBef>
              <a:spcAft>
                <a:spcPts val="0"/>
              </a:spcAft>
              <a:buClr>
                <a:schemeClr val="lt1"/>
              </a:buClr>
              <a:buSzPts val="4800"/>
              <a:buNone/>
              <a:defRPr sz="4800">
                <a:solidFill>
                  <a:schemeClr val="lt1"/>
                </a:solidFill>
              </a:defRPr>
            </a:lvl9pPr>
          </a:lstStyle>
          <a:p/>
        </p:txBody>
      </p:sp>
      <p:sp>
        <p:nvSpPr>
          <p:cNvPr id="20" name="Google Shape;20;p3"/>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23" name="Google Shape;23;p4"/>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24" name="Google Shape;24;p4"/>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25" name="Google Shape;25;p4"/>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6" name="Google Shape;26;p4"/>
          <p:cNvSpPr txBox="1"/>
          <p:nvPr>
            <p:ph idx="1" type="body"/>
          </p:nvPr>
        </p:nvSpPr>
        <p:spPr>
          <a:xfrm>
            <a:off x="2410112" y="1595776"/>
            <a:ext cx="6321600" cy="3002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7" name="Google Shape;27;p4"/>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cxnSp>
        <p:nvCxnSpPr>
          <p:cNvPr id="29" name="Google Shape;29;p5"/>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30" name="Google Shape;30;p5"/>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31" name="Google Shape;31;p5"/>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32" name="Google Shape;32;p5"/>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3" name="Google Shape;33;p5"/>
          <p:cNvSpPr txBox="1"/>
          <p:nvPr>
            <p:ph idx="1" type="body"/>
          </p:nvPr>
        </p:nvSpPr>
        <p:spPr>
          <a:xfrm>
            <a:off x="2400303" y="1602675"/>
            <a:ext cx="3071400" cy="3002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4" name="Google Shape;34;p5"/>
          <p:cNvSpPr txBox="1"/>
          <p:nvPr>
            <p:ph idx="2" type="body"/>
          </p:nvPr>
        </p:nvSpPr>
        <p:spPr>
          <a:xfrm>
            <a:off x="5650572" y="1602675"/>
            <a:ext cx="3071400" cy="3002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5" name="Google Shape;35;p5"/>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6"/>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8" name="Google Shape;38;p6"/>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cxnSp>
        <p:nvCxnSpPr>
          <p:cNvPr id="40" name="Google Shape;40;p7"/>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7"/>
          <p:cNvSpPr txBox="1"/>
          <p:nvPr>
            <p:ph type="title"/>
          </p:nvPr>
        </p:nvSpPr>
        <p:spPr>
          <a:xfrm>
            <a:off x="319500" y="936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42" name="Google Shape;42;p7"/>
          <p:cNvSpPr txBox="1"/>
          <p:nvPr>
            <p:ph idx="1" type="body"/>
          </p:nvPr>
        </p:nvSpPr>
        <p:spPr>
          <a:xfrm>
            <a:off x="319500" y="1846804"/>
            <a:ext cx="2808000" cy="28062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43" name="Google Shape;43;p7"/>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353535"/>
        </a:solidFill>
      </p:bgPr>
    </p:bg>
    <p:spTree>
      <p:nvGrpSpPr>
        <p:cNvPr id="44" name="Shape 44"/>
        <p:cNvGrpSpPr/>
        <p:nvPr/>
      </p:nvGrpSpPr>
      <p:grpSpPr>
        <a:xfrm>
          <a:off x="0" y="0"/>
          <a:ext cx="0" cy="0"/>
          <a:chOff x="0" y="0"/>
          <a:chExt cx="0" cy="0"/>
        </a:xfrm>
      </p:grpSpPr>
      <p:cxnSp>
        <p:nvCxnSpPr>
          <p:cNvPr id="45" name="Google Shape;45;p8"/>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46" name="Google Shape;46;p8"/>
          <p:cNvSpPr txBox="1"/>
          <p:nvPr>
            <p:ph type="title"/>
          </p:nvPr>
        </p:nvSpPr>
        <p:spPr>
          <a:xfrm>
            <a:off x="283103" y="712141"/>
            <a:ext cx="6244200" cy="38355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47" name="Google Shape;47;p8"/>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51" name="Google Shape;51;p9"/>
          <p:cNvSpPr txBox="1"/>
          <p:nvPr>
            <p:ph type="title"/>
          </p:nvPr>
        </p:nvSpPr>
        <p:spPr>
          <a:xfrm>
            <a:off x="265500" y="1397350"/>
            <a:ext cx="4045200" cy="13182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1"/>
              </a:buClr>
              <a:buSzPts val="3600"/>
              <a:buNone/>
              <a:defRPr sz="3600">
                <a:solidFill>
                  <a:schemeClr val="dk1"/>
                </a:solidFill>
              </a:defRPr>
            </a:lvl1pPr>
            <a:lvl2pPr lvl="1" rtl="0" algn="ctr">
              <a:spcBef>
                <a:spcPts val="0"/>
              </a:spcBef>
              <a:spcAft>
                <a:spcPts val="0"/>
              </a:spcAft>
              <a:buClr>
                <a:schemeClr val="dk1"/>
              </a:buClr>
              <a:buSzPts val="3600"/>
              <a:buNone/>
              <a:defRPr sz="3600">
                <a:solidFill>
                  <a:schemeClr val="dk1"/>
                </a:solidFill>
              </a:defRPr>
            </a:lvl2pPr>
            <a:lvl3pPr lvl="2" rtl="0" algn="ctr">
              <a:spcBef>
                <a:spcPts val="0"/>
              </a:spcBef>
              <a:spcAft>
                <a:spcPts val="0"/>
              </a:spcAft>
              <a:buClr>
                <a:schemeClr val="dk1"/>
              </a:buClr>
              <a:buSzPts val="3600"/>
              <a:buNone/>
              <a:defRPr sz="3600">
                <a:solidFill>
                  <a:schemeClr val="dk1"/>
                </a:solidFill>
              </a:defRPr>
            </a:lvl3pPr>
            <a:lvl4pPr lvl="3" rtl="0" algn="ctr">
              <a:spcBef>
                <a:spcPts val="0"/>
              </a:spcBef>
              <a:spcAft>
                <a:spcPts val="0"/>
              </a:spcAft>
              <a:buClr>
                <a:schemeClr val="dk1"/>
              </a:buClr>
              <a:buSzPts val="3600"/>
              <a:buNone/>
              <a:defRPr sz="3600">
                <a:solidFill>
                  <a:schemeClr val="dk1"/>
                </a:solidFill>
              </a:defRPr>
            </a:lvl4pPr>
            <a:lvl5pPr lvl="4" rtl="0" algn="ctr">
              <a:spcBef>
                <a:spcPts val="0"/>
              </a:spcBef>
              <a:spcAft>
                <a:spcPts val="0"/>
              </a:spcAft>
              <a:buClr>
                <a:schemeClr val="dk1"/>
              </a:buClr>
              <a:buSzPts val="3600"/>
              <a:buNone/>
              <a:defRPr sz="3600">
                <a:solidFill>
                  <a:schemeClr val="dk1"/>
                </a:solidFill>
              </a:defRPr>
            </a:lvl5pPr>
            <a:lvl6pPr lvl="5" rtl="0" algn="ctr">
              <a:spcBef>
                <a:spcPts val="0"/>
              </a:spcBef>
              <a:spcAft>
                <a:spcPts val="0"/>
              </a:spcAft>
              <a:buClr>
                <a:schemeClr val="dk1"/>
              </a:buClr>
              <a:buSzPts val="3600"/>
              <a:buNone/>
              <a:defRPr sz="3600">
                <a:solidFill>
                  <a:schemeClr val="dk1"/>
                </a:solidFill>
              </a:defRPr>
            </a:lvl6pPr>
            <a:lvl7pPr lvl="6" rtl="0" algn="ctr">
              <a:spcBef>
                <a:spcPts val="0"/>
              </a:spcBef>
              <a:spcAft>
                <a:spcPts val="0"/>
              </a:spcAft>
              <a:buClr>
                <a:schemeClr val="dk1"/>
              </a:buClr>
              <a:buSzPts val="3600"/>
              <a:buNone/>
              <a:defRPr sz="3600">
                <a:solidFill>
                  <a:schemeClr val="dk1"/>
                </a:solidFill>
              </a:defRPr>
            </a:lvl7pPr>
            <a:lvl8pPr lvl="7" rtl="0" algn="ctr">
              <a:spcBef>
                <a:spcPts val="0"/>
              </a:spcBef>
              <a:spcAft>
                <a:spcPts val="0"/>
              </a:spcAft>
              <a:buClr>
                <a:schemeClr val="dk1"/>
              </a:buClr>
              <a:buSzPts val="3600"/>
              <a:buNone/>
              <a:defRPr sz="3600">
                <a:solidFill>
                  <a:schemeClr val="dk1"/>
                </a:solidFill>
              </a:defRPr>
            </a:lvl8pPr>
            <a:lvl9pPr lvl="8" rtl="0" algn="ctr">
              <a:spcBef>
                <a:spcPts val="0"/>
              </a:spcBef>
              <a:spcAft>
                <a:spcPts val="0"/>
              </a:spcAft>
              <a:buClr>
                <a:schemeClr val="dk1"/>
              </a:buClr>
              <a:buSzPts val="3600"/>
              <a:buNone/>
              <a:defRPr sz="3600">
                <a:solidFill>
                  <a:schemeClr val="dk1"/>
                </a:solidFill>
              </a:defRPr>
            </a:lvl9pPr>
          </a:lstStyle>
          <a:p/>
        </p:txBody>
      </p:sp>
      <p:sp>
        <p:nvSpPr>
          <p:cNvPr id="52" name="Google Shape;52;p9"/>
          <p:cNvSpPr txBox="1"/>
          <p:nvPr>
            <p:ph idx="1" type="subTitle"/>
          </p:nvPr>
        </p:nvSpPr>
        <p:spPr>
          <a:xfrm>
            <a:off x="265500" y="2735371"/>
            <a:ext cx="4045200" cy="134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1600"/>
              </a:spcBef>
              <a:spcAft>
                <a:spcPts val="0"/>
              </a:spcAft>
              <a:buClr>
                <a:schemeClr val="lt1"/>
              </a:buClr>
              <a:buSzPts val="1400"/>
              <a:buChar char="○"/>
              <a:defRPr>
                <a:solidFill>
                  <a:schemeClr val="lt1"/>
                </a:solidFill>
              </a:defRPr>
            </a:lvl2pPr>
            <a:lvl3pPr indent="-317500" lvl="2" marL="1371600" rtl="0">
              <a:spcBef>
                <a:spcPts val="1600"/>
              </a:spcBef>
              <a:spcAft>
                <a:spcPts val="0"/>
              </a:spcAft>
              <a:buClr>
                <a:schemeClr val="lt1"/>
              </a:buClr>
              <a:buSzPts val="1400"/>
              <a:buChar char="■"/>
              <a:defRPr>
                <a:solidFill>
                  <a:schemeClr val="lt1"/>
                </a:solidFill>
              </a:defRPr>
            </a:lvl3pPr>
            <a:lvl4pPr indent="-317500" lvl="3" marL="1828800" rtl="0">
              <a:spcBef>
                <a:spcPts val="1600"/>
              </a:spcBef>
              <a:spcAft>
                <a:spcPts val="0"/>
              </a:spcAft>
              <a:buClr>
                <a:schemeClr val="lt1"/>
              </a:buClr>
              <a:buSzPts val="1400"/>
              <a:buChar char="●"/>
              <a:defRPr>
                <a:solidFill>
                  <a:schemeClr val="lt1"/>
                </a:solidFill>
              </a:defRPr>
            </a:lvl4pPr>
            <a:lvl5pPr indent="-317500" lvl="4" marL="2286000" rtl="0">
              <a:spcBef>
                <a:spcPts val="1600"/>
              </a:spcBef>
              <a:spcAft>
                <a:spcPts val="0"/>
              </a:spcAft>
              <a:buClr>
                <a:schemeClr val="lt1"/>
              </a:buClr>
              <a:buSzPts val="1400"/>
              <a:buChar char="○"/>
              <a:defRPr>
                <a:solidFill>
                  <a:schemeClr val="lt1"/>
                </a:solidFill>
              </a:defRPr>
            </a:lvl5pPr>
            <a:lvl6pPr indent="-317500" lvl="5" marL="2743200" rtl="0">
              <a:spcBef>
                <a:spcPts val="1600"/>
              </a:spcBef>
              <a:spcAft>
                <a:spcPts val="0"/>
              </a:spcAft>
              <a:buClr>
                <a:schemeClr val="lt1"/>
              </a:buClr>
              <a:buSzPts val="1400"/>
              <a:buChar char="■"/>
              <a:defRPr>
                <a:solidFill>
                  <a:schemeClr val="lt1"/>
                </a:solidFill>
              </a:defRPr>
            </a:lvl6pPr>
            <a:lvl7pPr indent="-317500" lvl="6" marL="3200400" rtl="0">
              <a:spcBef>
                <a:spcPts val="1600"/>
              </a:spcBef>
              <a:spcAft>
                <a:spcPts val="0"/>
              </a:spcAft>
              <a:buClr>
                <a:schemeClr val="lt1"/>
              </a:buClr>
              <a:buSzPts val="1400"/>
              <a:buChar char="●"/>
              <a:defRPr>
                <a:solidFill>
                  <a:schemeClr val="lt1"/>
                </a:solidFill>
              </a:defRPr>
            </a:lvl7pPr>
            <a:lvl8pPr indent="-317500" lvl="7" marL="3657600" rtl="0">
              <a:spcBef>
                <a:spcPts val="1600"/>
              </a:spcBef>
              <a:spcAft>
                <a:spcPts val="0"/>
              </a:spcAft>
              <a:buClr>
                <a:schemeClr val="lt1"/>
              </a:buClr>
              <a:buSzPts val="1400"/>
              <a:buChar char="○"/>
              <a:defRPr>
                <a:solidFill>
                  <a:schemeClr val="lt1"/>
                </a:solidFill>
              </a:defRPr>
            </a:lvl8pPr>
            <a:lvl9pPr indent="-317500" lvl="8" marL="4114800" rtl="0">
              <a:spcBef>
                <a:spcPts val="1600"/>
              </a:spcBef>
              <a:spcAft>
                <a:spcPts val="160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cxnSp>
        <p:nvCxnSpPr>
          <p:cNvPr id="56" name="Google Shape;56;p10"/>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57" name="Google Shape;57;p10"/>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58" name="Google Shape;58;p10"/>
          <p:cNvSpPr txBox="1"/>
          <p:nvPr>
            <p:ph idx="1" type="body"/>
          </p:nvPr>
        </p:nvSpPr>
        <p:spPr>
          <a:xfrm>
            <a:off x="328017" y="4226025"/>
            <a:ext cx="8388600" cy="3936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62" name="Google Shape;62;p11"/>
          <p:cNvCxnSpPr/>
          <p:nvPr/>
        </p:nvCxnSpPr>
        <p:spPr>
          <a:xfrm>
            <a:off x="425200" y="415650"/>
            <a:ext cx="8296800" cy="0"/>
          </a:xfrm>
          <a:prstGeom prst="straightConnector1">
            <a:avLst/>
          </a:prstGeom>
          <a:noFill/>
          <a:ln cap="flat" cmpd="sng" w="38100">
            <a:solidFill>
              <a:schemeClr val="dk2"/>
            </a:solidFill>
            <a:prstDash val="solid"/>
            <a:round/>
            <a:headEnd len="sm" w="sm" type="none"/>
            <a:tailEnd len="sm" w="sm" type="none"/>
          </a:ln>
        </p:spPr>
      </p:cxnSp>
      <p:sp>
        <p:nvSpPr>
          <p:cNvPr id="63" name="Google Shape;63;p11"/>
          <p:cNvSpPr txBox="1"/>
          <p:nvPr>
            <p:ph hasCustomPrompt="1" type="title"/>
          </p:nvPr>
        </p:nvSpPr>
        <p:spPr>
          <a:xfrm>
            <a:off x="853950" y="1304850"/>
            <a:ext cx="7436100" cy="1538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64" name="Google Shape;64;p11"/>
          <p:cNvSpPr txBox="1"/>
          <p:nvPr>
            <p:ph idx="1" type="body"/>
          </p:nvPr>
        </p:nvSpPr>
        <p:spPr>
          <a:xfrm>
            <a:off x="853950" y="2919450"/>
            <a:ext cx="7436100" cy="10716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65" name="Google Shape;65;p11"/>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wiss-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rtl="0">
              <a:lnSpc>
                <a:spcPct val="115000"/>
              </a:lnSpc>
              <a:spcBef>
                <a:spcPts val="1600"/>
              </a:spcBef>
              <a:spcAft>
                <a:spcPts val="160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latin typeface="Lato"/>
                <a:ea typeface="Lato"/>
                <a:cs typeface="Lato"/>
                <a:sym typeface="Lato"/>
              </a:defRPr>
            </a:lvl1pPr>
            <a:lvl2pPr lvl="1" rtl="0" algn="r">
              <a:buNone/>
              <a:defRPr sz="1000">
                <a:solidFill>
                  <a:schemeClr val="dk2"/>
                </a:solidFill>
                <a:latin typeface="Lato"/>
                <a:ea typeface="Lato"/>
                <a:cs typeface="Lato"/>
                <a:sym typeface="Lato"/>
              </a:defRPr>
            </a:lvl2pPr>
            <a:lvl3pPr lvl="2" rtl="0" algn="r">
              <a:buNone/>
              <a:defRPr sz="1000">
                <a:solidFill>
                  <a:schemeClr val="dk2"/>
                </a:solidFill>
                <a:latin typeface="Lato"/>
                <a:ea typeface="Lato"/>
                <a:cs typeface="Lato"/>
                <a:sym typeface="Lato"/>
              </a:defRPr>
            </a:lvl3pPr>
            <a:lvl4pPr lvl="3" rtl="0" algn="r">
              <a:buNone/>
              <a:defRPr sz="1000">
                <a:solidFill>
                  <a:schemeClr val="dk2"/>
                </a:solidFill>
                <a:latin typeface="Lato"/>
                <a:ea typeface="Lato"/>
                <a:cs typeface="Lato"/>
                <a:sym typeface="Lato"/>
              </a:defRPr>
            </a:lvl4pPr>
            <a:lvl5pPr lvl="4" rtl="0" algn="r">
              <a:buNone/>
              <a:defRPr sz="1000">
                <a:solidFill>
                  <a:schemeClr val="dk2"/>
                </a:solidFill>
                <a:latin typeface="Lato"/>
                <a:ea typeface="Lato"/>
                <a:cs typeface="Lato"/>
                <a:sym typeface="Lato"/>
              </a:defRPr>
            </a:lvl5pPr>
            <a:lvl6pPr lvl="5" rtl="0" algn="r">
              <a:buNone/>
              <a:defRPr sz="1000">
                <a:solidFill>
                  <a:schemeClr val="dk2"/>
                </a:solidFill>
                <a:latin typeface="Lato"/>
                <a:ea typeface="Lato"/>
                <a:cs typeface="Lato"/>
                <a:sym typeface="Lato"/>
              </a:defRPr>
            </a:lvl6pPr>
            <a:lvl7pPr lvl="6" rtl="0" algn="r">
              <a:buNone/>
              <a:defRPr sz="1000">
                <a:solidFill>
                  <a:schemeClr val="dk2"/>
                </a:solidFill>
                <a:latin typeface="Lato"/>
                <a:ea typeface="Lato"/>
                <a:cs typeface="Lato"/>
                <a:sym typeface="Lato"/>
              </a:defRPr>
            </a:lvl7pPr>
            <a:lvl8pPr lvl="7" rtl="0" algn="r">
              <a:buNone/>
              <a:defRPr sz="1000">
                <a:solidFill>
                  <a:schemeClr val="dk2"/>
                </a:solidFill>
                <a:latin typeface="Lato"/>
                <a:ea typeface="Lato"/>
                <a:cs typeface="Lato"/>
                <a:sym typeface="Lato"/>
              </a:defRPr>
            </a:lvl8pPr>
            <a:lvl9pPr lvl="8" rtl="0"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10.png"/><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 Id="rId3" Type="http://schemas.openxmlformats.org/officeDocument/2006/relationships/image" Target="../media/image11.png"/><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 Id="rId3" Type="http://schemas.openxmlformats.org/officeDocument/2006/relationships/image" Target="../media/image9.png"/><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 Id="rId3" Type="http://schemas.openxmlformats.org/officeDocument/2006/relationships/image" Target="../media/image8.png"/><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 Id="rId3" Type="http://schemas.openxmlformats.org/officeDocument/2006/relationships/image" Target="../media/image1.png"/><Relationship Id="rId4" Type="http://schemas.openxmlformats.org/officeDocument/2006/relationships/image" Target="../media/image5.png"/><Relationship Id="rId5"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06666"/>
        </a:solidFill>
      </p:bgPr>
    </p:bg>
    <p:spTree>
      <p:nvGrpSpPr>
        <p:cNvPr id="71" name="Shape 71"/>
        <p:cNvGrpSpPr/>
        <p:nvPr/>
      </p:nvGrpSpPr>
      <p:grpSpPr>
        <a:xfrm>
          <a:off x="0" y="0"/>
          <a:ext cx="0" cy="0"/>
          <a:chOff x="0" y="0"/>
          <a:chExt cx="0" cy="0"/>
        </a:xfrm>
      </p:grpSpPr>
      <p:sp>
        <p:nvSpPr>
          <p:cNvPr id="72" name="Google Shape;72;p13"/>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Corso di Formazione</a:t>
            </a:r>
            <a:endParaRPr/>
          </a:p>
        </p:txBody>
      </p:sp>
      <p:sp>
        <p:nvSpPr>
          <p:cNvPr id="73" name="Google Shape;73;p13"/>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400"/>
              <a:t>Approfondimento sugli Strumenti Digitali per la Didattica 4.0</a:t>
            </a:r>
            <a:endParaRPr b="1" sz="2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4"/>
          <p:cNvSpPr txBox="1"/>
          <p:nvPr>
            <p:ph idx="4294967295" type="title"/>
          </p:nvPr>
        </p:nvSpPr>
        <p:spPr>
          <a:xfrm>
            <a:off x="535775" y="712150"/>
            <a:ext cx="5197200" cy="768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3600">
                <a:solidFill>
                  <a:srgbClr val="E06666"/>
                </a:solidFill>
              </a:rPr>
              <a:t>Contenuti del corso</a:t>
            </a:r>
            <a:endParaRPr sz="2400">
              <a:solidFill>
                <a:srgbClr val="E06666"/>
              </a:solidFill>
            </a:endParaRPr>
          </a:p>
        </p:txBody>
      </p:sp>
      <p:sp>
        <p:nvSpPr>
          <p:cNvPr id="79" name="Google Shape;79;p14"/>
          <p:cNvSpPr txBox="1"/>
          <p:nvPr>
            <p:ph idx="4294967295" type="title"/>
          </p:nvPr>
        </p:nvSpPr>
        <p:spPr>
          <a:xfrm>
            <a:off x="535775" y="1480150"/>
            <a:ext cx="5197200" cy="3067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b="0" lang="en" sz="1800">
                <a:latin typeface="Lato"/>
                <a:ea typeface="Lato"/>
                <a:cs typeface="Lato"/>
                <a:sym typeface="Lato"/>
              </a:rPr>
              <a:t>Introduzione all’Intelligenza Artificiale</a:t>
            </a:r>
            <a:endParaRPr sz="1700">
              <a:latin typeface="Lato"/>
              <a:ea typeface="Lato"/>
              <a:cs typeface="Lato"/>
              <a:sym typeface="Lato"/>
            </a:endParaRPr>
          </a:p>
        </p:txBody>
      </p:sp>
      <p:pic>
        <p:nvPicPr>
          <p:cNvPr id="80" name="Google Shape;80;p14"/>
          <p:cNvPicPr preferRelativeResize="0"/>
          <p:nvPr/>
        </p:nvPicPr>
        <p:blipFill>
          <a:blip r:embed="rId3">
            <a:alphaModFix/>
          </a:blip>
          <a:stretch>
            <a:fillRect/>
          </a:stretch>
        </p:blipFill>
        <p:spPr>
          <a:xfrm>
            <a:off x="6432750" y="2371225"/>
            <a:ext cx="2406450" cy="24064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84" name="Shape 84"/>
        <p:cNvGrpSpPr/>
        <p:nvPr/>
      </p:nvGrpSpPr>
      <p:grpSpPr>
        <a:xfrm>
          <a:off x="0" y="0"/>
          <a:ext cx="0" cy="0"/>
          <a:chOff x="0" y="0"/>
          <a:chExt cx="0" cy="0"/>
        </a:xfrm>
      </p:grpSpPr>
      <p:pic>
        <p:nvPicPr>
          <p:cNvPr id="85" name="Google Shape;85;p15"/>
          <p:cNvPicPr preferRelativeResize="0"/>
          <p:nvPr/>
        </p:nvPicPr>
        <p:blipFill>
          <a:blip r:embed="rId3">
            <a:alphaModFix/>
          </a:blip>
          <a:stretch>
            <a:fillRect/>
          </a:stretch>
        </p:blipFill>
        <p:spPr>
          <a:xfrm>
            <a:off x="2444700" y="162737"/>
            <a:ext cx="4254600" cy="4818038"/>
          </a:xfrm>
          <a:prstGeom prst="rect">
            <a:avLst/>
          </a:prstGeom>
          <a:noFill/>
          <a:ln>
            <a:noFill/>
          </a:ln>
        </p:spPr>
      </p:pic>
      <p:pic>
        <p:nvPicPr>
          <p:cNvPr descr="Piece of duct tape sticking a note to the slide" id="86" name="Google Shape;86;p15"/>
          <p:cNvPicPr preferRelativeResize="0"/>
          <p:nvPr/>
        </p:nvPicPr>
        <p:blipFill rotWithShape="1">
          <a:blip r:embed="rId4">
            <a:alphaModFix/>
          </a:blip>
          <a:srcRect b="10012" l="9245" r="2118" t="5926"/>
          <a:stretch/>
        </p:blipFill>
        <p:spPr>
          <a:xfrm rot="154828">
            <a:off x="3536000" y="147301"/>
            <a:ext cx="2072000" cy="736050"/>
          </a:xfrm>
          <a:prstGeom prst="rect">
            <a:avLst/>
          </a:prstGeom>
          <a:noFill/>
          <a:ln>
            <a:noFill/>
          </a:ln>
        </p:spPr>
      </p:pic>
      <p:sp>
        <p:nvSpPr>
          <p:cNvPr id="87" name="Google Shape;87;p15"/>
          <p:cNvSpPr txBox="1"/>
          <p:nvPr/>
        </p:nvSpPr>
        <p:spPr>
          <a:xfrm>
            <a:off x="2855550" y="687397"/>
            <a:ext cx="3432900" cy="76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chemeClr val="lt2"/>
                </a:solidFill>
                <a:latin typeface="Raleway"/>
                <a:ea typeface="Raleway"/>
                <a:cs typeface="Raleway"/>
                <a:sym typeface="Raleway"/>
              </a:rPr>
              <a:t>Wikipedia</a:t>
            </a:r>
            <a:endParaRPr b="1" sz="3000">
              <a:solidFill>
                <a:schemeClr val="lt2"/>
              </a:solidFill>
              <a:latin typeface="Raleway"/>
              <a:ea typeface="Raleway"/>
              <a:cs typeface="Raleway"/>
              <a:sym typeface="Raleway"/>
            </a:endParaRPr>
          </a:p>
        </p:txBody>
      </p:sp>
      <p:sp>
        <p:nvSpPr>
          <p:cNvPr id="88" name="Google Shape;88;p15"/>
          <p:cNvSpPr txBox="1"/>
          <p:nvPr>
            <p:ph idx="4294967295" type="body"/>
          </p:nvPr>
        </p:nvSpPr>
        <p:spPr>
          <a:xfrm>
            <a:off x="2855550" y="1377480"/>
            <a:ext cx="3432900" cy="332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aleway"/>
                <a:ea typeface="Raleway"/>
                <a:cs typeface="Raleway"/>
                <a:sym typeface="Raleway"/>
              </a:rPr>
              <a:t>L'intelligenza artificiale, nel suo significato più ampio, è la capacità o il tentativo di un sistema artificiale (</a:t>
            </a:r>
            <a:r>
              <a:rPr lang="en" sz="1200">
                <a:latin typeface="Raleway"/>
                <a:ea typeface="Raleway"/>
                <a:cs typeface="Raleway"/>
                <a:sym typeface="Raleway"/>
              </a:rPr>
              <a:t>típicamente</a:t>
            </a:r>
            <a:r>
              <a:rPr lang="en" sz="1200">
                <a:latin typeface="Raleway"/>
                <a:ea typeface="Raleway"/>
                <a:cs typeface="Raleway"/>
                <a:sym typeface="Raleway"/>
              </a:rPr>
              <a:t> un sistema informatico) di simulare una generica forma di intelligenza.</a:t>
            </a:r>
            <a:endParaRPr sz="1200">
              <a:latin typeface="Raleway"/>
              <a:ea typeface="Raleway"/>
              <a:cs typeface="Raleway"/>
              <a:sym typeface="Raleway"/>
            </a:endParaRPr>
          </a:p>
          <a:p>
            <a:pPr indent="0" lvl="0" marL="0" rtl="0" algn="l">
              <a:spcBef>
                <a:spcPts val="1000"/>
              </a:spcBef>
              <a:spcAft>
                <a:spcPts val="0"/>
              </a:spcAft>
              <a:buNone/>
            </a:pPr>
            <a:r>
              <a:t/>
            </a:r>
            <a:endParaRPr sz="1200">
              <a:latin typeface="Raleway"/>
              <a:ea typeface="Raleway"/>
              <a:cs typeface="Raleway"/>
              <a:sym typeface="Raleway"/>
            </a:endParaRPr>
          </a:p>
          <a:p>
            <a:pPr indent="0" lvl="0" marL="0" rtl="0" algn="l">
              <a:spcBef>
                <a:spcPts val="1000"/>
              </a:spcBef>
              <a:spcAft>
                <a:spcPts val="1000"/>
              </a:spcAft>
              <a:buNone/>
            </a:pPr>
            <a:r>
              <a:rPr lang="en" sz="1200">
                <a:latin typeface="Raleway"/>
                <a:ea typeface="Raleway"/>
                <a:cs typeface="Raleway"/>
                <a:sym typeface="Raleway"/>
              </a:rPr>
              <a:t>L'etica dell'intelligenza artificiale è una disciplina discussa tra scienziati e filosofi, che presenta numerosi aspetti sia teorici che pratici.</a:t>
            </a:r>
            <a:endParaRPr sz="1200">
              <a:latin typeface="Raleway"/>
              <a:ea typeface="Raleway"/>
              <a:cs typeface="Raleway"/>
              <a:sym typeface="Raleway"/>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92" name="Shape 92"/>
        <p:cNvGrpSpPr/>
        <p:nvPr/>
      </p:nvGrpSpPr>
      <p:grpSpPr>
        <a:xfrm>
          <a:off x="0" y="0"/>
          <a:ext cx="0" cy="0"/>
          <a:chOff x="0" y="0"/>
          <a:chExt cx="0" cy="0"/>
        </a:xfrm>
      </p:grpSpPr>
      <p:pic>
        <p:nvPicPr>
          <p:cNvPr id="93" name="Google Shape;93;p16"/>
          <p:cNvPicPr preferRelativeResize="0"/>
          <p:nvPr/>
        </p:nvPicPr>
        <p:blipFill>
          <a:blip r:embed="rId3">
            <a:alphaModFix/>
          </a:blip>
          <a:stretch>
            <a:fillRect/>
          </a:stretch>
        </p:blipFill>
        <p:spPr>
          <a:xfrm>
            <a:off x="2051137" y="162725"/>
            <a:ext cx="5041725" cy="4818049"/>
          </a:xfrm>
          <a:prstGeom prst="rect">
            <a:avLst/>
          </a:prstGeom>
          <a:noFill/>
          <a:ln>
            <a:noFill/>
          </a:ln>
        </p:spPr>
      </p:pic>
      <p:pic>
        <p:nvPicPr>
          <p:cNvPr descr="Piece of duct tape sticking a note to the slide" id="94" name="Google Shape;94;p16"/>
          <p:cNvPicPr preferRelativeResize="0"/>
          <p:nvPr/>
        </p:nvPicPr>
        <p:blipFill rotWithShape="1">
          <a:blip r:embed="rId4">
            <a:alphaModFix/>
          </a:blip>
          <a:srcRect b="10012" l="9245" r="2118" t="5926"/>
          <a:stretch/>
        </p:blipFill>
        <p:spPr>
          <a:xfrm rot="154828">
            <a:off x="3536000" y="147301"/>
            <a:ext cx="2072000" cy="736050"/>
          </a:xfrm>
          <a:prstGeom prst="rect">
            <a:avLst/>
          </a:prstGeom>
          <a:noFill/>
          <a:ln>
            <a:noFill/>
          </a:ln>
        </p:spPr>
      </p:pic>
      <p:sp>
        <p:nvSpPr>
          <p:cNvPr id="95" name="Google Shape;95;p16"/>
          <p:cNvSpPr txBox="1"/>
          <p:nvPr/>
        </p:nvSpPr>
        <p:spPr>
          <a:xfrm>
            <a:off x="2489775" y="1068400"/>
            <a:ext cx="3977100" cy="76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chemeClr val="lt2"/>
                </a:solidFill>
                <a:latin typeface="Raleway"/>
                <a:ea typeface="Raleway"/>
                <a:cs typeface="Raleway"/>
                <a:sym typeface="Raleway"/>
              </a:rPr>
              <a:t>Come dovremmo definire l'IA?</a:t>
            </a:r>
            <a:endParaRPr b="1" sz="3000">
              <a:solidFill>
                <a:schemeClr val="lt2"/>
              </a:solidFill>
              <a:latin typeface="Raleway"/>
              <a:ea typeface="Raleway"/>
              <a:cs typeface="Raleway"/>
              <a:sym typeface="Raleway"/>
            </a:endParaRPr>
          </a:p>
        </p:txBody>
      </p:sp>
      <p:sp>
        <p:nvSpPr>
          <p:cNvPr id="96" name="Google Shape;96;p16"/>
          <p:cNvSpPr txBox="1"/>
          <p:nvPr>
            <p:ph idx="4294967295" type="body"/>
          </p:nvPr>
        </p:nvSpPr>
        <p:spPr>
          <a:xfrm>
            <a:off x="2506500" y="1758475"/>
            <a:ext cx="4131000" cy="332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aleway"/>
                <a:ea typeface="Raleway"/>
                <a:cs typeface="Raleway"/>
                <a:sym typeface="Raleway"/>
              </a:rPr>
              <a:t>Come avrai probabilmente notato, l'IA è attualmente un "argomento caldo": è quasi impossibile evitare la copertura mediatica e le discussioni pubbliche su questo tema. Tuttavia, avrai anche notato che l'IA significa cose diverse per persone diverse. Per alcuni, l'IA riguarda forme di vita artificiali in grado di superare l'intelligenza umana, mentre per altri qualsiasi tecnologia di elaborazione dati può essere definita IA.</a:t>
            </a:r>
            <a:endParaRPr sz="1200">
              <a:latin typeface="Raleway"/>
              <a:ea typeface="Raleway"/>
              <a:cs typeface="Raleway"/>
              <a:sym typeface="Raleway"/>
            </a:endParaRPr>
          </a:p>
          <a:p>
            <a:pPr indent="0" lvl="0" marL="0" rtl="0" algn="l">
              <a:spcBef>
                <a:spcPts val="1000"/>
              </a:spcBef>
              <a:spcAft>
                <a:spcPts val="0"/>
              </a:spcAft>
              <a:buNone/>
            </a:pPr>
            <a:r>
              <a:t/>
            </a:r>
            <a:endParaRPr sz="1200">
              <a:latin typeface="Raleway"/>
              <a:ea typeface="Raleway"/>
              <a:cs typeface="Raleway"/>
              <a:sym typeface="Raleway"/>
            </a:endParaRPr>
          </a:p>
          <a:p>
            <a:pPr indent="0" lvl="0" marL="0" rtl="0" algn="l">
              <a:spcBef>
                <a:spcPts val="1000"/>
              </a:spcBef>
              <a:spcAft>
                <a:spcPts val="1000"/>
              </a:spcAft>
              <a:buNone/>
            </a:pPr>
            <a:r>
              <a:rPr lang="en" sz="1200">
                <a:latin typeface="Raleway"/>
                <a:ea typeface="Raleway"/>
                <a:cs typeface="Raleway"/>
                <a:sym typeface="Raleway"/>
              </a:rPr>
              <a:t>Per inquadrare il contesto, parleremo di cosa sia l'IA, di come possa essere definita e di quali altri campi o tecnologie siano strettamente correlati.</a:t>
            </a:r>
            <a:endParaRPr sz="1200">
              <a:latin typeface="Raleway"/>
              <a:ea typeface="Raleway"/>
              <a:cs typeface="Raleway"/>
              <a:sym typeface="Raleway"/>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100" name="Shape 100"/>
        <p:cNvGrpSpPr/>
        <p:nvPr/>
      </p:nvGrpSpPr>
      <p:grpSpPr>
        <a:xfrm>
          <a:off x="0" y="0"/>
          <a:ext cx="0" cy="0"/>
          <a:chOff x="0" y="0"/>
          <a:chExt cx="0" cy="0"/>
        </a:xfrm>
      </p:grpSpPr>
      <p:pic>
        <p:nvPicPr>
          <p:cNvPr id="101" name="Google Shape;101;p17"/>
          <p:cNvPicPr preferRelativeResize="0"/>
          <p:nvPr/>
        </p:nvPicPr>
        <p:blipFill>
          <a:blip r:embed="rId3">
            <a:alphaModFix/>
          </a:blip>
          <a:stretch>
            <a:fillRect/>
          </a:stretch>
        </p:blipFill>
        <p:spPr>
          <a:xfrm>
            <a:off x="0" y="401650"/>
            <a:ext cx="9143999" cy="4340206"/>
          </a:xfrm>
          <a:prstGeom prst="rect">
            <a:avLst/>
          </a:prstGeom>
          <a:noFill/>
          <a:ln>
            <a:noFill/>
          </a:ln>
        </p:spPr>
      </p:pic>
      <p:pic>
        <p:nvPicPr>
          <p:cNvPr id="102" name="Google Shape;102;p17"/>
          <p:cNvPicPr preferRelativeResize="0"/>
          <p:nvPr/>
        </p:nvPicPr>
        <p:blipFill>
          <a:blip r:embed="rId4">
            <a:alphaModFix/>
          </a:blip>
          <a:stretch>
            <a:fillRect/>
          </a:stretch>
        </p:blipFill>
        <p:spPr>
          <a:xfrm>
            <a:off x="2051137" y="162725"/>
            <a:ext cx="5041725" cy="4818049"/>
          </a:xfrm>
          <a:prstGeom prst="rect">
            <a:avLst/>
          </a:prstGeom>
          <a:noFill/>
          <a:ln>
            <a:noFill/>
          </a:ln>
        </p:spPr>
      </p:pic>
      <p:pic>
        <p:nvPicPr>
          <p:cNvPr descr="Piece of duct tape sticking a note to the slide" id="103" name="Google Shape;103;p17"/>
          <p:cNvPicPr preferRelativeResize="0"/>
          <p:nvPr/>
        </p:nvPicPr>
        <p:blipFill rotWithShape="1">
          <a:blip r:embed="rId5">
            <a:alphaModFix/>
          </a:blip>
          <a:srcRect b="10012" l="9245" r="2118" t="5926"/>
          <a:stretch/>
        </p:blipFill>
        <p:spPr>
          <a:xfrm rot="154828">
            <a:off x="3536000" y="147301"/>
            <a:ext cx="2072000" cy="736050"/>
          </a:xfrm>
          <a:prstGeom prst="rect">
            <a:avLst/>
          </a:prstGeom>
          <a:noFill/>
          <a:ln>
            <a:noFill/>
          </a:ln>
        </p:spPr>
      </p:pic>
      <p:sp>
        <p:nvSpPr>
          <p:cNvPr id="104" name="Google Shape;104;p17"/>
          <p:cNvSpPr txBox="1"/>
          <p:nvPr/>
        </p:nvSpPr>
        <p:spPr>
          <a:xfrm>
            <a:off x="2489775" y="1068400"/>
            <a:ext cx="3977100" cy="76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chemeClr val="lt2"/>
                </a:solidFill>
                <a:latin typeface="Raleway"/>
                <a:ea typeface="Raleway"/>
                <a:cs typeface="Raleway"/>
                <a:sym typeface="Raleway"/>
              </a:rPr>
              <a:t>Applicazione: Self-driving cars</a:t>
            </a:r>
            <a:endParaRPr b="1" sz="3000">
              <a:solidFill>
                <a:schemeClr val="lt2"/>
              </a:solidFill>
              <a:latin typeface="Raleway"/>
              <a:ea typeface="Raleway"/>
              <a:cs typeface="Raleway"/>
              <a:sym typeface="Raleway"/>
            </a:endParaRPr>
          </a:p>
        </p:txBody>
      </p:sp>
      <p:sp>
        <p:nvSpPr>
          <p:cNvPr id="105" name="Google Shape;105;p17"/>
          <p:cNvSpPr txBox="1"/>
          <p:nvPr>
            <p:ph idx="4294967295" type="body"/>
          </p:nvPr>
        </p:nvSpPr>
        <p:spPr>
          <a:xfrm>
            <a:off x="2506500" y="1758475"/>
            <a:ext cx="4131000" cy="332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aleway"/>
                <a:ea typeface="Raleway"/>
                <a:cs typeface="Raleway"/>
                <a:sym typeface="Raleway"/>
              </a:rPr>
              <a:t>Le auto a guida autonoma richiedono una combinazione di diverse tecniche di intelligenza artificiale: ricerca e pianificazione per trovare il percorso più conveniente da A a B, visione artificiale per identificare gli ostacoli e capacità decisionale in condizioni di incertezza per affrontare un ambiente complesso e dinamico.</a:t>
            </a:r>
            <a:endParaRPr sz="1200">
              <a:latin typeface="Raleway"/>
              <a:ea typeface="Raleway"/>
              <a:cs typeface="Raleway"/>
              <a:sym typeface="Raleway"/>
            </a:endParaRPr>
          </a:p>
          <a:p>
            <a:pPr indent="0" lvl="0" marL="0" rtl="0" algn="l">
              <a:spcBef>
                <a:spcPts val="1000"/>
              </a:spcBef>
              <a:spcAft>
                <a:spcPts val="0"/>
              </a:spcAft>
              <a:buNone/>
            </a:pPr>
            <a:r>
              <a:rPr lang="en" sz="1200">
                <a:latin typeface="Raleway"/>
                <a:ea typeface="Raleway"/>
                <a:cs typeface="Raleway"/>
                <a:sym typeface="Raleway"/>
              </a:rPr>
              <a:t>Ognuna di queste tecnologie deve funzionare con una precisione quasi perfetta per evitare incidenti.</a:t>
            </a:r>
            <a:endParaRPr sz="1200">
              <a:latin typeface="Raleway"/>
              <a:ea typeface="Raleway"/>
              <a:cs typeface="Raleway"/>
              <a:sym typeface="Raleway"/>
            </a:endParaRPr>
          </a:p>
          <a:p>
            <a:pPr indent="0" lvl="0" marL="0" rtl="0" algn="l">
              <a:spcBef>
                <a:spcPts val="1000"/>
              </a:spcBef>
              <a:spcAft>
                <a:spcPts val="1000"/>
              </a:spcAft>
              <a:buNone/>
            </a:pPr>
            <a:r>
              <a:rPr lang="en" sz="1200">
                <a:latin typeface="Raleway"/>
                <a:ea typeface="Raleway"/>
                <a:cs typeface="Raleway"/>
                <a:sym typeface="Raleway"/>
              </a:rPr>
              <a:t>Le stesse tecnologie vengono utilizzate anche in altri sistemi autonomi, come robot per le consegne, droni volanti e navi autonome.</a:t>
            </a:r>
            <a:endParaRPr sz="1200">
              <a:latin typeface="Raleway"/>
              <a:ea typeface="Raleway"/>
              <a:cs typeface="Raleway"/>
              <a:sym typeface="Raleway"/>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109" name="Shape 109"/>
        <p:cNvGrpSpPr/>
        <p:nvPr/>
      </p:nvGrpSpPr>
      <p:grpSpPr>
        <a:xfrm>
          <a:off x="0" y="0"/>
          <a:ext cx="0" cy="0"/>
          <a:chOff x="0" y="0"/>
          <a:chExt cx="0" cy="0"/>
        </a:xfrm>
      </p:grpSpPr>
      <p:pic>
        <p:nvPicPr>
          <p:cNvPr id="110" name="Google Shape;110;p18"/>
          <p:cNvPicPr preferRelativeResize="0"/>
          <p:nvPr/>
        </p:nvPicPr>
        <p:blipFill>
          <a:blip r:embed="rId3">
            <a:alphaModFix/>
          </a:blip>
          <a:stretch>
            <a:fillRect/>
          </a:stretch>
        </p:blipFill>
        <p:spPr>
          <a:xfrm>
            <a:off x="0" y="401650"/>
            <a:ext cx="9143999" cy="4340206"/>
          </a:xfrm>
          <a:prstGeom prst="rect">
            <a:avLst/>
          </a:prstGeom>
          <a:noFill/>
          <a:ln>
            <a:noFill/>
          </a:ln>
        </p:spPr>
      </p:pic>
      <p:pic>
        <p:nvPicPr>
          <p:cNvPr id="111" name="Google Shape;111;p18"/>
          <p:cNvPicPr preferRelativeResize="0"/>
          <p:nvPr/>
        </p:nvPicPr>
        <p:blipFill>
          <a:blip r:embed="rId4">
            <a:alphaModFix/>
          </a:blip>
          <a:stretch>
            <a:fillRect/>
          </a:stretch>
        </p:blipFill>
        <p:spPr>
          <a:xfrm>
            <a:off x="2051137" y="162725"/>
            <a:ext cx="5041725" cy="4818049"/>
          </a:xfrm>
          <a:prstGeom prst="rect">
            <a:avLst/>
          </a:prstGeom>
          <a:noFill/>
          <a:ln>
            <a:noFill/>
          </a:ln>
        </p:spPr>
      </p:pic>
      <p:pic>
        <p:nvPicPr>
          <p:cNvPr descr="Piece of duct tape sticking a note to the slide" id="112" name="Google Shape;112;p18"/>
          <p:cNvPicPr preferRelativeResize="0"/>
          <p:nvPr/>
        </p:nvPicPr>
        <p:blipFill rotWithShape="1">
          <a:blip r:embed="rId5">
            <a:alphaModFix/>
          </a:blip>
          <a:srcRect b="10012" l="9245" r="2118" t="5926"/>
          <a:stretch/>
        </p:blipFill>
        <p:spPr>
          <a:xfrm rot="154828">
            <a:off x="3536000" y="147301"/>
            <a:ext cx="2072000" cy="736050"/>
          </a:xfrm>
          <a:prstGeom prst="rect">
            <a:avLst/>
          </a:prstGeom>
          <a:noFill/>
          <a:ln>
            <a:noFill/>
          </a:ln>
        </p:spPr>
      </p:pic>
      <p:sp>
        <p:nvSpPr>
          <p:cNvPr id="113" name="Google Shape;113;p18"/>
          <p:cNvSpPr txBox="1"/>
          <p:nvPr/>
        </p:nvSpPr>
        <p:spPr>
          <a:xfrm>
            <a:off x="2489775" y="1068400"/>
            <a:ext cx="3977100" cy="76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chemeClr val="lt2"/>
                </a:solidFill>
                <a:latin typeface="Raleway"/>
                <a:ea typeface="Raleway"/>
                <a:cs typeface="Raleway"/>
                <a:sym typeface="Raleway"/>
              </a:rPr>
              <a:t>Applicazione: Self-driving cars</a:t>
            </a:r>
            <a:endParaRPr b="1" sz="3000">
              <a:solidFill>
                <a:schemeClr val="lt2"/>
              </a:solidFill>
              <a:latin typeface="Raleway"/>
              <a:ea typeface="Raleway"/>
              <a:cs typeface="Raleway"/>
              <a:sym typeface="Raleway"/>
            </a:endParaRPr>
          </a:p>
        </p:txBody>
      </p:sp>
      <p:sp>
        <p:nvSpPr>
          <p:cNvPr id="114" name="Google Shape;114;p18"/>
          <p:cNvSpPr txBox="1"/>
          <p:nvPr>
            <p:ph idx="4294967295" type="body"/>
          </p:nvPr>
        </p:nvSpPr>
        <p:spPr>
          <a:xfrm>
            <a:off x="2506500" y="1682275"/>
            <a:ext cx="4131000" cy="332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aleway"/>
                <a:ea typeface="Raleway"/>
                <a:cs typeface="Raleway"/>
                <a:sym typeface="Raleway"/>
              </a:rPr>
              <a:t>Implicazioni:</a:t>
            </a:r>
            <a:endParaRPr sz="1200">
              <a:latin typeface="Raleway"/>
              <a:ea typeface="Raleway"/>
              <a:cs typeface="Raleway"/>
              <a:sym typeface="Raleway"/>
            </a:endParaRPr>
          </a:p>
          <a:p>
            <a:pPr indent="0" lvl="0" marL="0" rtl="0" algn="l">
              <a:spcBef>
                <a:spcPts val="1000"/>
              </a:spcBef>
              <a:spcAft>
                <a:spcPts val="0"/>
              </a:spcAft>
              <a:buNone/>
            </a:pPr>
            <a:r>
              <a:rPr lang="en" sz="1200">
                <a:latin typeface="Raleway"/>
                <a:ea typeface="Raleway"/>
                <a:cs typeface="Raleway"/>
                <a:sym typeface="Raleway"/>
              </a:rPr>
              <a:t>La sicurezza stradale dovrebbe migliorare con il tempo, man mano che l'affidabilità di questi sistemi supererà quella umana. L'efficienza delle catene logistiche nel trasporto delle merci dovrebbe aumentare.</a:t>
            </a:r>
            <a:endParaRPr sz="1200">
              <a:latin typeface="Raleway"/>
              <a:ea typeface="Raleway"/>
              <a:cs typeface="Raleway"/>
              <a:sym typeface="Raleway"/>
            </a:endParaRPr>
          </a:p>
          <a:p>
            <a:pPr indent="0" lvl="0" marL="0" rtl="0" algn="l">
              <a:spcBef>
                <a:spcPts val="1000"/>
              </a:spcBef>
              <a:spcAft>
                <a:spcPts val="0"/>
              </a:spcAft>
              <a:buNone/>
            </a:pPr>
            <a:r>
              <a:rPr lang="en" sz="1200">
                <a:latin typeface="Raleway"/>
                <a:ea typeface="Raleway"/>
                <a:cs typeface="Raleway"/>
                <a:sym typeface="Raleway"/>
              </a:rPr>
              <a:t>Gli esseri umani assumeranno un ruolo di supervisione, monitorando le operazioni mentre le macchine si occuperanno della guida.</a:t>
            </a:r>
            <a:endParaRPr sz="1200">
              <a:latin typeface="Raleway"/>
              <a:ea typeface="Raleway"/>
              <a:cs typeface="Raleway"/>
              <a:sym typeface="Raleway"/>
            </a:endParaRPr>
          </a:p>
          <a:p>
            <a:pPr indent="0" lvl="0" marL="0" rtl="0" algn="l">
              <a:spcBef>
                <a:spcPts val="1000"/>
              </a:spcBef>
              <a:spcAft>
                <a:spcPts val="1000"/>
              </a:spcAft>
              <a:buClr>
                <a:schemeClr val="dk2"/>
              </a:buClr>
              <a:buSzPts val="1100"/>
              <a:buFont typeface="Arial"/>
              <a:buNone/>
            </a:pPr>
            <a:r>
              <a:rPr lang="en" sz="1200">
                <a:latin typeface="Raleway"/>
                <a:ea typeface="Raleway"/>
                <a:cs typeface="Raleway"/>
                <a:sym typeface="Raleway"/>
              </a:rPr>
              <a:t>Dato che il trasporto è un elemento cruciale della nostra vita quotidiana, è probabile che ci siano implicazioni che ancora non abbiamo nemmeno considerato.</a:t>
            </a:r>
            <a:endParaRPr sz="1200">
              <a:latin typeface="Raleway"/>
              <a:ea typeface="Raleway"/>
              <a:cs typeface="Raleway"/>
              <a:sym typeface="Raleway"/>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118" name="Shape 118"/>
        <p:cNvGrpSpPr/>
        <p:nvPr/>
      </p:nvGrpSpPr>
      <p:grpSpPr>
        <a:xfrm>
          <a:off x="0" y="0"/>
          <a:ext cx="0" cy="0"/>
          <a:chOff x="0" y="0"/>
          <a:chExt cx="0" cy="0"/>
        </a:xfrm>
      </p:grpSpPr>
      <p:pic>
        <p:nvPicPr>
          <p:cNvPr id="119" name="Google Shape;119;p19"/>
          <p:cNvPicPr preferRelativeResize="0"/>
          <p:nvPr/>
        </p:nvPicPr>
        <p:blipFill>
          <a:blip r:embed="rId3">
            <a:alphaModFix/>
          </a:blip>
          <a:stretch>
            <a:fillRect/>
          </a:stretch>
        </p:blipFill>
        <p:spPr>
          <a:xfrm>
            <a:off x="2051137" y="162725"/>
            <a:ext cx="5041725" cy="4818049"/>
          </a:xfrm>
          <a:prstGeom prst="rect">
            <a:avLst/>
          </a:prstGeom>
          <a:noFill/>
          <a:ln>
            <a:noFill/>
          </a:ln>
        </p:spPr>
      </p:pic>
      <p:pic>
        <p:nvPicPr>
          <p:cNvPr descr="Piece of duct tape sticking a note to the slide" id="120" name="Google Shape;120;p19"/>
          <p:cNvPicPr preferRelativeResize="0"/>
          <p:nvPr/>
        </p:nvPicPr>
        <p:blipFill rotWithShape="1">
          <a:blip r:embed="rId4">
            <a:alphaModFix/>
          </a:blip>
          <a:srcRect b="10012" l="9245" r="2118" t="5926"/>
          <a:stretch/>
        </p:blipFill>
        <p:spPr>
          <a:xfrm rot="154828">
            <a:off x="3536000" y="147301"/>
            <a:ext cx="2072000" cy="736050"/>
          </a:xfrm>
          <a:prstGeom prst="rect">
            <a:avLst/>
          </a:prstGeom>
          <a:noFill/>
          <a:ln>
            <a:noFill/>
          </a:ln>
        </p:spPr>
      </p:pic>
      <p:sp>
        <p:nvSpPr>
          <p:cNvPr id="121" name="Google Shape;121;p19"/>
          <p:cNvSpPr txBox="1"/>
          <p:nvPr/>
        </p:nvSpPr>
        <p:spPr>
          <a:xfrm>
            <a:off x="2489775" y="916000"/>
            <a:ext cx="3977100" cy="76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chemeClr val="lt2"/>
                </a:solidFill>
                <a:latin typeface="Raleway"/>
                <a:ea typeface="Raleway"/>
                <a:cs typeface="Raleway"/>
                <a:sym typeface="Raleway"/>
              </a:rPr>
              <a:t>Leggi della robotica</a:t>
            </a:r>
            <a:endParaRPr b="1" sz="3000">
              <a:solidFill>
                <a:schemeClr val="lt2"/>
              </a:solidFill>
              <a:latin typeface="Raleway"/>
              <a:ea typeface="Raleway"/>
              <a:cs typeface="Raleway"/>
              <a:sym typeface="Raleway"/>
            </a:endParaRPr>
          </a:p>
        </p:txBody>
      </p:sp>
      <p:sp>
        <p:nvSpPr>
          <p:cNvPr id="122" name="Google Shape;122;p19"/>
          <p:cNvSpPr txBox="1"/>
          <p:nvPr>
            <p:ph idx="4294967295" type="body"/>
          </p:nvPr>
        </p:nvSpPr>
        <p:spPr>
          <a:xfrm>
            <a:off x="2506500" y="1758475"/>
            <a:ext cx="4131000" cy="33279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Font typeface="Raleway"/>
              <a:buAutoNum type="arabicPeriod"/>
            </a:pPr>
            <a:r>
              <a:rPr lang="en" sz="1200">
                <a:latin typeface="Raleway"/>
                <a:ea typeface="Raleway"/>
                <a:cs typeface="Raleway"/>
                <a:sym typeface="Raleway"/>
              </a:rPr>
              <a:t>Un robot non può recare danno a un essere umano né può permettere che, a causa del suo mancato intervento, un essere umano riceva danno.</a:t>
            </a:r>
            <a:endParaRPr sz="1200">
              <a:latin typeface="Raleway"/>
              <a:ea typeface="Raleway"/>
              <a:cs typeface="Raleway"/>
              <a:sym typeface="Raleway"/>
            </a:endParaRPr>
          </a:p>
          <a:p>
            <a:pPr indent="-304800" lvl="0" marL="457200" rtl="0" algn="l">
              <a:spcBef>
                <a:spcPts val="0"/>
              </a:spcBef>
              <a:spcAft>
                <a:spcPts val="0"/>
              </a:spcAft>
              <a:buSzPts val="1200"/>
              <a:buFont typeface="Raleway"/>
              <a:buAutoNum type="arabicPeriod"/>
            </a:pPr>
            <a:r>
              <a:rPr lang="en" sz="1200">
                <a:latin typeface="Raleway"/>
                <a:ea typeface="Raleway"/>
                <a:cs typeface="Raleway"/>
                <a:sym typeface="Raleway"/>
              </a:rPr>
              <a:t>Un robot deve obbedire agli ordini impartiti dagli esseri umani, purché tali ordini non vadano in contrasto alla Prima Legge.</a:t>
            </a:r>
            <a:endParaRPr sz="1200">
              <a:latin typeface="Raleway"/>
              <a:ea typeface="Raleway"/>
              <a:cs typeface="Raleway"/>
              <a:sym typeface="Raleway"/>
            </a:endParaRPr>
          </a:p>
          <a:p>
            <a:pPr indent="-304800" lvl="0" marL="457200" rtl="0" algn="l">
              <a:spcBef>
                <a:spcPts val="0"/>
              </a:spcBef>
              <a:spcAft>
                <a:spcPts val="0"/>
              </a:spcAft>
              <a:buSzPts val="1200"/>
              <a:buFont typeface="Raleway"/>
              <a:buAutoNum type="arabicPeriod"/>
            </a:pPr>
            <a:r>
              <a:rPr lang="en" sz="1200">
                <a:latin typeface="Raleway"/>
                <a:ea typeface="Raleway"/>
                <a:cs typeface="Raleway"/>
                <a:sym typeface="Raleway"/>
              </a:rPr>
              <a:t>Un robot deve proteggere la propria esistenza, purché la salvaguardia di essa non contrasti con la Prima o con la Seconda Legge.</a:t>
            </a:r>
            <a:endParaRPr sz="1200">
              <a:latin typeface="Raleway"/>
              <a:ea typeface="Raleway"/>
              <a:cs typeface="Raleway"/>
              <a:sym typeface="Raleway"/>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126" name="Shape 126"/>
        <p:cNvGrpSpPr/>
        <p:nvPr/>
      </p:nvGrpSpPr>
      <p:grpSpPr>
        <a:xfrm>
          <a:off x="0" y="0"/>
          <a:ext cx="0" cy="0"/>
          <a:chOff x="0" y="0"/>
          <a:chExt cx="0" cy="0"/>
        </a:xfrm>
      </p:grpSpPr>
      <p:pic>
        <p:nvPicPr>
          <p:cNvPr id="127" name="Google Shape;127;p20"/>
          <p:cNvPicPr preferRelativeResize="0"/>
          <p:nvPr/>
        </p:nvPicPr>
        <p:blipFill>
          <a:blip r:embed="rId3">
            <a:alphaModFix/>
          </a:blip>
          <a:stretch>
            <a:fillRect/>
          </a:stretch>
        </p:blipFill>
        <p:spPr>
          <a:xfrm>
            <a:off x="0" y="288625"/>
            <a:ext cx="5241499" cy="4199775"/>
          </a:xfrm>
          <a:prstGeom prst="rect">
            <a:avLst/>
          </a:prstGeom>
          <a:noFill/>
          <a:ln>
            <a:noFill/>
          </a:ln>
        </p:spPr>
      </p:pic>
      <p:pic>
        <p:nvPicPr>
          <p:cNvPr id="128" name="Google Shape;128;p20"/>
          <p:cNvPicPr preferRelativeResize="0"/>
          <p:nvPr/>
        </p:nvPicPr>
        <p:blipFill>
          <a:blip r:embed="rId4">
            <a:alphaModFix/>
          </a:blip>
          <a:stretch>
            <a:fillRect/>
          </a:stretch>
        </p:blipFill>
        <p:spPr>
          <a:xfrm>
            <a:off x="2051137" y="162725"/>
            <a:ext cx="5041725" cy="4818049"/>
          </a:xfrm>
          <a:prstGeom prst="rect">
            <a:avLst/>
          </a:prstGeom>
          <a:noFill/>
          <a:ln>
            <a:noFill/>
          </a:ln>
        </p:spPr>
      </p:pic>
      <p:pic>
        <p:nvPicPr>
          <p:cNvPr descr="Piece of duct tape sticking a note to the slide" id="129" name="Google Shape;129;p20"/>
          <p:cNvPicPr preferRelativeResize="0"/>
          <p:nvPr/>
        </p:nvPicPr>
        <p:blipFill rotWithShape="1">
          <a:blip r:embed="rId5">
            <a:alphaModFix/>
          </a:blip>
          <a:srcRect b="10012" l="9245" r="2118" t="5926"/>
          <a:stretch/>
        </p:blipFill>
        <p:spPr>
          <a:xfrm rot="154828">
            <a:off x="3536000" y="147301"/>
            <a:ext cx="2072000" cy="736050"/>
          </a:xfrm>
          <a:prstGeom prst="rect">
            <a:avLst/>
          </a:prstGeom>
          <a:noFill/>
          <a:ln>
            <a:noFill/>
          </a:ln>
        </p:spPr>
      </p:pic>
      <p:sp>
        <p:nvSpPr>
          <p:cNvPr id="130" name="Google Shape;130;p20"/>
          <p:cNvSpPr txBox="1"/>
          <p:nvPr/>
        </p:nvSpPr>
        <p:spPr>
          <a:xfrm>
            <a:off x="2413575" y="1068400"/>
            <a:ext cx="4486200" cy="76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chemeClr val="lt2"/>
                </a:solidFill>
                <a:latin typeface="Raleway"/>
                <a:ea typeface="Raleway"/>
                <a:cs typeface="Raleway"/>
                <a:sym typeface="Raleway"/>
              </a:rPr>
              <a:t>Applicazione: Contenuti multimediali</a:t>
            </a:r>
            <a:endParaRPr b="1" sz="3000">
              <a:solidFill>
                <a:schemeClr val="lt2"/>
              </a:solidFill>
              <a:latin typeface="Raleway"/>
              <a:ea typeface="Raleway"/>
              <a:cs typeface="Raleway"/>
              <a:sym typeface="Raleway"/>
            </a:endParaRPr>
          </a:p>
        </p:txBody>
      </p:sp>
      <p:sp>
        <p:nvSpPr>
          <p:cNvPr id="131" name="Google Shape;131;p20"/>
          <p:cNvSpPr txBox="1"/>
          <p:nvPr>
            <p:ph idx="4294967295" type="body"/>
          </p:nvPr>
        </p:nvSpPr>
        <p:spPr>
          <a:xfrm>
            <a:off x="2506500" y="1758475"/>
            <a:ext cx="4131000" cy="332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aleway"/>
                <a:ea typeface="Raleway"/>
                <a:cs typeface="Raleway"/>
                <a:sym typeface="Raleway"/>
              </a:rPr>
              <a:t>Gran parte delle informazioni con cui entriamo in contatto nel corso di una giornata tipica sono personalizzate.</a:t>
            </a:r>
            <a:endParaRPr sz="1200">
              <a:latin typeface="Raleway"/>
              <a:ea typeface="Raleway"/>
              <a:cs typeface="Raleway"/>
              <a:sym typeface="Raleway"/>
            </a:endParaRPr>
          </a:p>
          <a:p>
            <a:pPr indent="0" lvl="0" marL="0" rtl="0" algn="l">
              <a:spcBef>
                <a:spcPts val="1000"/>
              </a:spcBef>
              <a:spcAft>
                <a:spcPts val="0"/>
              </a:spcAft>
              <a:buNone/>
            </a:pPr>
            <a:r>
              <a:rPr lang="en" sz="1200">
                <a:latin typeface="Raleway"/>
                <a:ea typeface="Raleway"/>
                <a:cs typeface="Raleway"/>
                <a:sym typeface="Raleway"/>
              </a:rPr>
              <a:t>Esempi includono i contenuti di Facebook, X, Instagram, TikTok e altri social media; le pubblicità online; i consigli musicali su Spotify; i suggerimenti di film su Netflix, Max e altre piattaforme di streaming.</a:t>
            </a:r>
            <a:endParaRPr sz="1200">
              <a:latin typeface="Raleway"/>
              <a:ea typeface="Raleway"/>
              <a:cs typeface="Raleway"/>
              <a:sym typeface="Raleway"/>
            </a:endParaRPr>
          </a:p>
          <a:p>
            <a:pPr indent="0" lvl="0" marL="0" rtl="0" algn="l">
              <a:spcBef>
                <a:spcPts val="1000"/>
              </a:spcBef>
              <a:spcAft>
                <a:spcPts val="1000"/>
              </a:spcAft>
              <a:buNone/>
            </a:pPr>
            <a:r>
              <a:rPr lang="en" sz="1200">
                <a:latin typeface="Raleway"/>
                <a:ea typeface="Raleway"/>
                <a:cs typeface="Raleway"/>
                <a:sym typeface="Raleway"/>
              </a:rPr>
              <a:t>Anche molti editori online, come i siti web di giornali e reti televisive, così come i motori di ricerca come Google, personalizzano i contenuti che offrono.</a:t>
            </a:r>
            <a:endParaRPr sz="1200">
              <a:latin typeface="Raleway"/>
              <a:ea typeface="Raleway"/>
              <a:cs typeface="Raleway"/>
              <a:sym typeface="Raleway"/>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135" name="Shape 135"/>
        <p:cNvGrpSpPr/>
        <p:nvPr/>
      </p:nvGrpSpPr>
      <p:grpSpPr>
        <a:xfrm>
          <a:off x="0" y="0"/>
          <a:ext cx="0" cy="0"/>
          <a:chOff x="0" y="0"/>
          <a:chExt cx="0" cy="0"/>
        </a:xfrm>
      </p:grpSpPr>
      <p:pic>
        <p:nvPicPr>
          <p:cNvPr id="136" name="Google Shape;136;p21"/>
          <p:cNvPicPr preferRelativeResize="0"/>
          <p:nvPr/>
        </p:nvPicPr>
        <p:blipFill>
          <a:blip r:embed="rId3">
            <a:alphaModFix/>
          </a:blip>
          <a:stretch>
            <a:fillRect/>
          </a:stretch>
        </p:blipFill>
        <p:spPr>
          <a:xfrm>
            <a:off x="0" y="288625"/>
            <a:ext cx="5241499" cy="4199775"/>
          </a:xfrm>
          <a:prstGeom prst="rect">
            <a:avLst/>
          </a:prstGeom>
          <a:noFill/>
          <a:ln>
            <a:noFill/>
          </a:ln>
        </p:spPr>
      </p:pic>
      <p:pic>
        <p:nvPicPr>
          <p:cNvPr id="137" name="Google Shape;137;p21"/>
          <p:cNvPicPr preferRelativeResize="0"/>
          <p:nvPr/>
        </p:nvPicPr>
        <p:blipFill>
          <a:blip r:embed="rId4">
            <a:alphaModFix/>
          </a:blip>
          <a:stretch>
            <a:fillRect/>
          </a:stretch>
        </p:blipFill>
        <p:spPr>
          <a:xfrm>
            <a:off x="2051137" y="162725"/>
            <a:ext cx="5041725" cy="4818049"/>
          </a:xfrm>
          <a:prstGeom prst="rect">
            <a:avLst/>
          </a:prstGeom>
          <a:noFill/>
          <a:ln>
            <a:noFill/>
          </a:ln>
        </p:spPr>
      </p:pic>
      <p:pic>
        <p:nvPicPr>
          <p:cNvPr descr="Piece of duct tape sticking a note to the slide" id="138" name="Google Shape;138;p21"/>
          <p:cNvPicPr preferRelativeResize="0"/>
          <p:nvPr/>
        </p:nvPicPr>
        <p:blipFill rotWithShape="1">
          <a:blip r:embed="rId5">
            <a:alphaModFix/>
          </a:blip>
          <a:srcRect b="10012" l="9245" r="2118" t="5926"/>
          <a:stretch/>
        </p:blipFill>
        <p:spPr>
          <a:xfrm rot="154828">
            <a:off x="3536000" y="147301"/>
            <a:ext cx="2072000" cy="736050"/>
          </a:xfrm>
          <a:prstGeom prst="rect">
            <a:avLst/>
          </a:prstGeom>
          <a:noFill/>
          <a:ln>
            <a:noFill/>
          </a:ln>
        </p:spPr>
      </p:pic>
      <p:sp>
        <p:nvSpPr>
          <p:cNvPr id="139" name="Google Shape;139;p21"/>
          <p:cNvSpPr txBox="1"/>
          <p:nvPr/>
        </p:nvSpPr>
        <p:spPr>
          <a:xfrm>
            <a:off x="2413575" y="1068400"/>
            <a:ext cx="4486200" cy="76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chemeClr val="lt2"/>
                </a:solidFill>
                <a:latin typeface="Raleway"/>
                <a:ea typeface="Raleway"/>
                <a:cs typeface="Raleway"/>
                <a:sym typeface="Raleway"/>
              </a:rPr>
              <a:t>Applicazione: Contenuti multimediali</a:t>
            </a:r>
            <a:endParaRPr b="1" sz="3000">
              <a:solidFill>
                <a:schemeClr val="lt2"/>
              </a:solidFill>
              <a:latin typeface="Raleway"/>
              <a:ea typeface="Raleway"/>
              <a:cs typeface="Raleway"/>
              <a:sym typeface="Raleway"/>
            </a:endParaRPr>
          </a:p>
        </p:txBody>
      </p:sp>
      <p:sp>
        <p:nvSpPr>
          <p:cNvPr id="140" name="Google Shape;140;p21"/>
          <p:cNvSpPr txBox="1"/>
          <p:nvPr>
            <p:ph idx="4294967295" type="body"/>
          </p:nvPr>
        </p:nvSpPr>
        <p:spPr>
          <a:xfrm>
            <a:off x="2506500" y="1758475"/>
            <a:ext cx="4131000" cy="332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aleway"/>
                <a:ea typeface="Raleway"/>
                <a:cs typeface="Raleway"/>
                <a:sym typeface="Raleway"/>
              </a:rPr>
              <a:t>Mentre la prima pagina della versione stampata del New York Times o del China Daily è la stessa per tutti i lettori, la prima pagina della versione online è diversa per ogni utente. Gli algoritmi che determinano i contenuti visualizzati si basano sull'intelligenza artificiale.</a:t>
            </a:r>
            <a:endParaRPr sz="1200">
              <a:latin typeface="Raleway"/>
              <a:ea typeface="Raleway"/>
              <a:cs typeface="Raleway"/>
              <a:sym typeface="Raleway"/>
            </a:endParaRPr>
          </a:p>
          <a:p>
            <a:pPr indent="0" lvl="0" marL="0" rtl="0" algn="l">
              <a:spcBef>
                <a:spcPts val="1000"/>
              </a:spcBef>
              <a:spcAft>
                <a:spcPts val="1000"/>
              </a:spcAft>
              <a:buNone/>
            </a:pPr>
            <a:r>
              <a:rPr lang="en" sz="1200">
                <a:latin typeface="Raleway"/>
                <a:ea typeface="Raleway"/>
                <a:cs typeface="Raleway"/>
                <a:sym typeface="Raleway"/>
              </a:rPr>
              <a:t>Implicazioni: molte aziende non vogliono rivelare i dettagli dei loro algoritmi, ma conoscere i principi di base aiuta a comprendere le possibili conseguenze. Tra queste ci sono le cosiddette filter bubbles (bolle di filtraggio), echo chambers (camere dell’eco), le fabbriche di troll, le fake news e nuove forme di propaganda.</a:t>
            </a:r>
            <a:endParaRPr sz="1200">
              <a:latin typeface="Raleway"/>
              <a:ea typeface="Raleway"/>
              <a:cs typeface="Raleway"/>
              <a:sym typeface="Raleway"/>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06666"/>
        </a:solidFill>
      </p:bgPr>
    </p:bg>
    <p:spTree>
      <p:nvGrpSpPr>
        <p:cNvPr id="144" name="Shape 144"/>
        <p:cNvGrpSpPr/>
        <p:nvPr/>
      </p:nvGrpSpPr>
      <p:grpSpPr>
        <a:xfrm>
          <a:off x="0" y="0"/>
          <a:ext cx="0" cy="0"/>
          <a:chOff x="0" y="0"/>
          <a:chExt cx="0" cy="0"/>
        </a:xfrm>
      </p:grpSpPr>
      <p:pic>
        <p:nvPicPr>
          <p:cNvPr id="145" name="Google Shape;145;p22"/>
          <p:cNvPicPr preferRelativeResize="0"/>
          <p:nvPr/>
        </p:nvPicPr>
        <p:blipFill>
          <a:blip r:embed="rId3">
            <a:alphaModFix/>
          </a:blip>
          <a:stretch>
            <a:fillRect/>
          </a:stretch>
        </p:blipFill>
        <p:spPr>
          <a:xfrm>
            <a:off x="2444700" y="162737"/>
            <a:ext cx="4254600" cy="4818038"/>
          </a:xfrm>
          <a:prstGeom prst="rect">
            <a:avLst/>
          </a:prstGeom>
          <a:noFill/>
          <a:ln>
            <a:noFill/>
          </a:ln>
        </p:spPr>
      </p:pic>
      <p:pic>
        <p:nvPicPr>
          <p:cNvPr descr="Piece of duct tape sticking a note to the slide" id="146" name="Google Shape;146;p22"/>
          <p:cNvPicPr preferRelativeResize="0"/>
          <p:nvPr/>
        </p:nvPicPr>
        <p:blipFill rotWithShape="1">
          <a:blip r:embed="rId4">
            <a:alphaModFix/>
          </a:blip>
          <a:srcRect b="10012" l="9245" r="2118" t="5926"/>
          <a:stretch/>
        </p:blipFill>
        <p:spPr>
          <a:xfrm rot="154828">
            <a:off x="3536000" y="147301"/>
            <a:ext cx="2072000" cy="736050"/>
          </a:xfrm>
          <a:prstGeom prst="rect">
            <a:avLst/>
          </a:prstGeom>
          <a:noFill/>
          <a:ln>
            <a:noFill/>
          </a:ln>
        </p:spPr>
      </p:pic>
      <p:sp>
        <p:nvSpPr>
          <p:cNvPr id="147" name="Google Shape;147;p22"/>
          <p:cNvSpPr txBox="1"/>
          <p:nvPr/>
        </p:nvSpPr>
        <p:spPr>
          <a:xfrm>
            <a:off x="2855550" y="687397"/>
            <a:ext cx="3432900" cy="76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chemeClr val="lt2"/>
                </a:solidFill>
                <a:latin typeface="Raleway"/>
                <a:ea typeface="Raleway"/>
                <a:cs typeface="Raleway"/>
                <a:sym typeface="Raleway"/>
              </a:rPr>
              <a:t>Filter bubble</a:t>
            </a:r>
            <a:endParaRPr b="1" sz="3000">
              <a:solidFill>
                <a:schemeClr val="lt2"/>
              </a:solidFill>
              <a:latin typeface="Raleway"/>
              <a:ea typeface="Raleway"/>
              <a:cs typeface="Raleway"/>
              <a:sym typeface="Raleway"/>
            </a:endParaRPr>
          </a:p>
        </p:txBody>
      </p:sp>
      <p:sp>
        <p:nvSpPr>
          <p:cNvPr id="148" name="Google Shape;148;p22"/>
          <p:cNvSpPr txBox="1"/>
          <p:nvPr>
            <p:ph idx="4294967295" type="body"/>
          </p:nvPr>
        </p:nvSpPr>
        <p:spPr>
          <a:xfrm>
            <a:off x="2855550" y="1377480"/>
            <a:ext cx="3432900" cy="332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aleway"/>
                <a:ea typeface="Raleway"/>
                <a:cs typeface="Raleway"/>
                <a:sym typeface="Raleway"/>
              </a:rPr>
              <a:t>La filter bubble è il risultato del sistema di personalizzazione dei risultati di ricerche su siti che registrano la storia del comportamento dell'utente. Questi siti sono in grado di utilizzare informazioni sull'utente per scegliere selettivamente, tra tutte le risposte, quelle che vorrà vedere l'utente stesso.</a:t>
            </a:r>
            <a:endParaRPr sz="1200">
              <a:latin typeface="Raleway"/>
              <a:ea typeface="Raleway"/>
              <a:cs typeface="Raleway"/>
              <a:sym typeface="Raleway"/>
            </a:endParaRPr>
          </a:p>
          <a:p>
            <a:pPr indent="0" lvl="0" marL="0" rtl="0" algn="l">
              <a:spcBef>
                <a:spcPts val="1000"/>
              </a:spcBef>
              <a:spcAft>
                <a:spcPts val="0"/>
              </a:spcAft>
              <a:buNone/>
            </a:pPr>
            <a:r>
              <a:rPr lang="en" sz="1200">
                <a:latin typeface="Raleway"/>
                <a:ea typeface="Raleway"/>
                <a:cs typeface="Raleway"/>
                <a:sym typeface="Raleway"/>
              </a:rPr>
              <a:t>L'effetto è di escluderlo da informazioni che sono in contrasto con il suo punto di vista, isolandolo in tal modo nella sua bolla culturale o ideologica.</a:t>
            </a:r>
            <a:endParaRPr sz="1200">
              <a:latin typeface="Raleway"/>
              <a:ea typeface="Raleway"/>
              <a:cs typeface="Raleway"/>
              <a:sym typeface="Raleway"/>
            </a:endParaRPr>
          </a:p>
          <a:p>
            <a:pPr indent="0" lvl="0" marL="0" rtl="0" algn="l">
              <a:spcBef>
                <a:spcPts val="1000"/>
              </a:spcBef>
              <a:spcAft>
                <a:spcPts val="1000"/>
              </a:spcAft>
              <a:buNone/>
            </a:pPr>
            <a:r>
              <a:rPr lang="en" sz="1200">
                <a:latin typeface="Raleway"/>
                <a:ea typeface="Raleway"/>
                <a:cs typeface="Raleway"/>
                <a:sym typeface="Raleway"/>
              </a:rPr>
              <a:t>Esempi importanti sono la ricerca personalizzata di Google e le notizie personalizzate di Facebook.</a:t>
            </a:r>
            <a:endParaRPr sz="1200">
              <a:latin typeface="Raleway"/>
              <a:ea typeface="Raleway"/>
              <a:cs typeface="Raleway"/>
              <a:sym typeface="Raleway"/>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06666"/>
        </a:solidFill>
      </p:bgPr>
    </p:bg>
    <p:spTree>
      <p:nvGrpSpPr>
        <p:cNvPr id="152" name="Shape 152"/>
        <p:cNvGrpSpPr/>
        <p:nvPr/>
      </p:nvGrpSpPr>
      <p:grpSpPr>
        <a:xfrm>
          <a:off x="0" y="0"/>
          <a:ext cx="0" cy="0"/>
          <a:chOff x="0" y="0"/>
          <a:chExt cx="0" cy="0"/>
        </a:xfrm>
      </p:grpSpPr>
      <p:pic>
        <p:nvPicPr>
          <p:cNvPr id="153" name="Google Shape;153;p23"/>
          <p:cNvPicPr preferRelativeResize="0"/>
          <p:nvPr/>
        </p:nvPicPr>
        <p:blipFill>
          <a:blip r:embed="rId3">
            <a:alphaModFix/>
          </a:blip>
          <a:stretch>
            <a:fillRect/>
          </a:stretch>
        </p:blipFill>
        <p:spPr>
          <a:xfrm>
            <a:off x="2444700" y="162737"/>
            <a:ext cx="4254600" cy="4818038"/>
          </a:xfrm>
          <a:prstGeom prst="rect">
            <a:avLst/>
          </a:prstGeom>
          <a:noFill/>
          <a:ln>
            <a:noFill/>
          </a:ln>
        </p:spPr>
      </p:pic>
      <p:pic>
        <p:nvPicPr>
          <p:cNvPr descr="Piece of duct tape sticking a note to the slide" id="154" name="Google Shape;154;p23"/>
          <p:cNvPicPr preferRelativeResize="0"/>
          <p:nvPr/>
        </p:nvPicPr>
        <p:blipFill rotWithShape="1">
          <a:blip r:embed="rId4">
            <a:alphaModFix/>
          </a:blip>
          <a:srcRect b="10012" l="9245" r="2118" t="5926"/>
          <a:stretch/>
        </p:blipFill>
        <p:spPr>
          <a:xfrm rot="154828">
            <a:off x="3536000" y="147301"/>
            <a:ext cx="2072000" cy="736050"/>
          </a:xfrm>
          <a:prstGeom prst="rect">
            <a:avLst/>
          </a:prstGeom>
          <a:noFill/>
          <a:ln>
            <a:noFill/>
          </a:ln>
        </p:spPr>
      </p:pic>
      <p:sp>
        <p:nvSpPr>
          <p:cNvPr id="155" name="Google Shape;155;p23"/>
          <p:cNvSpPr txBox="1"/>
          <p:nvPr/>
        </p:nvSpPr>
        <p:spPr>
          <a:xfrm>
            <a:off x="2855550" y="687397"/>
            <a:ext cx="3432900" cy="76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chemeClr val="lt2"/>
                </a:solidFill>
                <a:latin typeface="Raleway"/>
                <a:ea typeface="Raleway"/>
                <a:cs typeface="Raleway"/>
                <a:sym typeface="Raleway"/>
              </a:rPr>
              <a:t>Echo chamber</a:t>
            </a:r>
            <a:endParaRPr b="1" sz="3000">
              <a:solidFill>
                <a:schemeClr val="lt2"/>
              </a:solidFill>
              <a:latin typeface="Raleway"/>
              <a:ea typeface="Raleway"/>
              <a:cs typeface="Raleway"/>
              <a:sym typeface="Raleway"/>
            </a:endParaRPr>
          </a:p>
        </p:txBody>
      </p:sp>
      <p:sp>
        <p:nvSpPr>
          <p:cNvPr id="156" name="Google Shape;156;p23"/>
          <p:cNvSpPr txBox="1"/>
          <p:nvPr>
            <p:ph idx="4294967295" type="body"/>
          </p:nvPr>
        </p:nvSpPr>
        <p:spPr>
          <a:xfrm>
            <a:off x="2855550" y="1377480"/>
            <a:ext cx="3432900" cy="332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aleway"/>
                <a:ea typeface="Raleway"/>
                <a:cs typeface="Raleway"/>
                <a:sym typeface="Raleway"/>
              </a:rPr>
              <a:t>La echo chamber è una descrizione metaforica di una situazione in cui le informazioni, le idee o le credenze vengono amplificate o rafforzate dalla comunicazione e dalla ripetizione all'interno di un sistema definito.</a:t>
            </a:r>
            <a:endParaRPr sz="1200">
              <a:latin typeface="Raleway"/>
              <a:ea typeface="Raleway"/>
              <a:cs typeface="Raleway"/>
              <a:sym typeface="Raleway"/>
            </a:endParaRPr>
          </a:p>
          <a:p>
            <a:pPr indent="0" lvl="0" marL="0" rtl="0" algn="l">
              <a:spcBef>
                <a:spcPts val="1000"/>
              </a:spcBef>
              <a:spcAft>
                <a:spcPts val="0"/>
              </a:spcAft>
              <a:buNone/>
            </a:pPr>
            <a:r>
              <a:rPr lang="en" sz="1200">
                <a:latin typeface="Raleway"/>
                <a:ea typeface="Raleway"/>
                <a:cs typeface="Raleway"/>
                <a:sym typeface="Raleway"/>
              </a:rPr>
              <a:t>All'interno di una camera d'eco figurata, le fonti ufficiali spesso non vengono più messe in discussione e le visioni diverse o concorrenti sono censurate, non consentite o altrimenti sottorappresentate.</a:t>
            </a:r>
            <a:endParaRPr sz="1200">
              <a:latin typeface="Raleway"/>
              <a:ea typeface="Raleway"/>
              <a:cs typeface="Raleway"/>
              <a:sym typeface="Raleway"/>
            </a:endParaRPr>
          </a:p>
          <a:p>
            <a:pPr indent="0" lvl="0" marL="0" rtl="0" algn="l">
              <a:spcBef>
                <a:spcPts val="1000"/>
              </a:spcBef>
              <a:spcAft>
                <a:spcPts val="1000"/>
              </a:spcAft>
              <a:buNone/>
            </a:pPr>
            <a:r>
              <a:rPr lang="en" sz="1200">
                <a:latin typeface="Raleway"/>
                <a:ea typeface="Raleway"/>
                <a:cs typeface="Raleway"/>
                <a:sym typeface="Raleway"/>
              </a:rPr>
              <a:t>La denominazione trae origine dal fenomeno fisico dell'eco, dove i suoni riverberano in un recinto cavo.</a:t>
            </a:r>
            <a:endParaRPr sz="1200">
              <a:latin typeface="Raleway"/>
              <a:ea typeface="Raleway"/>
              <a:cs typeface="Raleway"/>
              <a:sym typeface="Raleway"/>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06666"/>
        </a:solidFill>
      </p:bgPr>
    </p:bg>
    <p:spTree>
      <p:nvGrpSpPr>
        <p:cNvPr id="160" name="Shape 160"/>
        <p:cNvGrpSpPr/>
        <p:nvPr/>
      </p:nvGrpSpPr>
      <p:grpSpPr>
        <a:xfrm>
          <a:off x="0" y="0"/>
          <a:ext cx="0" cy="0"/>
          <a:chOff x="0" y="0"/>
          <a:chExt cx="0" cy="0"/>
        </a:xfrm>
      </p:grpSpPr>
      <p:pic>
        <p:nvPicPr>
          <p:cNvPr id="161" name="Google Shape;161;p24"/>
          <p:cNvPicPr preferRelativeResize="0"/>
          <p:nvPr/>
        </p:nvPicPr>
        <p:blipFill>
          <a:blip r:embed="rId3">
            <a:alphaModFix/>
          </a:blip>
          <a:stretch>
            <a:fillRect/>
          </a:stretch>
        </p:blipFill>
        <p:spPr>
          <a:xfrm>
            <a:off x="2444700" y="162737"/>
            <a:ext cx="4254600" cy="4818038"/>
          </a:xfrm>
          <a:prstGeom prst="rect">
            <a:avLst/>
          </a:prstGeom>
          <a:noFill/>
          <a:ln>
            <a:noFill/>
          </a:ln>
        </p:spPr>
      </p:pic>
      <p:pic>
        <p:nvPicPr>
          <p:cNvPr descr="Piece of duct tape sticking a note to the slide" id="162" name="Google Shape;162;p24"/>
          <p:cNvPicPr preferRelativeResize="0"/>
          <p:nvPr/>
        </p:nvPicPr>
        <p:blipFill rotWithShape="1">
          <a:blip r:embed="rId4">
            <a:alphaModFix/>
          </a:blip>
          <a:srcRect b="10012" l="9245" r="2118" t="5926"/>
          <a:stretch/>
        </p:blipFill>
        <p:spPr>
          <a:xfrm rot="154828">
            <a:off x="3536000" y="147301"/>
            <a:ext cx="2072000" cy="736050"/>
          </a:xfrm>
          <a:prstGeom prst="rect">
            <a:avLst/>
          </a:prstGeom>
          <a:noFill/>
          <a:ln>
            <a:noFill/>
          </a:ln>
        </p:spPr>
      </p:pic>
      <p:sp>
        <p:nvSpPr>
          <p:cNvPr id="163" name="Google Shape;163;p24"/>
          <p:cNvSpPr txBox="1"/>
          <p:nvPr/>
        </p:nvSpPr>
        <p:spPr>
          <a:xfrm>
            <a:off x="2855550" y="687397"/>
            <a:ext cx="3432900" cy="76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chemeClr val="lt2"/>
                </a:solidFill>
                <a:latin typeface="Raleway"/>
                <a:ea typeface="Raleway"/>
                <a:cs typeface="Raleway"/>
                <a:sym typeface="Raleway"/>
              </a:rPr>
              <a:t>Troll</a:t>
            </a:r>
            <a:endParaRPr b="1" sz="3000">
              <a:solidFill>
                <a:schemeClr val="lt2"/>
              </a:solidFill>
              <a:latin typeface="Raleway"/>
              <a:ea typeface="Raleway"/>
              <a:cs typeface="Raleway"/>
              <a:sym typeface="Raleway"/>
            </a:endParaRPr>
          </a:p>
        </p:txBody>
      </p:sp>
      <p:sp>
        <p:nvSpPr>
          <p:cNvPr id="164" name="Google Shape;164;p24"/>
          <p:cNvSpPr txBox="1"/>
          <p:nvPr>
            <p:ph idx="4294967295" type="body"/>
          </p:nvPr>
        </p:nvSpPr>
        <p:spPr>
          <a:xfrm>
            <a:off x="2855550" y="1377480"/>
            <a:ext cx="3432900" cy="33279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sz="1200">
                <a:latin typeface="Raleway"/>
                <a:ea typeface="Raleway"/>
                <a:cs typeface="Raleway"/>
                <a:sym typeface="Raleway"/>
              </a:rPr>
              <a:t>Un troll, nel gergo di Internet e in particolare delle comunità virtuali, è un soggetto che interagisce con gli altri tramite messaggi volutamente provocatori, irritanti, fuori tema o semplicemente senza senso e/o del tutto errati, con il solo obiettivo di disturbare la comunicazione e causare nervosismo.</a:t>
            </a:r>
            <a:endParaRPr sz="1200">
              <a:latin typeface="Raleway"/>
              <a:ea typeface="Raleway"/>
              <a:cs typeface="Raleway"/>
              <a:sym typeface="Raleway"/>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06666"/>
        </a:solidFill>
      </p:bgPr>
    </p:bg>
    <p:spTree>
      <p:nvGrpSpPr>
        <p:cNvPr id="168" name="Shape 168"/>
        <p:cNvGrpSpPr/>
        <p:nvPr/>
      </p:nvGrpSpPr>
      <p:grpSpPr>
        <a:xfrm>
          <a:off x="0" y="0"/>
          <a:ext cx="0" cy="0"/>
          <a:chOff x="0" y="0"/>
          <a:chExt cx="0" cy="0"/>
        </a:xfrm>
      </p:grpSpPr>
      <p:pic>
        <p:nvPicPr>
          <p:cNvPr id="169" name="Google Shape;169;p25"/>
          <p:cNvPicPr preferRelativeResize="0"/>
          <p:nvPr/>
        </p:nvPicPr>
        <p:blipFill>
          <a:blip r:embed="rId3">
            <a:alphaModFix/>
          </a:blip>
          <a:stretch>
            <a:fillRect/>
          </a:stretch>
        </p:blipFill>
        <p:spPr>
          <a:xfrm>
            <a:off x="2444700" y="162737"/>
            <a:ext cx="4254600" cy="4818038"/>
          </a:xfrm>
          <a:prstGeom prst="rect">
            <a:avLst/>
          </a:prstGeom>
          <a:noFill/>
          <a:ln>
            <a:noFill/>
          </a:ln>
        </p:spPr>
      </p:pic>
      <p:pic>
        <p:nvPicPr>
          <p:cNvPr descr="Piece of duct tape sticking a note to the slide" id="170" name="Google Shape;170;p25"/>
          <p:cNvPicPr preferRelativeResize="0"/>
          <p:nvPr/>
        </p:nvPicPr>
        <p:blipFill rotWithShape="1">
          <a:blip r:embed="rId4">
            <a:alphaModFix/>
          </a:blip>
          <a:srcRect b="10012" l="9245" r="2118" t="5926"/>
          <a:stretch/>
        </p:blipFill>
        <p:spPr>
          <a:xfrm rot="154828">
            <a:off x="3536000" y="147301"/>
            <a:ext cx="2072000" cy="736050"/>
          </a:xfrm>
          <a:prstGeom prst="rect">
            <a:avLst/>
          </a:prstGeom>
          <a:noFill/>
          <a:ln>
            <a:noFill/>
          </a:ln>
        </p:spPr>
      </p:pic>
      <p:sp>
        <p:nvSpPr>
          <p:cNvPr id="171" name="Google Shape;171;p25"/>
          <p:cNvSpPr txBox="1"/>
          <p:nvPr>
            <p:ph idx="4294967295" type="body"/>
          </p:nvPr>
        </p:nvSpPr>
        <p:spPr>
          <a:xfrm>
            <a:off x="2855550" y="1377480"/>
            <a:ext cx="3432900" cy="33279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sz="1200">
                <a:latin typeface="Raleway"/>
                <a:ea typeface="Raleway"/>
                <a:cs typeface="Raleway"/>
                <a:sym typeface="Raleway"/>
              </a:rPr>
              <a:t>Le fake news - note in italiano come bufale - sono delle informazioni false o fuorvianti che possono essere divulgate attraverso qualsiasi media allo scopo di produrre misinformazione o disinformazione.</a:t>
            </a:r>
            <a:endParaRPr sz="1200">
              <a:latin typeface="Raleway"/>
              <a:ea typeface="Raleway"/>
              <a:cs typeface="Raleway"/>
              <a:sym typeface="Raleway"/>
            </a:endParaRPr>
          </a:p>
        </p:txBody>
      </p:sp>
      <p:sp>
        <p:nvSpPr>
          <p:cNvPr id="172" name="Google Shape;172;p25"/>
          <p:cNvSpPr txBox="1"/>
          <p:nvPr/>
        </p:nvSpPr>
        <p:spPr>
          <a:xfrm>
            <a:off x="2855550" y="687397"/>
            <a:ext cx="3432900" cy="76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chemeClr val="lt2"/>
                </a:solidFill>
                <a:latin typeface="Raleway"/>
                <a:ea typeface="Raleway"/>
                <a:cs typeface="Raleway"/>
                <a:sym typeface="Raleway"/>
              </a:rPr>
              <a:t>Fake news</a:t>
            </a:r>
            <a:endParaRPr b="1" sz="3000">
              <a:solidFill>
                <a:schemeClr val="lt2"/>
              </a:solidFill>
              <a:latin typeface="Raleway"/>
              <a:ea typeface="Raleway"/>
              <a:cs typeface="Raleway"/>
              <a:sym typeface="Raleway"/>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176" name="Shape 176"/>
        <p:cNvGrpSpPr/>
        <p:nvPr/>
      </p:nvGrpSpPr>
      <p:grpSpPr>
        <a:xfrm>
          <a:off x="0" y="0"/>
          <a:ext cx="0" cy="0"/>
          <a:chOff x="0" y="0"/>
          <a:chExt cx="0" cy="0"/>
        </a:xfrm>
      </p:grpSpPr>
      <p:pic>
        <p:nvPicPr>
          <p:cNvPr id="177" name="Google Shape;177;p26"/>
          <p:cNvPicPr preferRelativeResize="0"/>
          <p:nvPr/>
        </p:nvPicPr>
        <p:blipFill rotWithShape="1">
          <a:blip r:embed="rId3">
            <a:alphaModFix/>
          </a:blip>
          <a:srcRect b="0" l="27588" r="25446" t="0"/>
          <a:stretch/>
        </p:blipFill>
        <p:spPr>
          <a:xfrm>
            <a:off x="463056" y="966788"/>
            <a:ext cx="3176150" cy="3209925"/>
          </a:xfrm>
          <a:prstGeom prst="rect">
            <a:avLst/>
          </a:prstGeom>
          <a:noFill/>
          <a:ln>
            <a:noFill/>
          </a:ln>
        </p:spPr>
      </p:pic>
      <p:pic>
        <p:nvPicPr>
          <p:cNvPr id="178" name="Google Shape;178;p26"/>
          <p:cNvPicPr preferRelativeResize="0"/>
          <p:nvPr/>
        </p:nvPicPr>
        <p:blipFill>
          <a:blip r:embed="rId4">
            <a:alphaModFix/>
          </a:blip>
          <a:stretch>
            <a:fillRect/>
          </a:stretch>
        </p:blipFill>
        <p:spPr>
          <a:xfrm>
            <a:off x="3639218" y="162725"/>
            <a:ext cx="5041725" cy="4818049"/>
          </a:xfrm>
          <a:prstGeom prst="rect">
            <a:avLst/>
          </a:prstGeom>
          <a:noFill/>
          <a:ln>
            <a:noFill/>
          </a:ln>
        </p:spPr>
      </p:pic>
      <p:pic>
        <p:nvPicPr>
          <p:cNvPr descr="Piece of duct tape sticking a note to the slide" id="179" name="Google Shape;179;p26"/>
          <p:cNvPicPr preferRelativeResize="0"/>
          <p:nvPr/>
        </p:nvPicPr>
        <p:blipFill rotWithShape="1">
          <a:blip r:embed="rId5">
            <a:alphaModFix/>
          </a:blip>
          <a:srcRect b="10012" l="9245" r="2118" t="5926"/>
          <a:stretch/>
        </p:blipFill>
        <p:spPr>
          <a:xfrm rot="154828">
            <a:off x="5124081" y="147301"/>
            <a:ext cx="2072000" cy="736050"/>
          </a:xfrm>
          <a:prstGeom prst="rect">
            <a:avLst/>
          </a:prstGeom>
          <a:noFill/>
          <a:ln>
            <a:noFill/>
          </a:ln>
        </p:spPr>
      </p:pic>
      <p:sp>
        <p:nvSpPr>
          <p:cNvPr id="180" name="Google Shape;180;p26"/>
          <p:cNvSpPr txBox="1"/>
          <p:nvPr/>
        </p:nvSpPr>
        <p:spPr>
          <a:xfrm>
            <a:off x="4001656" y="1068400"/>
            <a:ext cx="4486200" cy="76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chemeClr val="lt2"/>
                </a:solidFill>
                <a:latin typeface="Raleway"/>
                <a:ea typeface="Raleway"/>
                <a:cs typeface="Raleway"/>
                <a:sym typeface="Raleway"/>
              </a:rPr>
              <a:t>Applicazione: Elaborazione immagini</a:t>
            </a:r>
            <a:endParaRPr b="1" sz="3000">
              <a:solidFill>
                <a:schemeClr val="lt2"/>
              </a:solidFill>
              <a:latin typeface="Raleway"/>
              <a:ea typeface="Raleway"/>
              <a:cs typeface="Raleway"/>
              <a:sym typeface="Raleway"/>
            </a:endParaRPr>
          </a:p>
        </p:txBody>
      </p:sp>
      <p:sp>
        <p:nvSpPr>
          <p:cNvPr id="181" name="Google Shape;181;p26"/>
          <p:cNvSpPr txBox="1"/>
          <p:nvPr>
            <p:ph idx="4294967295" type="body"/>
          </p:nvPr>
        </p:nvSpPr>
        <p:spPr>
          <a:xfrm>
            <a:off x="4094581" y="1758475"/>
            <a:ext cx="4131000" cy="332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aleway"/>
                <a:ea typeface="Raleway"/>
                <a:cs typeface="Raleway"/>
                <a:sym typeface="Raleway"/>
              </a:rPr>
              <a:t>Il riconoscimento facciale è ormai una tecnologia di largo consumo, utilizzata in molte applicazioni per clienti, aziende e governi, come l'organizzazione delle foto in base alle persone, il tag automatico sui social media e il controllo passaporti.</a:t>
            </a:r>
            <a:endParaRPr sz="1200">
              <a:latin typeface="Raleway"/>
              <a:ea typeface="Raleway"/>
              <a:cs typeface="Raleway"/>
              <a:sym typeface="Raleway"/>
            </a:endParaRPr>
          </a:p>
          <a:p>
            <a:pPr indent="0" lvl="0" marL="0" rtl="0" algn="l">
              <a:spcBef>
                <a:spcPts val="1000"/>
              </a:spcBef>
              <a:spcAft>
                <a:spcPts val="0"/>
              </a:spcAft>
              <a:buNone/>
            </a:pPr>
            <a:r>
              <a:rPr lang="en" sz="1200">
                <a:latin typeface="Raleway"/>
                <a:ea typeface="Raleway"/>
                <a:cs typeface="Raleway"/>
                <a:sym typeface="Raleway"/>
              </a:rPr>
              <a:t>Tecniche simili possono essere impiegate per riconoscere altre auto e ostacoli attorno a un veicolo autonomo o per stimare le popolazioni di fauna selvatica, solo per citare alcuni esempi.</a:t>
            </a:r>
            <a:endParaRPr sz="1200">
              <a:latin typeface="Raleway"/>
              <a:ea typeface="Raleway"/>
              <a:cs typeface="Raleway"/>
              <a:sym typeface="Raleway"/>
            </a:endParaRPr>
          </a:p>
          <a:p>
            <a:pPr indent="0" lvl="0" marL="0" rtl="0" algn="l">
              <a:spcBef>
                <a:spcPts val="1000"/>
              </a:spcBef>
              <a:spcAft>
                <a:spcPts val="1000"/>
              </a:spcAft>
              <a:buNone/>
            </a:pPr>
            <a:r>
              <a:t/>
            </a:r>
            <a:endParaRPr sz="1200">
              <a:latin typeface="Raleway"/>
              <a:ea typeface="Raleway"/>
              <a:cs typeface="Raleway"/>
              <a:sym typeface="Raleway"/>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185" name="Shape 185"/>
        <p:cNvGrpSpPr/>
        <p:nvPr/>
      </p:nvGrpSpPr>
      <p:grpSpPr>
        <a:xfrm>
          <a:off x="0" y="0"/>
          <a:ext cx="0" cy="0"/>
          <a:chOff x="0" y="0"/>
          <a:chExt cx="0" cy="0"/>
        </a:xfrm>
      </p:grpSpPr>
      <p:pic>
        <p:nvPicPr>
          <p:cNvPr id="186" name="Google Shape;186;p27"/>
          <p:cNvPicPr preferRelativeResize="0"/>
          <p:nvPr/>
        </p:nvPicPr>
        <p:blipFill rotWithShape="1">
          <a:blip r:embed="rId3">
            <a:alphaModFix/>
          </a:blip>
          <a:srcRect b="0" l="27588" r="25446" t="0"/>
          <a:stretch/>
        </p:blipFill>
        <p:spPr>
          <a:xfrm>
            <a:off x="463056" y="966788"/>
            <a:ext cx="3176150" cy="3209925"/>
          </a:xfrm>
          <a:prstGeom prst="rect">
            <a:avLst/>
          </a:prstGeom>
          <a:noFill/>
          <a:ln>
            <a:noFill/>
          </a:ln>
        </p:spPr>
      </p:pic>
      <p:pic>
        <p:nvPicPr>
          <p:cNvPr id="187" name="Google Shape;187;p27"/>
          <p:cNvPicPr preferRelativeResize="0"/>
          <p:nvPr/>
        </p:nvPicPr>
        <p:blipFill>
          <a:blip r:embed="rId4">
            <a:alphaModFix/>
          </a:blip>
          <a:stretch>
            <a:fillRect/>
          </a:stretch>
        </p:blipFill>
        <p:spPr>
          <a:xfrm>
            <a:off x="3639218" y="162725"/>
            <a:ext cx="5041725" cy="4818049"/>
          </a:xfrm>
          <a:prstGeom prst="rect">
            <a:avLst/>
          </a:prstGeom>
          <a:noFill/>
          <a:ln>
            <a:noFill/>
          </a:ln>
        </p:spPr>
      </p:pic>
      <p:pic>
        <p:nvPicPr>
          <p:cNvPr descr="Piece of duct tape sticking a note to the slide" id="188" name="Google Shape;188;p27"/>
          <p:cNvPicPr preferRelativeResize="0"/>
          <p:nvPr/>
        </p:nvPicPr>
        <p:blipFill rotWithShape="1">
          <a:blip r:embed="rId5">
            <a:alphaModFix/>
          </a:blip>
          <a:srcRect b="10012" l="9245" r="2118" t="5926"/>
          <a:stretch/>
        </p:blipFill>
        <p:spPr>
          <a:xfrm rot="154828">
            <a:off x="5124081" y="147301"/>
            <a:ext cx="2072000" cy="736050"/>
          </a:xfrm>
          <a:prstGeom prst="rect">
            <a:avLst/>
          </a:prstGeom>
          <a:noFill/>
          <a:ln>
            <a:noFill/>
          </a:ln>
        </p:spPr>
      </p:pic>
      <p:sp>
        <p:nvSpPr>
          <p:cNvPr id="189" name="Google Shape;189;p27"/>
          <p:cNvSpPr txBox="1"/>
          <p:nvPr/>
        </p:nvSpPr>
        <p:spPr>
          <a:xfrm>
            <a:off x="4001656" y="1068400"/>
            <a:ext cx="4486200" cy="76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chemeClr val="lt2"/>
                </a:solidFill>
                <a:latin typeface="Raleway"/>
                <a:ea typeface="Raleway"/>
                <a:cs typeface="Raleway"/>
                <a:sym typeface="Raleway"/>
              </a:rPr>
              <a:t>Applicazione: Elaborazione immagini</a:t>
            </a:r>
            <a:endParaRPr b="1" sz="3000">
              <a:solidFill>
                <a:schemeClr val="lt2"/>
              </a:solidFill>
              <a:latin typeface="Raleway"/>
              <a:ea typeface="Raleway"/>
              <a:cs typeface="Raleway"/>
              <a:sym typeface="Raleway"/>
            </a:endParaRPr>
          </a:p>
        </p:txBody>
      </p:sp>
      <p:sp>
        <p:nvSpPr>
          <p:cNvPr id="190" name="Google Shape;190;p27"/>
          <p:cNvSpPr txBox="1"/>
          <p:nvPr>
            <p:ph idx="4294967295" type="body"/>
          </p:nvPr>
        </p:nvSpPr>
        <p:spPr>
          <a:xfrm>
            <a:off x="4094581" y="1758475"/>
            <a:ext cx="4131000" cy="332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n" sz="1200">
                <a:latin typeface="Raleway"/>
                <a:ea typeface="Raleway"/>
                <a:cs typeface="Raleway"/>
                <a:sym typeface="Raleway"/>
              </a:rPr>
              <a:t>L'IA può anche essere utilizzata per generare o modificare contenuti visivi. Tra gli esempi già in uso oggi ci sono il style transfer, che permette di adattare le proprie foto personali per farle sembrare dipinte da Vincent van Gogh, e i personaggi generati al computer nei film, come Avatar, Il Signore degli Anelli e le popolari animazioni Pixar, in cui i personaggi replicano i gesti di attori reali.</a:t>
            </a:r>
            <a:endParaRPr sz="1200">
              <a:latin typeface="Raleway"/>
              <a:ea typeface="Raleway"/>
              <a:cs typeface="Raleway"/>
              <a:sym typeface="Raleway"/>
            </a:endParaRPr>
          </a:p>
          <a:p>
            <a:pPr indent="0" lvl="0" marL="0" rtl="0" algn="l">
              <a:spcBef>
                <a:spcPts val="1000"/>
              </a:spcBef>
              <a:spcAft>
                <a:spcPts val="1000"/>
              </a:spcAft>
              <a:buClr>
                <a:schemeClr val="dk2"/>
              </a:buClr>
              <a:buSzPts val="1100"/>
              <a:buFont typeface="Arial"/>
              <a:buNone/>
            </a:pPr>
            <a:r>
              <a:rPr lang="en" sz="1200">
                <a:latin typeface="Raleway"/>
                <a:ea typeface="Raleway"/>
                <a:cs typeface="Raleway"/>
                <a:sym typeface="Raleway"/>
              </a:rPr>
              <a:t>Implicazioni: con l'avanzare di queste tecnologie e la loro diffusione, sarà sempre più facile creare video falsi dall'aspetto realistico, impossibili da distinguere da filmati autentici. </a:t>
            </a:r>
            <a:r>
              <a:rPr i="1" lang="en" sz="1200">
                <a:latin typeface="Raleway"/>
                <a:ea typeface="Raleway"/>
                <a:cs typeface="Raleway"/>
                <a:sym typeface="Raleway"/>
              </a:rPr>
              <a:t>Questo mette in discussione il concetto secondo cui "vedere per credere".</a:t>
            </a:r>
            <a:endParaRPr i="1" sz="1200">
              <a:latin typeface="Raleway"/>
              <a:ea typeface="Raleway"/>
              <a:cs typeface="Raleway"/>
              <a:sym typeface="Raleway"/>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194" name="Shape 194"/>
        <p:cNvGrpSpPr/>
        <p:nvPr/>
      </p:nvGrpSpPr>
      <p:grpSpPr>
        <a:xfrm>
          <a:off x="0" y="0"/>
          <a:ext cx="0" cy="0"/>
          <a:chOff x="0" y="0"/>
          <a:chExt cx="0" cy="0"/>
        </a:xfrm>
      </p:grpSpPr>
      <p:pic>
        <p:nvPicPr>
          <p:cNvPr id="195" name="Google Shape;195;p28"/>
          <p:cNvPicPr preferRelativeResize="0"/>
          <p:nvPr/>
        </p:nvPicPr>
        <p:blipFill>
          <a:blip r:embed="rId3">
            <a:alphaModFix/>
          </a:blip>
          <a:stretch>
            <a:fillRect/>
          </a:stretch>
        </p:blipFill>
        <p:spPr>
          <a:xfrm>
            <a:off x="2051137" y="162725"/>
            <a:ext cx="5041725" cy="4818049"/>
          </a:xfrm>
          <a:prstGeom prst="rect">
            <a:avLst/>
          </a:prstGeom>
          <a:noFill/>
          <a:ln>
            <a:noFill/>
          </a:ln>
        </p:spPr>
      </p:pic>
      <p:pic>
        <p:nvPicPr>
          <p:cNvPr descr="Piece of duct tape sticking a note to the slide" id="196" name="Google Shape;196;p28"/>
          <p:cNvPicPr preferRelativeResize="0"/>
          <p:nvPr/>
        </p:nvPicPr>
        <p:blipFill rotWithShape="1">
          <a:blip r:embed="rId4">
            <a:alphaModFix/>
          </a:blip>
          <a:srcRect b="10012" l="9245" r="2118" t="5926"/>
          <a:stretch/>
        </p:blipFill>
        <p:spPr>
          <a:xfrm rot="154828">
            <a:off x="3536000" y="147301"/>
            <a:ext cx="2072000" cy="736050"/>
          </a:xfrm>
          <a:prstGeom prst="rect">
            <a:avLst/>
          </a:prstGeom>
          <a:noFill/>
          <a:ln>
            <a:noFill/>
          </a:ln>
        </p:spPr>
      </p:pic>
      <p:sp>
        <p:nvSpPr>
          <p:cNvPr id="197" name="Google Shape;197;p28"/>
          <p:cNvSpPr txBox="1"/>
          <p:nvPr/>
        </p:nvSpPr>
        <p:spPr>
          <a:xfrm>
            <a:off x="2343550" y="839800"/>
            <a:ext cx="4406400" cy="76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chemeClr val="lt2"/>
                </a:solidFill>
                <a:latin typeface="Raleway"/>
                <a:ea typeface="Raleway"/>
                <a:cs typeface="Raleway"/>
                <a:sym typeface="Raleway"/>
              </a:rPr>
              <a:t>Cos'è e cosa non è l'IA?</a:t>
            </a:r>
            <a:endParaRPr b="1" sz="3000">
              <a:solidFill>
                <a:schemeClr val="lt2"/>
              </a:solidFill>
              <a:latin typeface="Raleway"/>
              <a:ea typeface="Raleway"/>
              <a:cs typeface="Raleway"/>
              <a:sym typeface="Raleway"/>
            </a:endParaRPr>
          </a:p>
        </p:txBody>
      </p:sp>
      <p:sp>
        <p:nvSpPr>
          <p:cNvPr id="198" name="Google Shape;198;p28"/>
          <p:cNvSpPr txBox="1"/>
          <p:nvPr>
            <p:ph idx="4294967295" type="body"/>
          </p:nvPr>
        </p:nvSpPr>
        <p:spPr>
          <a:xfrm>
            <a:off x="2506500" y="1758475"/>
            <a:ext cx="4131000" cy="332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aleway"/>
                <a:ea typeface="Raleway"/>
                <a:cs typeface="Raleway"/>
                <a:sym typeface="Raleway"/>
              </a:rPr>
              <a:t>La popolarità dell'intelligenza artificiale nei media è in parte dovuta al fatto che le persone hanno iniziato a usare questo termine per riferirsi a tecnologie che un tempo avevano altri nomi.</a:t>
            </a:r>
            <a:endParaRPr sz="1200">
              <a:latin typeface="Raleway"/>
              <a:ea typeface="Raleway"/>
              <a:cs typeface="Raleway"/>
              <a:sym typeface="Raleway"/>
            </a:endParaRPr>
          </a:p>
          <a:p>
            <a:pPr indent="0" lvl="0" marL="0" rtl="0" algn="l">
              <a:spcBef>
                <a:spcPts val="1000"/>
              </a:spcBef>
              <a:spcAft>
                <a:spcPts val="0"/>
              </a:spcAft>
              <a:buNone/>
            </a:pPr>
            <a:r>
              <a:rPr lang="en" sz="1200">
                <a:latin typeface="Raleway"/>
                <a:ea typeface="Raleway"/>
                <a:cs typeface="Raleway"/>
                <a:sym typeface="Raleway"/>
              </a:rPr>
              <a:t>Oggi si può trovare qualsiasi cosa, dalle statistiche all'analisi aziendale fino a semplici regole if-then codificate manualmente, etichettata come IA.</a:t>
            </a:r>
            <a:endParaRPr sz="1200">
              <a:latin typeface="Raleway"/>
              <a:ea typeface="Raleway"/>
              <a:cs typeface="Raleway"/>
              <a:sym typeface="Raleway"/>
            </a:endParaRPr>
          </a:p>
          <a:p>
            <a:pPr indent="0" lvl="0" marL="0" rtl="0" algn="l">
              <a:spcBef>
                <a:spcPts val="1000"/>
              </a:spcBef>
              <a:spcAft>
                <a:spcPts val="1000"/>
              </a:spcAft>
              <a:buNone/>
            </a:pPr>
            <a:r>
              <a:rPr lang="en" sz="1200">
                <a:latin typeface="Raleway"/>
                <a:ea typeface="Raleway"/>
                <a:cs typeface="Raleway"/>
                <a:sym typeface="Raleway"/>
              </a:rPr>
              <a:t>Perché accade questo? Perché la percezione pubblica dell'IA è così vaga? Esaminiamo alcune ragioni.</a:t>
            </a:r>
            <a:endParaRPr sz="1200">
              <a:latin typeface="Raleway"/>
              <a:ea typeface="Raleway"/>
              <a:cs typeface="Raleway"/>
              <a:sym typeface="Raleway"/>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202" name="Shape 202"/>
        <p:cNvGrpSpPr/>
        <p:nvPr/>
      </p:nvGrpSpPr>
      <p:grpSpPr>
        <a:xfrm>
          <a:off x="0" y="0"/>
          <a:ext cx="0" cy="0"/>
          <a:chOff x="0" y="0"/>
          <a:chExt cx="0" cy="0"/>
        </a:xfrm>
      </p:grpSpPr>
      <p:pic>
        <p:nvPicPr>
          <p:cNvPr id="203" name="Google Shape;203;p29"/>
          <p:cNvPicPr preferRelativeResize="0"/>
          <p:nvPr/>
        </p:nvPicPr>
        <p:blipFill>
          <a:blip r:embed="rId3">
            <a:alphaModFix/>
          </a:blip>
          <a:stretch>
            <a:fillRect/>
          </a:stretch>
        </p:blipFill>
        <p:spPr>
          <a:xfrm>
            <a:off x="2051137" y="162725"/>
            <a:ext cx="5041725" cy="4818049"/>
          </a:xfrm>
          <a:prstGeom prst="rect">
            <a:avLst/>
          </a:prstGeom>
          <a:noFill/>
          <a:ln>
            <a:noFill/>
          </a:ln>
        </p:spPr>
      </p:pic>
      <p:pic>
        <p:nvPicPr>
          <p:cNvPr descr="Piece of duct tape sticking a note to the slide" id="204" name="Google Shape;204;p29"/>
          <p:cNvPicPr preferRelativeResize="0"/>
          <p:nvPr/>
        </p:nvPicPr>
        <p:blipFill rotWithShape="1">
          <a:blip r:embed="rId4">
            <a:alphaModFix/>
          </a:blip>
          <a:srcRect b="10012" l="9245" r="2118" t="5926"/>
          <a:stretch/>
        </p:blipFill>
        <p:spPr>
          <a:xfrm rot="154828">
            <a:off x="3536000" y="147301"/>
            <a:ext cx="2072000" cy="736050"/>
          </a:xfrm>
          <a:prstGeom prst="rect">
            <a:avLst/>
          </a:prstGeom>
          <a:noFill/>
          <a:ln>
            <a:noFill/>
          </a:ln>
        </p:spPr>
      </p:pic>
      <p:sp>
        <p:nvSpPr>
          <p:cNvPr id="205" name="Google Shape;205;p29"/>
          <p:cNvSpPr txBox="1"/>
          <p:nvPr/>
        </p:nvSpPr>
        <p:spPr>
          <a:xfrm>
            <a:off x="2489775" y="1068400"/>
            <a:ext cx="3977100" cy="76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chemeClr val="lt2"/>
                </a:solidFill>
                <a:latin typeface="Raleway"/>
                <a:ea typeface="Raleway"/>
                <a:cs typeface="Raleway"/>
                <a:sym typeface="Raleway"/>
              </a:rPr>
              <a:t>Come dovremmo definire l'IA?</a:t>
            </a:r>
            <a:endParaRPr b="1" sz="3000">
              <a:solidFill>
                <a:schemeClr val="lt2"/>
              </a:solidFill>
              <a:latin typeface="Raleway"/>
              <a:ea typeface="Raleway"/>
              <a:cs typeface="Raleway"/>
              <a:sym typeface="Raleway"/>
            </a:endParaRPr>
          </a:p>
        </p:txBody>
      </p:sp>
      <p:sp>
        <p:nvSpPr>
          <p:cNvPr id="206" name="Google Shape;206;p29"/>
          <p:cNvSpPr txBox="1"/>
          <p:nvPr>
            <p:ph idx="4294967295" type="body"/>
          </p:nvPr>
        </p:nvSpPr>
        <p:spPr>
          <a:xfrm>
            <a:off x="2506500" y="1758475"/>
            <a:ext cx="4131000" cy="332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aleway"/>
                <a:ea typeface="Raleway"/>
                <a:cs typeface="Raleway"/>
                <a:sym typeface="Raleway"/>
              </a:rPr>
              <a:t>Anche i ricercatori di intelligenza artificiale non hanno una definizione esatta di IA. Il campo viene costantemente ridefinito man mano che alcuni argomenti vengono riclassificati come non appartenenti all'IA e ne emergono di nuovi.</a:t>
            </a:r>
            <a:endParaRPr sz="1200">
              <a:latin typeface="Raleway"/>
              <a:ea typeface="Raleway"/>
              <a:cs typeface="Raleway"/>
              <a:sym typeface="Raleway"/>
            </a:endParaRPr>
          </a:p>
          <a:p>
            <a:pPr indent="0" lvl="0" marL="0" rtl="0" algn="l">
              <a:spcBef>
                <a:spcPts val="1000"/>
              </a:spcBef>
              <a:spcAft>
                <a:spcPts val="1000"/>
              </a:spcAft>
              <a:buNone/>
            </a:pPr>
            <a:r>
              <a:rPr lang="en" sz="1200">
                <a:latin typeface="Raleway"/>
                <a:ea typeface="Raleway"/>
                <a:cs typeface="Raleway"/>
                <a:sym typeface="Raleway"/>
              </a:rPr>
              <a:t>Esiste una vecchia battuta secondo cui l'IA è definita come "cose fighe che i computer non possono fare". L'ironia sta nel fatto che, secondo questa definizione, l'IA non potrebbe mai fare progressi: non appena troviamo un modo per far fare qualcosa di avanzato a un computer, quel problema smette di essere considerato IA.</a:t>
            </a:r>
            <a:endParaRPr sz="1200">
              <a:latin typeface="Raleway"/>
              <a:ea typeface="Raleway"/>
              <a:cs typeface="Raleway"/>
              <a:sym typeface="Raleway"/>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210" name="Shape 210"/>
        <p:cNvGrpSpPr/>
        <p:nvPr/>
      </p:nvGrpSpPr>
      <p:grpSpPr>
        <a:xfrm>
          <a:off x="0" y="0"/>
          <a:ext cx="0" cy="0"/>
          <a:chOff x="0" y="0"/>
          <a:chExt cx="0" cy="0"/>
        </a:xfrm>
      </p:grpSpPr>
      <p:pic>
        <p:nvPicPr>
          <p:cNvPr id="211" name="Google Shape;211;p30"/>
          <p:cNvPicPr preferRelativeResize="0"/>
          <p:nvPr/>
        </p:nvPicPr>
        <p:blipFill>
          <a:blip r:embed="rId3">
            <a:alphaModFix/>
          </a:blip>
          <a:stretch>
            <a:fillRect/>
          </a:stretch>
        </p:blipFill>
        <p:spPr>
          <a:xfrm>
            <a:off x="2051137" y="162725"/>
            <a:ext cx="5041725" cy="4818049"/>
          </a:xfrm>
          <a:prstGeom prst="rect">
            <a:avLst/>
          </a:prstGeom>
          <a:noFill/>
          <a:ln>
            <a:noFill/>
          </a:ln>
        </p:spPr>
      </p:pic>
      <p:pic>
        <p:nvPicPr>
          <p:cNvPr descr="Piece of duct tape sticking a note to the slide" id="212" name="Google Shape;212;p30"/>
          <p:cNvPicPr preferRelativeResize="0"/>
          <p:nvPr/>
        </p:nvPicPr>
        <p:blipFill rotWithShape="1">
          <a:blip r:embed="rId4">
            <a:alphaModFix/>
          </a:blip>
          <a:srcRect b="10012" l="9245" r="2118" t="5926"/>
          <a:stretch/>
        </p:blipFill>
        <p:spPr>
          <a:xfrm rot="154828">
            <a:off x="3536000" y="147301"/>
            <a:ext cx="2072000" cy="736050"/>
          </a:xfrm>
          <a:prstGeom prst="rect">
            <a:avLst/>
          </a:prstGeom>
          <a:noFill/>
          <a:ln>
            <a:noFill/>
          </a:ln>
        </p:spPr>
      </p:pic>
      <p:sp>
        <p:nvSpPr>
          <p:cNvPr id="213" name="Google Shape;213;p30"/>
          <p:cNvSpPr txBox="1"/>
          <p:nvPr/>
        </p:nvSpPr>
        <p:spPr>
          <a:xfrm>
            <a:off x="2489775" y="1068400"/>
            <a:ext cx="3977100" cy="76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chemeClr val="lt2"/>
                </a:solidFill>
                <a:latin typeface="Raleway"/>
                <a:ea typeface="Raleway"/>
                <a:cs typeface="Raleway"/>
                <a:sym typeface="Raleway"/>
              </a:rPr>
              <a:t>Come dovremmo definire l'IA?</a:t>
            </a:r>
            <a:endParaRPr b="1" sz="3000">
              <a:solidFill>
                <a:schemeClr val="lt2"/>
              </a:solidFill>
              <a:latin typeface="Raleway"/>
              <a:ea typeface="Raleway"/>
              <a:cs typeface="Raleway"/>
              <a:sym typeface="Raleway"/>
            </a:endParaRPr>
          </a:p>
        </p:txBody>
      </p:sp>
      <p:sp>
        <p:nvSpPr>
          <p:cNvPr id="214" name="Google Shape;214;p30"/>
          <p:cNvSpPr txBox="1"/>
          <p:nvPr>
            <p:ph idx="4294967295" type="body"/>
          </p:nvPr>
        </p:nvSpPr>
        <p:spPr>
          <a:xfrm>
            <a:off x="2506500" y="1758475"/>
            <a:ext cx="4131000" cy="332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n" sz="1200">
                <a:latin typeface="Raleway"/>
                <a:ea typeface="Raleway"/>
                <a:cs typeface="Raleway"/>
                <a:sym typeface="Raleway"/>
              </a:rPr>
              <a:t>Tuttavia, c'è un fondo di verità in questa affermazione.</a:t>
            </a:r>
            <a:endParaRPr sz="1200">
              <a:latin typeface="Raleway"/>
              <a:ea typeface="Raleway"/>
              <a:cs typeface="Raleway"/>
              <a:sym typeface="Raleway"/>
            </a:endParaRPr>
          </a:p>
          <a:p>
            <a:pPr indent="0" lvl="0" marL="0" rtl="0" algn="l">
              <a:spcBef>
                <a:spcPts val="1000"/>
              </a:spcBef>
              <a:spcAft>
                <a:spcPts val="0"/>
              </a:spcAft>
              <a:buNone/>
            </a:pPr>
            <a:r>
              <a:rPr lang="en" sz="1200">
                <a:latin typeface="Raleway"/>
                <a:ea typeface="Raleway"/>
                <a:cs typeface="Raleway"/>
                <a:sym typeface="Raleway"/>
              </a:rPr>
              <a:t>Cinquanta anni fa, ad esempio, i metodi automatici di ricerca e pianificazione erano considerati parte dell'IA. Oggi questi metodi vengono insegnati a tutti gli studenti di informatica.</a:t>
            </a:r>
            <a:endParaRPr sz="1200">
              <a:latin typeface="Raleway"/>
              <a:ea typeface="Raleway"/>
              <a:cs typeface="Raleway"/>
              <a:sym typeface="Raleway"/>
            </a:endParaRPr>
          </a:p>
          <a:p>
            <a:pPr indent="0" lvl="0" marL="0" rtl="0" algn="l">
              <a:spcBef>
                <a:spcPts val="1000"/>
              </a:spcBef>
              <a:spcAft>
                <a:spcPts val="1000"/>
              </a:spcAft>
              <a:buClr>
                <a:schemeClr val="dk2"/>
              </a:buClr>
              <a:buSzPts val="1100"/>
              <a:buFont typeface="Arial"/>
              <a:buNone/>
            </a:pPr>
            <a:r>
              <a:rPr lang="en" sz="1200">
                <a:latin typeface="Raleway"/>
                <a:ea typeface="Raleway"/>
                <a:cs typeface="Raleway"/>
                <a:sym typeface="Raleway"/>
              </a:rPr>
              <a:t>Allo stesso modo, alcuni metodi per l'elaborazione di informazioni incerte stanno diventando così ben compresi che probabilmente presto verranno riclassificati come appartenenti alla statistica o alla probabilità, piuttosto che all'intelligenza artificiale.</a:t>
            </a:r>
            <a:endParaRPr sz="1200">
              <a:latin typeface="Raleway"/>
              <a:ea typeface="Raleway"/>
              <a:cs typeface="Raleway"/>
              <a:sym typeface="Raleway"/>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218" name="Shape 218"/>
        <p:cNvGrpSpPr/>
        <p:nvPr/>
      </p:nvGrpSpPr>
      <p:grpSpPr>
        <a:xfrm>
          <a:off x="0" y="0"/>
          <a:ext cx="0" cy="0"/>
          <a:chOff x="0" y="0"/>
          <a:chExt cx="0" cy="0"/>
        </a:xfrm>
      </p:grpSpPr>
      <p:pic>
        <p:nvPicPr>
          <p:cNvPr id="219" name="Google Shape;219;p31"/>
          <p:cNvPicPr preferRelativeResize="0"/>
          <p:nvPr/>
        </p:nvPicPr>
        <p:blipFill>
          <a:blip r:embed="rId3">
            <a:alphaModFix/>
          </a:blip>
          <a:stretch>
            <a:fillRect/>
          </a:stretch>
        </p:blipFill>
        <p:spPr>
          <a:xfrm>
            <a:off x="2051137" y="162725"/>
            <a:ext cx="5041725" cy="4818049"/>
          </a:xfrm>
          <a:prstGeom prst="rect">
            <a:avLst/>
          </a:prstGeom>
          <a:noFill/>
          <a:ln>
            <a:noFill/>
          </a:ln>
        </p:spPr>
      </p:pic>
      <p:pic>
        <p:nvPicPr>
          <p:cNvPr descr="Piece of duct tape sticking a note to the slide" id="220" name="Google Shape;220;p31"/>
          <p:cNvPicPr preferRelativeResize="0"/>
          <p:nvPr/>
        </p:nvPicPr>
        <p:blipFill rotWithShape="1">
          <a:blip r:embed="rId4">
            <a:alphaModFix/>
          </a:blip>
          <a:srcRect b="10012" l="9245" r="2118" t="5926"/>
          <a:stretch/>
        </p:blipFill>
        <p:spPr>
          <a:xfrm rot="154828">
            <a:off x="3536000" y="147301"/>
            <a:ext cx="2072000" cy="736050"/>
          </a:xfrm>
          <a:prstGeom prst="rect">
            <a:avLst/>
          </a:prstGeom>
          <a:noFill/>
          <a:ln>
            <a:noFill/>
          </a:ln>
        </p:spPr>
      </p:pic>
      <p:sp>
        <p:nvSpPr>
          <p:cNvPr id="221" name="Google Shape;221;p31"/>
          <p:cNvSpPr txBox="1"/>
          <p:nvPr/>
        </p:nvSpPr>
        <p:spPr>
          <a:xfrm>
            <a:off x="2412075" y="2184525"/>
            <a:ext cx="3977100" cy="556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chemeClr val="lt2"/>
                </a:solidFill>
                <a:latin typeface="Raleway"/>
                <a:ea typeface="Raleway"/>
                <a:cs typeface="Raleway"/>
                <a:sym typeface="Raleway"/>
              </a:rPr>
              <a:t>Autonomia</a:t>
            </a:r>
            <a:endParaRPr b="1" sz="3000">
              <a:solidFill>
                <a:schemeClr val="lt2"/>
              </a:solidFill>
              <a:latin typeface="Raleway"/>
              <a:ea typeface="Raleway"/>
              <a:cs typeface="Raleway"/>
              <a:sym typeface="Raleway"/>
            </a:endParaRPr>
          </a:p>
        </p:txBody>
      </p:sp>
      <p:sp>
        <p:nvSpPr>
          <p:cNvPr id="222" name="Google Shape;222;p31"/>
          <p:cNvSpPr txBox="1"/>
          <p:nvPr>
            <p:ph idx="4294967295" type="body"/>
          </p:nvPr>
        </p:nvSpPr>
        <p:spPr>
          <a:xfrm>
            <a:off x="2412075" y="2714775"/>
            <a:ext cx="4131000" cy="6261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sz="1200">
                <a:latin typeface="Raleway"/>
                <a:ea typeface="Raleway"/>
                <a:cs typeface="Raleway"/>
                <a:sym typeface="Raleway"/>
              </a:rPr>
              <a:t>La capacità di eseguire compiti in ambienti complessi senza una guida costante da parte di un utente.</a:t>
            </a:r>
            <a:endParaRPr sz="1200">
              <a:latin typeface="Raleway"/>
              <a:ea typeface="Raleway"/>
              <a:cs typeface="Raleway"/>
              <a:sym typeface="Raleway"/>
            </a:endParaRPr>
          </a:p>
        </p:txBody>
      </p:sp>
      <p:sp>
        <p:nvSpPr>
          <p:cNvPr id="223" name="Google Shape;223;p31"/>
          <p:cNvSpPr txBox="1"/>
          <p:nvPr/>
        </p:nvSpPr>
        <p:spPr>
          <a:xfrm>
            <a:off x="2412075" y="3314625"/>
            <a:ext cx="3977100" cy="556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chemeClr val="lt2"/>
                </a:solidFill>
                <a:latin typeface="Raleway"/>
                <a:ea typeface="Raleway"/>
                <a:cs typeface="Raleway"/>
                <a:sym typeface="Raleway"/>
              </a:rPr>
              <a:t>Adattabilità</a:t>
            </a:r>
            <a:endParaRPr b="1" sz="3000">
              <a:solidFill>
                <a:schemeClr val="lt2"/>
              </a:solidFill>
              <a:latin typeface="Raleway"/>
              <a:ea typeface="Raleway"/>
              <a:cs typeface="Raleway"/>
              <a:sym typeface="Raleway"/>
            </a:endParaRPr>
          </a:p>
        </p:txBody>
      </p:sp>
      <p:sp>
        <p:nvSpPr>
          <p:cNvPr id="224" name="Google Shape;224;p31"/>
          <p:cNvSpPr txBox="1"/>
          <p:nvPr>
            <p:ph idx="4294967295" type="body"/>
          </p:nvPr>
        </p:nvSpPr>
        <p:spPr>
          <a:xfrm>
            <a:off x="2412075" y="3844875"/>
            <a:ext cx="4131000" cy="6261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sz="1200">
                <a:latin typeface="Raleway"/>
                <a:ea typeface="Raleway"/>
                <a:cs typeface="Raleway"/>
                <a:sym typeface="Raleway"/>
              </a:rPr>
              <a:t>La capacità di migliorare le prestazioni imparando dall'esperienza.</a:t>
            </a:r>
            <a:endParaRPr sz="1200">
              <a:latin typeface="Raleway"/>
              <a:ea typeface="Raleway"/>
              <a:cs typeface="Raleway"/>
              <a:sym typeface="Raleway"/>
            </a:endParaRPr>
          </a:p>
        </p:txBody>
      </p:sp>
      <p:sp>
        <p:nvSpPr>
          <p:cNvPr id="225" name="Google Shape;225;p31"/>
          <p:cNvSpPr txBox="1"/>
          <p:nvPr>
            <p:ph idx="4294967295" type="body"/>
          </p:nvPr>
        </p:nvSpPr>
        <p:spPr>
          <a:xfrm>
            <a:off x="2412075" y="1228875"/>
            <a:ext cx="4131000" cy="9819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sz="1200">
                <a:latin typeface="Raleway"/>
                <a:ea typeface="Raleway"/>
                <a:cs typeface="Raleway"/>
                <a:sym typeface="Raleway"/>
              </a:rPr>
              <a:t>Un tentativo di definizione più utile rispetto alla battuta "ciò che i computer non possono ancora fare" potrebbe essere elencare le proprietà caratteristiche dell'IA, in questo caso autonomia e adattabilità.</a:t>
            </a:r>
            <a:endParaRPr sz="1200">
              <a:latin typeface="Raleway"/>
              <a:ea typeface="Raleway"/>
              <a:cs typeface="Raleway"/>
              <a:sym typeface="Raleway"/>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229" name="Shape 229"/>
        <p:cNvGrpSpPr/>
        <p:nvPr/>
      </p:nvGrpSpPr>
      <p:grpSpPr>
        <a:xfrm>
          <a:off x="0" y="0"/>
          <a:ext cx="0" cy="0"/>
          <a:chOff x="0" y="0"/>
          <a:chExt cx="0" cy="0"/>
        </a:xfrm>
      </p:grpSpPr>
      <p:pic>
        <p:nvPicPr>
          <p:cNvPr id="230" name="Google Shape;230;p32"/>
          <p:cNvPicPr preferRelativeResize="0"/>
          <p:nvPr/>
        </p:nvPicPr>
        <p:blipFill>
          <a:blip r:embed="rId3">
            <a:alphaModFix/>
          </a:blip>
          <a:stretch>
            <a:fillRect/>
          </a:stretch>
        </p:blipFill>
        <p:spPr>
          <a:xfrm>
            <a:off x="2051137" y="162725"/>
            <a:ext cx="5041725" cy="4818049"/>
          </a:xfrm>
          <a:prstGeom prst="rect">
            <a:avLst/>
          </a:prstGeom>
          <a:noFill/>
          <a:ln>
            <a:noFill/>
          </a:ln>
        </p:spPr>
      </p:pic>
      <p:pic>
        <p:nvPicPr>
          <p:cNvPr descr="Piece of duct tape sticking a note to the slide" id="231" name="Google Shape;231;p32"/>
          <p:cNvPicPr preferRelativeResize="0"/>
          <p:nvPr/>
        </p:nvPicPr>
        <p:blipFill rotWithShape="1">
          <a:blip r:embed="rId4">
            <a:alphaModFix/>
          </a:blip>
          <a:srcRect b="10012" l="9245" r="2118" t="5926"/>
          <a:stretch/>
        </p:blipFill>
        <p:spPr>
          <a:xfrm rot="154828">
            <a:off x="3536000" y="147301"/>
            <a:ext cx="2072000" cy="736050"/>
          </a:xfrm>
          <a:prstGeom prst="rect">
            <a:avLst/>
          </a:prstGeom>
          <a:noFill/>
          <a:ln>
            <a:noFill/>
          </a:ln>
        </p:spPr>
      </p:pic>
      <p:sp>
        <p:nvSpPr>
          <p:cNvPr id="232" name="Google Shape;232;p32"/>
          <p:cNvSpPr txBox="1"/>
          <p:nvPr/>
        </p:nvSpPr>
        <p:spPr>
          <a:xfrm>
            <a:off x="2489775" y="839800"/>
            <a:ext cx="3977100" cy="76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chemeClr val="lt2"/>
                </a:solidFill>
                <a:latin typeface="Raleway"/>
                <a:ea typeface="Raleway"/>
                <a:cs typeface="Raleway"/>
                <a:sym typeface="Raleway"/>
              </a:rPr>
              <a:t>Machine learning</a:t>
            </a:r>
            <a:endParaRPr b="1" sz="3000">
              <a:solidFill>
                <a:schemeClr val="lt2"/>
              </a:solidFill>
              <a:latin typeface="Raleway"/>
              <a:ea typeface="Raleway"/>
              <a:cs typeface="Raleway"/>
              <a:sym typeface="Raleway"/>
            </a:endParaRPr>
          </a:p>
        </p:txBody>
      </p:sp>
      <p:sp>
        <p:nvSpPr>
          <p:cNvPr id="233" name="Google Shape;233;p32"/>
          <p:cNvSpPr txBox="1"/>
          <p:nvPr>
            <p:ph idx="4294967295" type="body"/>
          </p:nvPr>
        </p:nvSpPr>
        <p:spPr>
          <a:xfrm>
            <a:off x="2506500" y="1758475"/>
            <a:ext cx="4131000" cy="33279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sz="1200">
                <a:latin typeface="Raleway"/>
                <a:ea typeface="Raleway"/>
                <a:cs typeface="Raleway"/>
                <a:sym typeface="Raleway"/>
              </a:rPr>
              <a:t>Sistemi che migliorano le loro prestazioni in un determinato compito con l'aumentare dell'esperienza o dei dati.</a:t>
            </a:r>
            <a:endParaRPr sz="1200">
              <a:latin typeface="Raleway"/>
              <a:ea typeface="Raleway"/>
              <a:cs typeface="Raleway"/>
              <a:sym typeface="Raleway"/>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237" name="Shape 237"/>
        <p:cNvGrpSpPr/>
        <p:nvPr/>
      </p:nvGrpSpPr>
      <p:grpSpPr>
        <a:xfrm>
          <a:off x="0" y="0"/>
          <a:ext cx="0" cy="0"/>
          <a:chOff x="0" y="0"/>
          <a:chExt cx="0" cy="0"/>
        </a:xfrm>
      </p:grpSpPr>
      <p:pic>
        <p:nvPicPr>
          <p:cNvPr id="238" name="Google Shape;238;p33"/>
          <p:cNvPicPr preferRelativeResize="0"/>
          <p:nvPr/>
        </p:nvPicPr>
        <p:blipFill>
          <a:blip r:embed="rId3">
            <a:alphaModFix/>
          </a:blip>
          <a:stretch>
            <a:fillRect/>
          </a:stretch>
        </p:blipFill>
        <p:spPr>
          <a:xfrm>
            <a:off x="2051137" y="162725"/>
            <a:ext cx="5041725" cy="4818049"/>
          </a:xfrm>
          <a:prstGeom prst="rect">
            <a:avLst/>
          </a:prstGeom>
          <a:noFill/>
          <a:ln>
            <a:noFill/>
          </a:ln>
        </p:spPr>
      </p:pic>
      <p:pic>
        <p:nvPicPr>
          <p:cNvPr descr="Piece of duct tape sticking a note to the slide" id="239" name="Google Shape;239;p33"/>
          <p:cNvPicPr preferRelativeResize="0"/>
          <p:nvPr/>
        </p:nvPicPr>
        <p:blipFill rotWithShape="1">
          <a:blip r:embed="rId4">
            <a:alphaModFix/>
          </a:blip>
          <a:srcRect b="10012" l="9245" r="2118" t="5926"/>
          <a:stretch/>
        </p:blipFill>
        <p:spPr>
          <a:xfrm rot="154828">
            <a:off x="3536000" y="147301"/>
            <a:ext cx="2072000" cy="736050"/>
          </a:xfrm>
          <a:prstGeom prst="rect">
            <a:avLst/>
          </a:prstGeom>
          <a:noFill/>
          <a:ln>
            <a:noFill/>
          </a:ln>
        </p:spPr>
      </p:pic>
      <p:sp>
        <p:nvSpPr>
          <p:cNvPr id="240" name="Google Shape;240;p33"/>
          <p:cNvSpPr txBox="1"/>
          <p:nvPr/>
        </p:nvSpPr>
        <p:spPr>
          <a:xfrm>
            <a:off x="2489775" y="839800"/>
            <a:ext cx="3977100" cy="76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chemeClr val="lt2"/>
                </a:solidFill>
                <a:latin typeface="Raleway"/>
                <a:ea typeface="Raleway"/>
                <a:cs typeface="Raleway"/>
                <a:sym typeface="Raleway"/>
              </a:rPr>
              <a:t>Deep learning</a:t>
            </a:r>
            <a:endParaRPr b="1" sz="3000">
              <a:solidFill>
                <a:schemeClr val="lt2"/>
              </a:solidFill>
              <a:latin typeface="Raleway"/>
              <a:ea typeface="Raleway"/>
              <a:cs typeface="Raleway"/>
              <a:sym typeface="Raleway"/>
            </a:endParaRPr>
          </a:p>
        </p:txBody>
      </p:sp>
      <p:sp>
        <p:nvSpPr>
          <p:cNvPr id="241" name="Google Shape;241;p33"/>
          <p:cNvSpPr txBox="1"/>
          <p:nvPr>
            <p:ph idx="4294967295" type="body"/>
          </p:nvPr>
        </p:nvSpPr>
        <p:spPr>
          <a:xfrm>
            <a:off x="2506500" y="1758475"/>
            <a:ext cx="4131000" cy="332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aleway"/>
                <a:ea typeface="Raleway"/>
                <a:cs typeface="Raleway"/>
                <a:sym typeface="Raleway"/>
              </a:rPr>
              <a:t>Il deep learning è un sottoinsieme del machine learning, che a sua volta è un sottoinsieme dell'IA, la quale è un sottoinsieme dell'informatica.</a:t>
            </a:r>
            <a:endParaRPr sz="1200">
              <a:latin typeface="Raleway"/>
              <a:ea typeface="Raleway"/>
              <a:cs typeface="Raleway"/>
              <a:sym typeface="Raleway"/>
            </a:endParaRPr>
          </a:p>
          <a:p>
            <a:pPr indent="0" lvl="0" marL="0" rtl="0" algn="l">
              <a:spcBef>
                <a:spcPts val="1000"/>
              </a:spcBef>
              <a:spcAft>
                <a:spcPts val="1000"/>
              </a:spcAft>
              <a:buNone/>
            </a:pPr>
            <a:r>
              <a:rPr lang="en" sz="1200">
                <a:latin typeface="Raleway"/>
                <a:ea typeface="Raleway"/>
                <a:cs typeface="Raleway"/>
                <a:sym typeface="Raleway"/>
              </a:rPr>
              <a:t>La "profondità" del deep learning si riferisce alla complessità del modello matematico e che l'aumento della potenza di calcolo dei moderni computer ha permesso ai ricercatori di incrementare questa complessità fino a livelli che sembrano diversi non solo quantitativamente, ma anche qualitativamente rispetto al passato.</a:t>
            </a:r>
            <a:endParaRPr sz="1200">
              <a:latin typeface="Raleway"/>
              <a:ea typeface="Raleway"/>
              <a:cs typeface="Raleway"/>
              <a:sym typeface="Raleway"/>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245" name="Shape 245"/>
        <p:cNvGrpSpPr/>
        <p:nvPr/>
      </p:nvGrpSpPr>
      <p:grpSpPr>
        <a:xfrm>
          <a:off x="0" y="0"/>
          <a:ext cx="0" cy="0"/>
          <a:chOff x="0" y="0"/>
          <a:chExt cx="0" cy="0"/>
        </a:xfrm>
      </p:grpSpPr>
      <p:pic>
        <p:nvPicPr>
          <p:cNvPr id="246" name="Google Shape;246;p34"/>
          <p:cNvPicPr preferRelativeResize="0"/>
          <p:nvPr/>
        </p:nvPicPr>
        <p:blipFill>
          <a:blip r:embed="rId3">
            <a:alphaModFix/>
          </a:blip>
          <a:stretch>
            <a:fillRect/>
          </a:stretch>
        </p:blipFill>
        <p:spPr>
          <a:xfrm>
            <a:off x="2051137" y="162725"/>
            <a:ext cx="5041725" cy="4818049"/>
          </a:xfrm>
          <a:prstGeom prst="rect">
            <a:avLst/>
          </a:prstGeom>
          <a:noFill/>
          <a:ln>
            <a:noFill/>
          </a:ln>
        </p:spPr>
      </p:pic>
      <p:pic>
        <p:nvPicPr>
          <p:cNvPr descr="Piece of duct tape sticking a note to the slide" id="247" name="Google Shape;247;p34"/>
          <p:cNvPicPr preferRelativeResize="0"/>
          <p:nvPr/>
        </p:nvPicPr>
        <p:blipFill rotWithShape="1">
          <a:blip r:embed="rId4">
            <a:alphaModFix/>
          </a:blip>
          <a:srcRect b="10012" l="9245" r="2118" t="5926"/>
          <a:stretch/>
        </p:blipFill>
        <p:spPr>
          <a:xfrm rot="154828">
            <a:off x="3536000" y="147301"/>
            <a:ext cx="2072000" cy="736050"/>
          </a:xfrm>
          <a:prstGeom prst="rect">
            <a:avLst/>
          </a:prstGeom>
          <a:noFill/>
          <a:ln>
            <a:noFill/>
          </a:ln>
        </p:spPr>
      </p:pic>
      <p:sp>
        <p:nvSpPr>
          <p:cNvPr id="248" name="Google Shape;248;p34"/>
          <p:cNvSpPr txBox="1"/>
          <p:nvPr/>
        </p:nvSpPr>
        <p:spPr>
          <a:xfrm>
            <a:off x="2489775" y="839800"/>
            <a:ext cx="3977100" cy="76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chemeClr val="lt2"/>
                </a:solidFill>
                <a:latin typeface="Raleway"/>
                <a:ea typeface="Raleway"/>
                <a:cs typeface="Raleway"/>
                <a:sym typeface="Raleway"/>
              </a:rPr>
              <a:t>Data Science</a:t>
            </a:r>
            <a:endParaRPr b="1" sz="3000">
              <a:solidFill>
                <a:schemeClr val="lt2"/>
              </a:solidFill>
              <a:latin typeface="Raleway"/>
              <a:ea typeface="Raleway"/>
              <a:cs typeface="Raleway"/>
              <a:sym typeface="Raleway"/>
            </a:endParaRPr>
          </a:p>
        </p:txBody>
      </p:sp>
      <p:sp>
        <p:nvSpPr>
          <p:cNvPr id="249" name="Google Shape;249;p34"/>
          <p:cNvSpPr txBox="1"/>
          <p:nvPr>
            <p:ph idx="4294967295" type="body"/>
          </p:nvPr>
        </p:nvSpPr>
        <p:spPr>
          <a:xfrm>
            <a:off x="2506500" y="1606075"/>
            <a:ext cx="4131000" cy="332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aleway"/>
                <a:ea typeface="Raleway"/>
                <a:cs typeface="Raleway"/>
                <a:sym typeface="Raleway"/>
              </a:rPr>
              <a:t>La data science è un termine che include il machine learning e la statistica, alcuni aspetti dell'informatica come gli algoritmi, l'archiviazione dei dati e lo sviluppo di applicazioni web.</a:t>
            </a:r>
            <a:endParaRPr sz="1200">
              <a:latin typeface="Raleway"/>
              <a:ea typeface="Raleway"/>
              <a:cs typeface="Raleway"/>
              <a:sym typeface="Raleway"/>
            </a:endParaRPr>
          </a:p>
          <a:p>
            <a:pPr indent="0" lvl="0" marL="0" rtl="0" algn="l">
              <a:spcBef>
                <a:spcPts val="1000"/>
              </a:spcBef>
              <a:spcAft>
                <a:spcPts val="0"/>
              </a:spcAft>
              <a:buNone/>
            </a:pPr>
            <a:r>
              <a:rPr lang="en" sz="1200">
                <a:latin typeface="Raleway"/>
                <a:ea typeface="Raleway"/>
                <a:cs typeface="Raleway"/>
                <a:sym typeface="Raleway"/>
              </a:rPr>
              <a:t>La data science è anche una disciplina pratica che richiede la comprensione del settore in cui viene applicata, ad esempio nel business o nella scienza: è fondamentale comprenderne lo scopo , le ipotesi di base e i vincoli.</a:t>
            </a:r>
            <a:endParaRPr sz="1200">
              <a:latin typeface="Raleway"/>
              <a:ea typeface="Raleway"/>
              <a:cs typeface="Raleway"/>
              <a:sym typeface="Raleway"/>
            </a:endParaRPr>
          </a:p>
          <a:p>
            <a:pPr indent="0" lvl="0" marL="0" rtl="0" algn="l">
              <a:spcBef>
                <a:spcPts val="1000"/>
              </a:spcBef>
              <a:spcAft>
                <a:spcPts val="1000"/>
              </a:spcAft>
              <a:buNone/>
            </a:pPr>
            <a:r>
              <a:rPr lang="en" sz="1200">
                <a:latin typeface="Raleway"/>
                <a:ea typeface="Raleway"/>
                <a:cs typeface="Raleway"/>
                <a:sym typeface="Raleway"/>
              </a:rPr>
              <a:t>Le soluzioni di data science spesso includono almeno un pizzico di intelligenza artificiale (ma di solito non tanto quanto ci si potrebbe aspettare leggendo i titoli dei giornali).</a:t>
            </a:r>
            <a:endParaRPr sz="1200">
              <a:latin typeface="Raleway"/>
              <a:ea typeface="Raleway"/>
              <a:cs typeface="Raleway"/>
              <a:sym typeface="Raleway"/>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253" name="Shape 253"/>
        <p:cNvGrpSpPr/>
        <p:nvPr/>
      </p:nvGrpSpPr>
      <p:grpSpPr>
        <a:xfrm>
          <a:off x="0" y="0"/>
          <a:ext cx="0" cy="0"/>
          <a:chOff x="0" y="0"/>
          <a:chExt cx="0" cy="0"/>
        </a:xfrm>
      </p:grpSpPr>
      <p:pic>
        <p:nvPicPr>
          <p:cNvPr id="254" name="Google Shape;254;p35"/>
          <p:cNvPicPr preferRelativeResize="0"/>
          <p:nvPr/>
        </p:nvPicPr>
        <p:blipFill>
          <a:blip r:embed="rId3">
            <a:alphaModFix/>
          </a:blip>
          <a:stretch>
            <a:fillRect/>
          </a:stretch>
        </p:blipFill>
        <p:spPr>
          <a:xfrm>
            <a:off x="2051137" y="162725"/>
            <a:ext cx="5041725" cy="4818049"/>
          </a:xfrm>
          <a:prstGeom prst="rect">
            <a:avLst/>
          </a:prstGeom>
          <a:noFill/>
          <a:ln>
            <a:noFill/>
          </a:ln>
        </p:spPr>
      </p:pic>
      <p:pic>
        <p:nvPicPr>
          <p:cNvPr descr="Piece of duct tape sticking a note to the slide" id="255" name="Google Shape;255;p35"/>
          <p:cNvPicPr preferRelativeResize="0"/>
          <p:nvPr/>
        </p:nvPicPr>
        <p:blipFill rotWithShape="1">
          <a:blip r:embed="rId4">
            <a:alphaModFix/>
          </a:blip>
          <a:srcRect b="10012" l="9245" r="2118" t="5926"/>
          <a:stretch/>
        </p:blipFill>
        <p:spPr>
          <a:xfrm rot="154828">
            <a:off x="3536000" y="147301"/>
            <a:ext cx="2072000" cy="736050"/>
          </a:xfrm>
          <a:prstGeom prst="rect">
            <a:avLst/>
          </a:prstGeom>
          <a:noFill/>
          <a:ln>
            <a:noFill/>
          </a:ln>
        </p:spPr>
      </p:pic>
      <p:sp>
        <p:nvSpPr>
          <p:cNvPr id="256" name="Google Shape;256;p35"/>
          <p:cNvSpPr txBox="1"/>
          <p:nvPr/>
        </p:nvSpPr>
        <p:spPr>
          <a:xfrm>
            <a:off x="2489775" y="839800"/>
            <a:ext cx="3977100" cy="76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chemeClr val="lt2"/>
                </a:solidFill>
                <a:latin typeface="Raleway"/>
                <a:ea typeface="Raleway"/>
                <a:cs typeface="Raleway"/>
                <a:sym typeface="Raleway"/>
              </a:rPr>
              <a:t>Robotics</a:t>
            </a:r>
            <a:endParaRPr b="1" sz="3000">
              <a:solidFill>
                <a:schemeClr val="lt2"/>
              </a:solidFill>
              <a:latin typeface="Raleway"/>
              <a:ea typeface="Raleway"/>
              <a:cs typeface="Raleway"/>
              <a:sym typeface="Raleway"/>
            </a:endParaRPr>
          </a:p>
        </p:txBody>
      </p:sp>
      <p:sp>
        <p:nvSpPr>
          <p:cNvPr id="257" name="Google Shape;257;p35"/>
          <p:cNvSpPr txBox="1"/>
          <p:nvPr>
            <p:ph idx="4294967295" type="body"/>
          </p:nvPr>
        </p:nvSpPr>
        <p:spPr>
          <a:xfrm>
            <a:off x="2506500" y="1758475"/>
            <a:ext cx="4131000" cy="332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aleway"/>
                <a:ea typeface="Raleway"/>
                <a:cs typeface="Raleway"/>
                <a:sym typeface="Raleway"/>
              </a:rPr>
              <a:t>La robotica consiste nella costruzione e programmazione di robot affinché possano operare in scenari complessi del mondo reale. In un certo senso, la robotica rappresenta la sfida definitiva dell'intelligenza artificiale, poiché richiede la combinazione di quasi tutte le aree dell'IA.</a:t>
            </a:r>
            <a:endParaRPr sz="1200">
              <a:latin typeface="Raleway"/>
              <a:ea typeface="Raleway"/>
              <a:cs typeface="Raleway"/>
              <a:sym typeface="Raleway"/>
            </a:endParaRPr>
          </a:p>
          <a:p>
            <a:pPr indent="0" lvl="0" marL="0" rtl="0" algn="l">
              <a:spcBef>
                <a:spcPts val="1000"/>
              </a:spcBef>
              <a:spcAft>
                <a:spcPts val="1000"/>
              </a:spcAft>
              <a:buNone/>
            </a:pPr>
            <a:r>
              <a:rPr lang="en" sz="1200">
                <a:latin typeface="Raleway"/>
                <a:ea typeface="Raleway"/>
                <a:cs typeface="Raleway"/>
                <a:sym typeface="Raleway"/>
              </a:rPr>
              <a:t>Molti problemi dell'IA legati alla robotica sono affrontati al meglio con il machine learning, rendendolo un ramo centrale dell'intelligenza artificiale applicata alla robotica.</a:t>
            </a:r>
            <a:endParaRPr sz="1200">
              <a:latin typeface="Raleway"/>
              <a:ea typeface="Raleway"/>
              <a:cs typeface="Raleway"/>
              <a:sym typeface="Raleway"/>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261" name="Shape 261"/>
        <p:cNvGrpSpPr/>
        <p:nvPr/>
      </p:nvGrpSpPr>
      <p:grpSpPr>
        <a:xfrm>
          <a:off x="0" y="0"/>
          <a:ext cx="0" cy="0"/>
          <a:chOff x="0" y="0"/>
          <a:chExt cx="0" cy="0"/>
        </a:xfrm>
      </p:grpSpPr>
      <p:pic>
        <p:nvPicPr>
          <p:cNvPr id="262" name="Google Shape;262;p36"/>
          <p:cNvPicPr preferRelativeResize="0"/>
          <p:nvPr/>
        </p:nvPicPr>
        <p:blipFill>
          <a:blip r:embed="rId3">
            <a:alphaModFix/>
          </a:blip>
          <a:stretch>
            <a:fillRect/>
          </a:stretch>
        </p:blipFill>
        <p:spPr>
          <a:xfrm>
            <a:off x="3639218" y="162725"/>
            <a:ext cx="5041725" cy="4818049"/>
          </a:xfrm>
          <a:prstGeom prst="rect">
            <a:avLst/>
          </a:prstGeom>
          <a:noFill/>
          <a:ln>
            <a:noFill/>
          </a:ln>
        </p:spPr>
      </p:pic>
      <p:pic>
        <p:nvPicPr>
          <p:cNvPr descr="Piece of duct tape sticking a note to the slide" id="263" name="Google Shape;263;p36"/>
          <p:cNvPicPr preferRelativeResize="0"/>
          <p:nvPr/>
        </p:nvPicPr>
        <p:blipFill rotWithShape="1">
          <a:blip r:embed="rId4">
            <a:alphaModFix/>
          </a:blip>
          <a:srcRect b="10012" l="9245" r="2118" t="5926"/>
          <a:stretch/>
        </p:blipFill>
        <p:spPr>
          <a:xfrm rot="154828">
            <a:off x="5124081" y="147301"/>
            <a:ext cx="2072000" cy="736050"/>
          </a:xfrm>
          <a:prstGeom prst="rect">
            <a:avLst/>
          </a:prstGeom>
          <a:noFill/>
          <a:ln>
            <a:noFill/>
          </a:ln>
        </p:spPr>
      </p:pic>
      <p:sp>
        <p:nvSpPr>
          <p:cNvPr id="264" name="Google Shape;264;p36"/>
          <p:cNvSpPr txBox="1"/>
          <p:nvPr/>
        </p:nvSpPr>
        <p:spPr>
          <a:xfrm>
            <a:off x="4001656" y="687400"/>
            <a:ext cx="4486200" cy="76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chemeClr val="lt2"/>
                </a:solidFill>
                <a:latin typeface="Raleway"/>
                <a:ea typeface="Raleway"/>
                <a:cs typeface="Raleway"/>
                <a:sym typeface="Raleway"/>
              </a:rPr>
              <a:t>Utilizzare ChatGPT</a:t>
            </a:r>
            <a:endParaRPr b="1" sz="3000">
              <a:solidFill>
                <a:schemeClr val="lt2"/>
              </a:solidFill>
              <a:latin typeface="Raleway"/>
              <a:ea typeface="Raleway"/>
              <a:cs typeface="Raleway"/>
              <a:sym typeface="Raleway"/>
            </a:endParaRPr>
          </a:p>
        </p:txBody>
      </p:sp>
      <p:sp>
        <p:nvSpPr>
          <p:cNvPr id="265" name="Google Shape;265;p36"/>
          <p:cNvSpPr txBox="1"/>
          <p:nvPr>
            <p:ph idx="4294967295" type="body"/>
          </p:nvPr>
        </p:nvSpPr>
        <p:spPr>
          <a:xfrm>
            <a:off x="4094581" y="1377475"/>
            <a:ext cx="4131000" cy="332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aleway"/>
                <a:ea typeface="Raleway"/>
                <a:cs typeface="Raleway"/>
                <a:sym typeface="Raleway"/>
              </a:rPr>
              <a:t>ChatGPT può fare una serie di operazioni semplici e complesse.</a:t>
            </a:r>
            <a:endParaRPr sz="1200">
              <a:latin typeface="Raleway"/>
              <a:ea typeface="Raleway"/>
              <a:cs typeface="Raleway"/>
              <a:sym typeface="Raleway"/>
            </a:endParaRPr>
          </a:p>
          <a:p>
            <a:pPr indent="0" lvl="0" marL="0" rtl="0" algn="l">
              <a:spcBef>
                <a:spcPts val="1000"/>
              </a:spcBef>
              <a:spcAft>
                <a:spcPts val="1000"/>
              </a:spcAft>
              <a:buNone/>
            </a:pPr>
            <a:r>
              <a:rPr lang="en" sz="1200">
                <a:latin typeface="Raleway"/>
                <a:ea typeface="Raleway"/>
                <a:cs typeface="Raleway"/>
                <a:sym typeface="Raleway"/>
              </a:rPr>
              <a:t>Molto spesso queste operazioni possono sostituire il tempo di studio e risolvere i compiti a casa di fatto rischiando di azzerare la loro utilità.</a:t>
            </a:r>
            <a:endParaRPr i="1" sz="1200">
              <a:latin typeface="Raleway"/>
              <a:ea typeface="Raleway"/>
              <a:cs typeface="Raleway"/>
              <a:sym typeface="Raleway"/>
            </a:endParaRPr>
          </a:p>
        </p:txBody>
      </p:sp>
      <p:pic>
        <p:nvPicPr>
          <p:cNvPr id="266" name="Google Shape;266;p36"/>
          <p:cNvPicPr preferRelativeResize="0"/>
          <p:nvPr/>
        </p:nvPicPr>
        <p:blipFill>
          <a:blip r:embed="rId5">
            <a:alphaModFix/>
          </a:blip>
          <a:stretch>
            <a:fillRect/>
          </a:stretch>
        </p:blipFill>
        <p:spPr>
          <a:xfrm>
            <a:off x="304800" y="904538"/>
            <a:ext cx="3334420" cy="333442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270" name="Shape 270"/>
        <p:cNvGrpSpPr/>
        <p:nvPr/>
      </p:nvGrpSpPr>
      <p:grpSpPr>
        <a:xfrm>
          <a:off x="0" y="0"/>
          <a:ext cx="0" cy="0"/>
          <a:chOff x="0" y="0"/>
          <a:chExt cx="0" cy="0"/>
        </a:xfrm>
      </p:grpSpPr>
      <p:pic>
        <p:nvPicPr>
          <p:cNvPr id="271" name="Google Shape;271;p37"/>
          <p:cNvPicPr preferRelativeResize="0"/>
          <p:nvPr/>
        </p:nvPicPr>
        <p:blipFill>
          <a:blip r:embed="rId3">
            <a:alphaModFix/>
          </a:blip>
          <a:stretch>
            <a:fillRect/>
          </a:stretch>
        </p:blipFill>
        <p:spPr>
          <a:xfrm>
            <a:off x="1629548" y="152400"/>
            <a:ext cx="5884905" cy="4838700"/>
          </a:xfrm>
          <a:prstGeom prst="rect">
            <a:avLst/>
          </a:prstGeom>
          <a:noFill/>
          <a:ln>
            <a:noFill/>
          </a:ln>
        </p:spPr>
      </p:pic>
      <p:pic>
        <p:nvPicPr>
          <p:cNvPr descr="Piece of duct tape sticking a note to the slide" id="272" name="Google Shape;272;p37"/>
          <p:cNvPicPr preferRelativeResize="0"/>
          <p:nvPr/>
        </p:nvPicPr>
        <p:blipFill rotWithShape="1">
          <a:blip r:embed="rId4">
            <a:alphaModFix/>
          </a:blip>
          <a:srcRect b="10012" l="9245" r="2118" t="5926"/>
          <a:stretch/>
        </p:blipFill>
        <p:spPr>
          <a:xfrm rot="-3654128">
            <a:off x="610811" y="820803"/>
            <a:ext cx="1580320" cy="561393"/>
          </a:xfrm>
          <a:prstGeom prst="rect">
            <a:avLst/>
          </a:prstGeom>
          <a:noFill/>
          <a:ln>
            <a:noFill/>
          </a:ln>
        </p:spPr>
      </p:pic>
      <p:pic>
        <p:nvPicPr>
          <p:cNvPr descr="Piece of duct tape sticking a note to the slide" id="273" name="Google Shape;273;p37"/>
          <p:cNvPicPr preferRelativeResize="0"/>
          <p:nvPr/>
        </p:nvPicPr>
        <p:blipFill rotWithShape="1">
          <a:blip r:embed="rId4">
            <a:alphaModFix/>
          </a:blip>
          <a:srcRect b="10012" l="9245" r="2118" t="5926"/>
          <a:stretch/>
        </p:blipFill>
        <p:spPr>
          <a:xfrm rot="-3535370">
            <a:off x="6752313" y="3947204"/>
            <a:ext cx="1580319" cy="56139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277" name="Shape 277"/>
        <p:cNvGrpSpPr/>
        <p:nvPr/>
      </p:nvGrpSpPr>
      <p:grpSpPr>
        <a:xfrm>
          <a:off x="0" y="0"/>
          <a:ext cx="0" cy="0"/>
          <a:chOff x="0" y="0"/>
          <a:chExt cx="0" cy="0"/>
        </a:xfrm>
      </p:grpSpPr>
      <p:pic>
        <p:nvPicPr>
          <p:cNvPr id="278" name="Google Shape;278;p38"/>
          <p:cNvPicPr preferRelativeResize="0"/>
          <p:nvPr/>
        </p:nvPicPr>
        <p:blipFill>
          <a:blip r:embed="rId3">
            <a:alphaModFix/>
          </a:blip>
          <a:stretch>
            <a:fillRect/>
          </a:stretch>
        </p:blipFill>
        <p:spPr>
          <a:xfrm>
            <a:off x="3639218" y="162725"/>
            <a:ext cx="5041725" cy="4818049"/>
          </a:xfrm>
          <a:prstGeom prst="rect">
            <a:avLst/>
          </a:prstGeom>
          <a:noFill/>
          <a:ln>
            <a:noFill/>
          </a:ln>
        </p:spPr>
      </p:pic>
      <p:pic>
        <p:nvPicPr>
          <p:cNvPr descr="Piece of duct tape sticking a note to the slide" id="279" name="Google Shape;279;p38"/>
          <p:cNvPicPr preferRelativeResize="0"/>
          <p:nvPr/>
        </p:nvPicPr>
        <p:blipFill rotWithShape="1">
          <a:blip r:embed="rId4">
            <a:alphaModFix/>
          </a:blip>
          <a:srcRect b="10012" l="9245" r="2118" t="5926"/>
          <a:stretch/>
        </p:blipFill>
        <p:spPr>
          <a:xfrm rot="154828">
            <a:off x="5124081" y="147301"/>
            <a:ext cx="2072000" cy="736050"/>
          </a:xfrm>
          <a:prstGeom prst="rect">
            <a:avLst/>
          </a:prstGeom>
          <a:noFill/>
          <a:ln>
            <a:noFill/>
          </a:ln>
        </p:spPr>
      </p:pic>
      <p:sp>
        <p:nvSpPr>
          <p:cNvPr id="280" name="Google Shape;280;p38"/>
          <p:cNvSpPr txBox="1"/>
          <p:nvPr/>
        </p:nvSpPr>
        <p:spPr>
          <a:xfrm>
            <a:off x="4001656" y="687400"/>
            <a:ext cx="4486200" cy="76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chemeClr val="lt2"/>
                </a:solidFill>
                <a:latin typeface="Raleway"/>
                <a:ea typeface="Raleway"/>
                <a:cs typeface="Raleway"/>
                <a:sym typeface="Raleway"/>
              </a:rPr>
              <a:t>Utilizzare ChatGPT</a:t>
            </a:r>
            <a:endParaRPr b="1" sz="3000">
              <a:solidFill>
                <a:schemeClr val="lt2"/>
              </a:solidFill>
              <a:latin typeface="Raleway"/>
              <a:ea typeface="Raleway"/>
              <a:cs typeface="Raleway"/>
              <a:sym typeface="Raleway"/>
            </a:endParaRPr>
          </a:p>
        </p:txBody>
      </p:sp>
      <p:sp>
        <p:nvSpPr>
          <p:cNvPr id="281" name="Google Shape;281;p38"/>
          <p:cNvSpPr txBox="1"/>
          <p:nvPr>
            <p:ph idx="4294967295" type="body"/>
          </p:nvPr>
        </p:nvSpPr>
        <p:spPr>
          <a:xfrm>
            <a:off x="4094581" y="1377475"/>
            <a:ext cx="4131000" cy="3327900"/>
          </a:xfrm>
          <a:prstGeom prst="rect">
            <a:avLst/>
          </a:prstGeom>
        </p:spPr>
        <p:txBody>
          <a:bodyPr anchorCtr="0" anchor="t" bIns="91425" lIns="91425" spcFirstLastPara="1" rIns="91425" wrap="square" tIns="91425">
            <a:noAutofit/>
          </a:bodyPr>
          <a:lstStyle/>
          <a:p>
            <a:pPr indent="0" lvl="0" marL="0" rtl="0" algn="l">
              <a:spcBef>
                <a:spcPts val="0"/>
              </a:spcBef>
              <a:spcAft>
                <a:spcPts val="1000"/>
              </a:spcAft>
              <a:buNone/>
            </a:pPr>
            <a:r>
              <a:rPr lang="en" sz="1200">
                <a:latin typeface="Raleway"/>
                <a:ea typeface="Raleway"/>
                <a:cs typeface="Raleway"/>
                <a:sym typeface="Raleway"/>
              </a:rPr>
              <a:t>Esistono alcuni contesti in cui ChatGPT non può fornire soluzioni</a:t>
            </a:r>
            <a:endParaRPr i="1" sz="1200">
              <a:latin typeface="Raleway"/>
              <a:ea typeface="Raleway"/>
              <a:cs typeface="Raleway"/>
              <a:sym typeface="Raleway"/>
            </a:endParaRPr>
          </a:p>
        </p:txBody>
      </p:sp>
      <p:pic>
        <p:nvPicPr>
          <p:cNvPr id="282" name="Google Shape;282;p38"/>
          <p:cNvPicPr preferRelativeResize="0"/>
          <p:nvPr/>
        </p:nvPicPr>
        <p:blipFill>
          <a:blip r:embed="rId5">
            <a:alphaModFix/>
          </a:blip>
          <a:stretch>
            <a:fillRect/>
          </a:stretch>
        </p:blipFill>
        <p:spPr>
          <a:xfrm>
            <a:off x="304800" y="904538"/>
            <a:ext cx="3334420" cy="333442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286" name="Shape 286"/>
        <p:cNvGrpSpPr/>
        <p:nvPr/>
      </p:nvGrpSpPr>
      <p:grpSpPr>
        <a:xfrm>
          <a:off x="0" y="0"/>
          <a:ext cx="0" cy="0"/>
          <a:chOff x="0" y="0"/>
          <a:chExt cx="0" cy="0"/>
        </a:xfrm>
      </p:grpSpPr>
      <p:pic>
        <p:nvPicPr>
          <p:cNvPr id="287" name="Google Shape;287;p39"/>
          <p:cNvPicPr preferRelativeResize="0"/>
          <p:nvPr/>
        </p:nvPicPr>
        <p:blipFill>
          <a:blip r:embed="rId3">
            <a:alphaModFix/>
          </a:blip>
          <a:stretch>
            <a:fillRect/>
          </a:stretch>
        </p:blipFill>
        <p:spPr>
          <a:xfrm>
            <a:off x="2043059" y="1021025"/>
            <a:ext cx="5057873" cy="3101454"/>
          </a:xfrm>
          <a:prstGeom prst="rect">
            <a:avLst/>
          </a:prstGeom>
          <a:noFill/>
          <a:ln>
            <a:noFill/>
          </a:ln>
        </p:spPr>
      </p:pic>
      <p:pic>
        <p:nvPicPr>
          <p:cNvPr descr="Piece of duct tape sticking a note to the slide" id="288" name="Google Shape;288;p39"/>
          <p:cNvPicPr preferRelativeResize="0"/>
          <p:nvPr/>
        </p:nvPicPr>
        <p:blipFill rotWithShape="1">
          <a:blip r:embed="rId4">
            <a:alphaModFix/>
          </a:blip>
          <a:srcRect b="10012" l="9245" r="2118" t="5926"/>
          <a:stretch/>
        </p:blipFill>
        <p:spPr>
          <a:xfrm rot="-3654128">
            <a:off x="1261811" y="903053"/>
            <a:ext cx="1580320" cy="561393"/>
          </a:xfrm>
          <a:prstGeom prst="rect">
            <a:avLst/>
          </a:prstGeom>
          <a:noFill/>
          <a:ln>
            <a:noFill/>
          </a:ln>
        </p:spPr>
      </p:pic>
      <p:pic>
        <p:nvPicPr>
          <p:cNvPr descr="Piece of duct tape sticking a note to the slide" id="289" name="Google Shape;289;p39"/>
          <p:cNvPicPr preferRelativeResize="0"/>
          <p:nvPr/>
        </p:nvPicPr>
        <p:blipFill rotWithShape="1">
          <a:blip r:embed="rId4">
            <a:alphaModFix/>
          </a:blip>
          <a:srcRect b="10012" l="9245" r="2118" t="5926"/>
          <a:stretch/>
        </p:blipFill>
        <p:spPr>
          <a:xfrm rot="-3535370">
            <a:off x="6402838" y="3789579"/>
            <a:ext cx="1580319" cy="561393"/>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293" name="Shape 293"/>
        <p:cNvGrpSpPr/>
        <p:nvPr/>
      </p:nvGrpSpPr>
      <p:grpSpPr>
        <a:xfrm>
          <a:off x="0" y="0"/>
          <a:ext cx="0" cy="0"/>
          <a:chOff x="0" y="0"/>
          <a:chExt cx="0" cy="0"/>
        </a:xfrm>
      </p:grpSpPr>
      <p:pic>
        <p:nvPicPr>
          <p:cNvPr id="294" name="Google Shape;294;p40"/>
          <p:cNvPicPr preferRelativeResize="0"/>
          <p:nvPr/>
        </p:nvPicPr>
        <p:blipFill>
          <a:blip r:embed="rId3">
            <a:alphaModFix/>
          </a:blip>
          <a:stretch>
            <a:fillRect/>
          </a:stretch>
        </p:blipFill>
        <p:spPr>
          <a:xfrm>
            <a:off x="3639218" y="162725"/>
            <a:ext cx="5041725" cy="4818049"/>
          </a:xfrm>
          <a:prstGeom prst="rect">
            <a:avLst/>
          </a:prstGeom>
          <a:noFill/>
          <a:ln>
            <a:noFill/>
          </a:ln>
        </p:spPr>
      </p:pic>
      <p:pic>
        <p:nvPicPr>
          <p:cNvPr descr="Piece of duct tape sticking a note to the slide" id="295" name="Google Shape;295;p40"/>
          <p:cNvPicPr preferRelativeResize="0"/>
          <p:nvPr/>
        </p:nvPicPr>
        <p:blipFill rotWithShape="1">
          <a:blip r:embed="rId4">
            <a:alphaModFix/>
          </a:blip>
          <a:srcRect b="10012" l="9245" r="2118" t="5926"/>
          <a:stretch/>
        </p:blipFill>
        <p:spPr>
          <a:xfrm rot="154828">
            <a:off x="5124081" y="147301"/>
            <a:ext cx="2072000" cy="736050"/>
          </a:xfrm>
          <a:prstGeom prst="rect">
            <a:avLst/>
          </a:prstGeom>
          <a:noFill/>
          <a:ln>
            <a:noFill/>
          </a:ln>
        </p:spPr>
      </p:pic>
      <p:sp>
        <p:nvSpPr>
          <p:cNvPr id="296" name="Google Shape;296;p40"/>
          <p:cNvSpPr txBox="1"/>
          <p:nvPr/>
        </p:nvSpPr>
        <p:spPr>
          <a:xfrm>
            <a:off x="4001656" y="687400"/>
            <a:ext cx="4486200" cy="76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chemeClr val="lt2"/>
                </a:solidFill>
                <a:latin typeface="Raleway"/>
                <a:ea typeface="Raleway"/>
                <a:cs typeface="Raleway"/>
                <a:sym typeface="Raleway"/>
              </a:rPr>
              <a:t>Utilizzare ChatGPT</a:t>
            </a:r>
            <a:endParaRPr b="1" sz="3000">
              <a:solidFill>
                <a:schemeClr val="lt2"/>
              </a:solidFill>
              <a:latin typeface="Raleway"/>
              <a:ea typeface="Raleway"/>
              <a:cs typeface="Raleway"/>
              <a:sym typeface="Raleway"/>
            </a:endParaRPr>
          </a:p>
        </p:txBody>
      </p:sp>
      <p:sp>
        <p:nvSpPr>
          <p:cNvPr id="297" name="Google Shape;297;p40"/>
          <p:cNvSpPr txBox="1"/>
          <p:nvPr>
            <p:ph idx="4294967295" type="body"/>
          </p:nvPr>
        </p:nvSpPr>
        <p:spPr>
          <a:xfrm>
            <a:off x="4094581" y="1377475"/>
            <a:ext cx="4131000" cy="332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aleway"/>
                <a:ea typeface="Raleway"/>
                <a:cs typeface="Raleway"/>
                <a:sym typeface="Raleway"/>
              </a:rPr>
              <a:t>In ogni caso diventa importante riconoscere gli elaborati.</a:t>
            </a:r>
            <a:endParaRPr sz="1200">
              <a:latin typeface="Raleway"/>
              <a:ea typeface="Raleway"/>
              <a:cs typeface="Raleway"/>
              <a:sym typeface="Raleway"/>
            </a:endParaRPr>
          </a:p>
          <a:p>
            <a:pPr indent="-304800" lvl="0" marL="457200" rtl="0" algn="l">
              <a:spcBef>
                <a:spcPts val="1000"/>
              </a:spcBef>
              <a:spcAft>
                <a:spcPts val="0"/>
              </a:spcAft>
              <a:buSzPts val="1200"/>
              <a:buFont typeface="Raleway"/>
              <a:buChar char="●"/>
            </a:pPr>
            <a:r>
              <a:rPr lang="en" sz="1200">
                <a:latin typeface="Raleway"/>
                <a:ea typeface="Raleway"/>
                <a:cs typeface="Raleway"/>
                <a:sym typeface="Raleway"/>
              </a:rPr>
              <a:t>È possibile riconoscere i pattern di lavoro dell’intelligenza artificiale.</a:t>
            </a:r>
            <a:endParaRPr sz="1200">
              <a:latin typeface="Raleway"/>
              <a:ea typeface="Raleway"/>
              <a:cs typeface="Raleway"/>
              <a:sym typeface="Raleway"/>
            </a:endParaRPr>
          </a:p>
          <a:p>
            <a:pPr indent="-304800" lvl="0" marL="457200" rtl="0" algn="l">
              <a:spcBef>
                <a:spcPts val="0"/>
              </a:spcBef>
              <a:spcAft>
                <a:spcPts val="0"/>
              </a:spcAft>
              <a:buSzPts val="1200"/>
              <a:buFont typeface="Raleway"/>
              <a:buChar char="●"/>
            </a:pPr>
            <a:r>
              <a:rPr lang="en" sz="1200">
                <a:latin typeface="Raleway"/>
                <a:ea typeface="Raleway"/>
                <a:cs typeface="Raleway"/>
                <a:sym typeface="Raleway"/>
              </a:rPr>
              <a:t>È anche possibile valutare se la conoscenza dello studente è comparabile a quella del compito.</a:t>
            </a:r>
            <a:endParaRPr sz="1200">
              <a:latin typeface="Raleway"/>
              <a:ea typeface="Raleway"/>
              <a:cs typeface="Raleway"/>
              <a:sym typeface="Raleway"/>
            </a:endParaRPr>
          </a:p>
          <a:p>
            <a:pPr indent="0" lvl="0" marL="0" rtl="0" algn="l">
              <a:spcBef>
                <a:spcPts val="1000"/>
              </a:spcBef>
              <a:spcAft>
                <a:spcPts val="1000"/>
              </a:spcAft>
              <a:buNone/>
            </a:pPr>
            <a:r>
              <a:rPr lang="en" sz="1200">
                <a:latin typeface="Raleway"/>
                <a:ea typeface="Raleway"/>
                <a:cs typeface="Raleway"/>
                <a:sym typeface="Raleway"/>
              </a:rPr>
              <a:t>Sono due facce della stessa medaglia, ma contrastare la prima comporta un divieto aggirabile, il secondo non richiede di evitare il problema, ma di utilizzarlo a proprio vantaggio.</a:t>
            </a:r>
            <a:endParaRPr sz="1200">
              <a:latin typeface="Raleway"/>
              <a:ea typeface="Raleway"/>
              <a:cs typeface="Raleway"/>
              <a:sym typeface="Raleway"/>
            </a:endParaRPr>
          </a:p>
        </p:txBody>
      </p:sp>
      <p:pic>
        <p:nvPicPr>
          <p:cNvPr id="298" name="Google Shape;298;p40"/>
          <p:cNvPicPr preferRelativeResize="0"/>
          <p:nvPr/>
        </p:nvPicPr>
        <p:blipFill>
          <a:blip r:embed="rId5">
            <a:alphaModFix/>
          </a:blip>
          <a:stretch>
            <a:fillRect/>
          </a:stretch>
        </p:blipFill>
        <p:spPr>
          <a:xfrm>
            <a:off x="304800" y="904538"/>
            <a:ext cx="3334420" cy="333442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302" name="Shape 302"/>
        <p:cNvGrpSpPr/>
        <p:nvPr/>
      </p:nvGrpSpPr>
      <p:grpSpPr>
        <a:xfrm>
          <a:off x="0" y="0"/>
          <a:ext cx="0" cy="0"/>
          <a:chOff x="0" y="0"/>
          <a:chExt cx="0" cy="0"/>
        </a:xfrm>
      </p:grpSpPr>
      <p:pic>
        <p:nvPicPr>
          <p:cNvPr id="303" name="Google Shape;303;p41"/>
          <p:cNvPicPr preferRelativeResize="0"/>
          <p:nvPr/>
        </p:nvPicPr>
        <p:blipFill>
          <a:blip r:embed="rId3">
            <a:alphaModFix/>
          </a:blip>
          <a:stretch>
            <a:fillRect/>
          </a:stretch>
        </p:blipFill>
        <p:spPr>
          <a:xfrm>
            <a:off x="2203228" y="527100"/>
            <a:ext cx="4737525" cy="4089300"/>
          </a:xfrm>
          <a:prstGeom prst="rect">
            <a:avLst/>
          </a:prstGeom>
          <a:noFill/>
          <a:ln>
            <a:noFill/>
          </a:ln>
        </p:spPr>
      </p:pic>
      <p:pic>
        <p:nvPicPr>
          <p:cNvPr descr="Piece of duct tape sticking a note to the slide" id="304" name="Google Shape;304;p41"/>
          <p:cNvPicPr preferRelativeResize="0"/>
          <p:nvPr/>
        </p:nvPicPr>
        <p:blipFill rotWithShape="1">
          <a:blip r:embed="rId4">
            <a:alphaModFix/>
          </a:blip>
          <a:srcRect b="10012" l="9245" r="2118" t="5926"/>
          <a:stretch/>
        </p:blipFill>
        <p:spPr>
          <a:xfrm rot="-3654128">
            <a:off x="1227561" y="546253"/>
            <a:ext cx="1580320" cy="561393"/>
          </a:xfrm>
          <a:prstGeom prst="rect">
            <a:avLst/>
          </a:prstGeom>
          <a:noFill/>
          <a:ln>
            <a:noFill/>
          </a:ln>
        </p:spPr>
      </p:pic>
      <p:pic>
        <p:nvPicPr>
          <p:cNvPr descr="Piece of duct tape sticking a note to the slide" id="305" name="Google Shape;305;p41"/>
          <p:cNvPicPr preferRelativeResize="0"/>
          <p:nvPr/>
        </p:nvPicPr>
        <p:blipFill rotWithShape="1">
          <a:blip r:embed="rId4">
            <a:alphaModFix/>
          </a:blip>
          <a:srcRect b="10012" l="9245" r="2118" t="5926"/>
          <a:stretch/>
        </p:blipFill>
        <p:spPr>
          <a:xfrm rot="-3535370">
            <a:off x="6402838" y="3789579"/>
            <a:ext cx="1580319" cy="56139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CCCC"/>
        </a:solidFill>
      </p:bgPr>
    </p:bg>
    <p:spTree>
      <p:nvGrpSpPr>
        <p:cNvPr id="309" name="Shape 309"/>
        <p:cNvGrpSpPr/>
        <p:nvPr/>
      </p:nvGrpSpPr>
      <p:grpSpPr>
        <a:xfrm>
          <a:off x="0" y="0"/>
          <a:ext cx="0" cy="0"/>
          <a:chOff x="0" y="0"/>
          <a:chExt cx="0" cy="0"/>
        </a:xfrm>
      </p:grpSpPr>
      <p:pic>
        <p:nvPicPr>
          <p:cNvPr id="310" name="Google Shape;310;p42"/>
          <p:cNvPicPr preferRelativeResize="0"/>
          <p:nvPr/>
        </p:nvPicPr>
        <p:blipFill>
          <a:blip r:embed="rId3">
            <a:alphaModFix/>
          </a:blip>
          <a:stretch>
            <a:fillRect/>
          </a:stretch>
        </p:blipFill>
        <p:spPr>
          <a:xfrm>
            <a:off x="1452038" y="1179629"/>
            <a:ext cx="6239917" cy="2784238"/>
          </a:xfrm>
          <a:prstGeom prst="rect">
            <a:avLst/>
          </a:prstGeom>
          <a:noFill/>
          <a:ln>
            <a:noFill/>
          </a:ln>
        </p:spPr>
      </p:pic>
      <p:pic>
        <p:nvPicPr>
          <p:cNvPr descr="Piece of duct tape sticking a note to the slide" id="311" name="Google Shape;311;p42"/>
          <p:cNvPicPr preferRelativeResize="0"/>
          <p:nvPr/>
        </p:nvPicPr>
        <p:blipFill rotWithShape="1">
          <a:blip r:embed="rId4">
            <a:alphaModFix/>
          </a:blip>
          <a:srcRect b="10012" l="9245" r="2118" t="5926"/>
          <a:stretch/>
        </p:blipFill>
        <p:spPr>
          <a:xfrm rot="-3654128">
            <a:off x="583436" y="936853"/>
            <a:ext cx="1580320" cy="561393"/>
          </a:xfrm>
          <a:prstGeom prst="rect">
            <a:avLst/>
          </a:prstGeom>
          <a:noFill/>
          <a:ln>
            <a:noFill/>
          </a:ln>
        </p:spPr>
      </p:pic>
      <p:pic>
        <p:nvPicPr>
          <p:cNvPr descr="Piece of duct tape sticking a note to the slide" id="312" name="Google Shape;312;p42"/>
          <p:cNvPicPr preferRelativeResize="0"/>
          <p:nvPr/>
        </p:nvPicPr>
        <p:blipFill rotWithShape="1">
          <a:blip r:embed="rId4">
            <a:alphaModFix/>
          </a:blip>
          <a:srcRect b="10012" l="9245" r="2118" t="5926"/>
          <a:stretch/>
        </p:blipFill>
        <p:spPr>
          <a:xfrm rot="-3535370">
            <a:off x="6800288" y="3577154"/>
            <a:ext cx="1580319" cy="561393"/>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D2E9"/>
        </a:solidFill>
      </p:bgPr>
    </p:bg>
    <p:spTree>
      <p:nvGrpSpPr>
        <p:cNvPr id="316" name="Shape 316"/>
        <p:cNvGrpSpPr/>
        <p:nvPr/>
      </p:nvGrpSpPr>
      <p:grpSpPr>
        <a:xfrm>
          <a:off x="0" y="0"/>
          <a:ext cx="0" cy="0"/>
          <a:chOff x="0" y="0"/>
          <a:chExt cx="0" cy="0"/>
        </a:xfrm>
      </p:grpSpPr>
      <p:pic>
        <p:nvPicPr>
          <p:cNvPr id="317" name="Google Shape;317;p43"/>
          <p:cNvPicPr preferRelativeResize="0"/>
          <p:nvPr/>
        </p:nvPicPr>
        <p:blipFill>
          <a:blip r:embed="rId3">
            <a:alphaModFix/>
          </a:blip>
          <a:stretch>
            <a:fillRect/>
          </a:stretch>
        </p:blipFill>
        <p:spPr>
          <a:xfrm>
            <a:off x="3639218" y="162725"/>
            <a:ext cx="5041725" cy="4818049"/>
          </a:xfrm>
          <a:prstGeom prst="rect">
            <a:avLst/>
          </a:prstGeom>
          <a:noFill/>
          <a:ln>
            <a:noFill/>
          </a:ln>
        </p:spPr>
      </p:pic>
      <p:pic>
        <p:nvPicPr>
          <p:cNvPr descr="Piece of duct tape sticking a note to the slide" id="318" name="Google Shape;318;p43"/>
          <p:cNvPicPr preferRelativeResize="0"/>
          <p:nvPr/>
        </p:nvPicPr>
        <p:blipFill rotWithShape="1">
          <a:blip r:embed="rId4">
            <a:alphaModFix/>
          </a:blip>
          <a:srcRect b="10012" l="9245" r="2118" t="5926"/>
          <a:stretch/>
        </p:blipFill>
        <p:spPr>
          <a:xfrm rot="154828">
            <a:off x="5124081" y="147301"/>
            <a:ext cx="2072000" cy="736050"/>
          </a:xfrm>
          <a:prstGeom prst="rect">
            <a:avLst/>
          </a:prstGeom>
          <a:noFill/>
          <a:ln>
            <a:noFill/>
          </a:ln>
        </p:spPr>
      </p:pic>
      <p:sp>
        <p:nvSpPr>
          <p:cNvPr id="319" name="Google Shape;319;p43"/>
          <p:cNvSpPr txBox="1"/>
          <p:nvPr/>
        </p:nvSpPr>
        <p:spPr>
          <a:xfrm>
            <a:off x="4001656" y="687400"/>
            <a:ext cx="4486200" cy="76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3000">
                <a:solidFill>
                  <a:schemeClr val="lt2"/>
                </a:solidFill>
                <a:latin typeface="Raleway"/>
                <a:ea typeface="Raleway"/>
                <a:cs typeface="Raleway"/>
                <a:sym typeface="Raleway"/>
              </a:rPr>
              <a:t>Dreamstudio</a:t>
            </a:r>
            <a:endParaRPr b="1" sz="3000">
              <a:solidFill>
                <a:schemeClr val="lt2"/>
              </a:solidFill>
              <a:latin typeface="Raleway"/>
              <a:ea typeface="Raleway"/>
              <a:cs typeface="Raleway"/>
              <a:sym typeface="Raleway"/>
            </a:endParaRPr>
          </a:p>
        </p:txBody>
      </p:sp>
      <p:sp>
        <p:nvSpPr>
          <p:cNvPr id="320" name="Google Shape;320;p43"/>
          <p:cNvSpPr txBox="1"/>
          <p:nvPr>
            <p:ph idx="4294967295" type="body"/>
          </p:nvPr>
        </p:nvSpPr>
        <p:spPr>
          <a:xfrm>
            <a:off x="4094575" y="1377475"/>
            <a:ext cx="4131000" cy="326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latin typeface="Raleway"/>
                <a:ea typeface="Raleway"/>
                <a:cs typeface="Raleway"/>
                <a:sym typeface="Raleway"/>
              </a:rPr>
              <a:t>Dreamstudio è un tool che permette la creazione di immagini, Midjourney è il più famoso fra i tool di questo tipo.</a:t>
            </a:r>
            <a:endParaRPr sz="1200">
              <a:latin typeface="Raleway"/>
              <a:ea typeface="Raleway"/>
              <a:cs typeface="Raleway"/>
              <a:sym typeface="Raleway"/>
            </a:endParaRPr>
          </a:p>
          <a:p>
            <a:pPr indent="0" lvl="0" marL="0" rtl="0" algn="l">
              <a:spcBef>
                <a:spcPts val="1000"/>
              </a:spcBef>
              <a:spcAft>
                <a:spcPts val="0"/>
              </a:spcAft>
              <a:buNone/>
            </a:pPr>
            <a:r>
              <a:t/>
            </a:r>
            <a:endParaRPr sz="1200">
              <a:latin typeface="Raleway"/>
              <a:ea typeface="Raleway"/>
              <a:cs typeface="Raleway"/>
              <a:sym typeface="Raleway"/>
            </a:endParaRPr>
          </a:p>
          <a:p>
            <a:pPr indent="0" lvl="0" marL="0" rtl="0" algn="l">
              <a:spcBef>
                <a:spcPts val="1000"/>
              </a:spcBef>
              <a:spcAft>
                <a:spcPts val="0"/>
              </a:spcAft>
              <a:buNone/>
            </a:pPr>
            <a:r>
              <a:rPr lang="en" sz="1200">
                <a:latin typeface="Raleway"/>
                <a:ea typeface="Raleway"/>
                <a:cs typeface="Raleway"/>
                <a:sym typeface="Raleway"/>
              </a:rPr>
              <a:t>Soffermiamoci a guardarlo per trovare i difetti dell’immagine.</a:t>
            </a:r>
            <a:endParaRPr sz="1200">
              <a:latin typeface="Raleway"/>
              <a:ea typeface="Raleway"/>
              <a:cs typeface="Raleway"/>
              <a:sym typeface="Raleway"/>
            </a:endParaRPr>
          </a:p>
          <a:p>
            <a:pPr indent="0" lvl="0" marL="0" rtl="0" algn="l">
              <a:spcBef>
                <a:spcPts val="1000"/>
              </a:spcBef>
              <a:spcAft>
                <a:spcPts val="1000"/>
              </a:spcAft>
              <a:buNone/>
            </a:pPr>
            <a:r>
              <a:t/>
            </a:r>
            <a:endParaRPr sz="1200">
              <a:latin typeface="Raleway"/>
              <a:ea typeface="Raleway"/>
              <a:cs typeface="Raleway"/>
              <a:sym typeface="Raleway"/>
            </a:endParaRPr>
          </a:p>
        </p:txBody>
      </p:sp>
      <p:pic>
        <p:nvPicPr>
          <p:cNvPr id="321" name="Google Shape;321;p43"/>
          <p:cNvPicPr preferRelativeResize="0"/>
          <p:nvPr/>
        </p:nvPicPr>
        <p:blipFill>
          <a:blip r:embed="rId5">
            <a:alphaModFix/>
          </a:blip>
          <a:stretch>
            <a:fillRect/>
          </a:stretch>
        </p:blipFill>
        <p:spPr>
          <a:xfrm>
            <a:off x="304800" y="904538"/>
            <a:ext cx="3334420" cy="333442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