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a136b60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a136b60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0a136b60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0a136b60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e965474a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e965474a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e965474a9_3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e965474a9_3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a136b60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0a136b60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0a136b60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0a136b60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0a136b60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0a136b60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0a136b60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0a136b60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1c1bfa8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1c1bfa8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1c1bfa83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1c1bfa83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1c1bfa83f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1c1bfa83f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1c1bfa83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1c1bfa83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1c1bfa83f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1c1bfa83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1c1bfa83f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1c1bfa83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1c1bfa83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1c1bfa83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1c1bfa83f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1c1bfa83f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1c1bfa83f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1c1bfa83f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1c1bfa83f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1c1bfa83f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perplexity.ai" TargetMode="External"/><Relationship Id="rId4" Type="http://schemas.openxmlformats.org/officeDocument/2006/relationships/image" Target="../media/image2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Corso di Formazione per Docenti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Approfondimento sugli Strumenti Digitali per la Didattica 4.0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83100" y="712150"/>
            <a:ext cx="86316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LLMs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Large Language Models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00" y="162731"/>
            <a:ext cx="7798600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4" name="Google Shape;84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84508">
            <a:off x="2674383" y="146416"/>
            <a:ext cx="3795230" cy="73780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>
            <p:ph idx="4294967295" type="body"/>
          </p:nvPr>
        </p:nvSpPr>
        <p:spPr>
          <a:xfrm>
            <a:off x="1425780" y="1007045"/>
            <a:ext cx="6292500" cy="3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 Large Language Models (LLM) sono modelli di intelligenza artificiale basati su reti neurali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profonde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specializzate nell'elaborazione del linguaggio naturale (</a:t>
            </a:r>
            <a:r>
              <a:rPr b="1" lang="en" sz="12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NLP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). Sono addestrati su enormi quantità di testo per apprendere le relazioni tra parole, frasi e concetti, permettendo loro di generare testo coerente e comprensibile, rispondere a domande, tradurre, riassumere 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svolgere molte altre attività linguistiche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funzionamento di un LLM si basa su architetture chiamate transformer, che elaborano sequenze di testo utilizzando meccanismi di attenzione per capire il contesto e prevedere la parola successiva in una frase. L'addestramento avviene in più fasi, spesso partendo da un apprendimento non supervisionato su dati non etichettati, per poi affinare la precisione.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00" y="162731"/>
            <a:ext cx="7798600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1" name="Google Shape;91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84508">
            <a:off x="2674383" y="146416"/>
            <a:ext cx="3795230" cy="73780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>
            <p:ph idx="4294967295" type="body"/>
          </p:nvPr>
        </p:nvSpPr>
        <p:spPr>
          <a:xfrm>
            <a:off x="1425780" y="1007045"/>
            <a:ext cx="6292500" cy="3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Grazie a questa struttura, gli LLM possono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comprendere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il significato implicito, lo stile e il contesto, rendendoli strumenti potenti per la generazione automatica di contenuti e l'elaborazione avanzata del linguaggio.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sintesi, un LLM è un modello AI che "impara" come funziona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il linguaggio umano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leggendo e analizzando grandi testi, per poi usarlo per creare contenuti testuali o comprendere query complesse con alta precisione.​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00" y="162731"/>
            <a:ext cx="7798600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8" name="Google Shape;98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84508">
            <a:off x="2674383" y="146416"/>
            <a:ext cx="3795230" cy="73780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idx="4294967295" type="body"/>
          </p:nvPr>
        </p:nvSpPr>
        <p:spPr>
          <a:xfrm>
            <a:off x="1425780" y="870086"/>
            <a:ext cx="6292500" cy="3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Natural Language Processing (NLP), o elaborazione del linguaggio naturale, è una branca dell’intelligenza artificiale che permette ai computer di comprendere, interpretare e generare il linguaggio umano, sia scritto che parlato. Il suo obiettivo è colmare il divario tra la comunicazione umana e la capacità dei computer di capire il linguaggio naturale.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L’NLP combina linguistica computazionale con tecniche di machine learning e deep learning per analizzare testi e parole,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identificarne il significato, il contesto e l’intento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. Tra le sue funzioni principali ci sono la tokenizzazione (suddivisione del testo in parole o frasi), l’analisi sintattica, la riconoscenza di entità e il rilevamento del sentiment. Questo consente di trasformare dati linguistici grezzi in informazioni utili per rispondere a domande, tradurre testi, generare contenuti e molto altro.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sintesi, l’NLP è la tecnologia che consente ai computer di "parlare" e capire il linguaggio umano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 in modo naturale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 utile.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Il testo che abbiamo appena letto e’ stato generato con </a:t>
            </a:r>
            <a:r>
              <a:rPr b="0" lang="en" sz="2400" u="sng">
                <a:solidFill>
                  <a:schemeClr val="hlink"/>
                </a:solidFill>
                <a:hlinkClick r:id="rId3"/>
              </a:rPr>
              <a:t>perplexity.ai</a:t>
            </a:r>
            <a:r>
              <a:rPr b="0" lang="en" sz="2400">
                <a:solidFill>
                  <a:schemeClr val="dk2"/>
                </a:solidFill>
              </a:rPr>
              <a:t> e contiene una serie di inesattezze.</a:t>
            </a:r>
            <a:endParaRPr b="0" sz="2400">
              <a:solidFill>
                <a:schemeClr val="dk2"/>
              </a:solidFill>
            </a:endParaRPr>
          </a:p>
        </p:txBody>
      </p:sp>
      <p:pic>
        <p:nvPicPr>
          <p:cNvPr descr="scrolling through errors (provided by Tenor)" id="105" name="Google Shape;105;p18"/>
          <p:cNvPicPr preferRelativeResize="0"/>
          <p:nvPr/>
        </p:nvPicPr>
        <p:blipFill rotWithShape="1">
          <a:blip r:embed="rId4">
            <a:alphaModFix/>
          </a:blip>
          <a:srcRect b="0" l="16060" r="16060" t="0"/>
          <a:stretch/>
        </p:blipFill>
        <p:spPr>
          <a:xfrm>
            <a:off x="4488725" y="0"/>
            <a:ext cx="465527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 rotWithShape="1">
          <a:blip r:embed="rId3">
            <a:alphaModFix/>
          </a:blip>
          <a:srcRect b="5330" l="0" r="11111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accent5"/>
                </a:solidFill>
              </a:rPr>
              <a:t>Large Language Models (LLM) sono modelli di intelligenza artificiale basati su reti neurali </a:t>
            </a:r>
            <a:r>
              <a:rPr lang="en" sz="2100">
                <a:solidFill>
                  <a:schemeClr val="accent5"/>
                </a:solidFill>
              </a:rPr>
              <a:t>profonde</a:t>
            </a:r>
            <a:r>
              <a:rPr b="0" lang="en" sz="2100">
                <a:solidFill>
                  <a:schemeClr val="accent5"/>
                </a:solidFill>
              </a:rPr>
              <a:t> specializzate nell'elaborazione del linguaggio naturale (NLP). </a:t>
            </a:r>
            <a:endParaRPr b="0" sz="21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100"/>
              <a:t>La parola “profonde” e’ incorretta ed e’ il risultato di una probabile allucinazione dell’IA.</a:t>
            </a:r>
            <a:endParaRPr b="0" sz="2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100"/>
              <a:t>Deriva dal “deep learning”, un sistema di ottimizzazione di un algoritmo basato su “ricompense”.</a:t>
            </a:r>
            <a:endParaRPr b="0" sz="2100"/>
          </a:p>
        </p:txBody>
      </p:sp>
      <p:grpSp>
        <p:nvGrpSpPr>
          <p:cNvPr id="112" name="Google Shape;112;p19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13" name="Google Shape;113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14" name="Google Shape;114;p19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9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Curiosity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Nel deep learning, l’algoritmo viene trattato al pari di un soggetto senziente a cui vengono dati dei punteggi e gli si chiede di effettuare punteggi sempre piu’ alti.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0"/>
          <p:cNvPicPr preferRelativeResize="0"/>
          <p:nvPr/>
        </p:nvPicPr>
        <p:blipFill rotWithShape="1">
          <a:blip r:embed="rId3">
            <a:alphaModFix/>
          </a:blip>
          <a:srcRect b="5330" l="0" r="11111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accent5"/>
                </a:solidFill>
              </a:rPr>
              <a:t>Sono addestrati su enormi quantità di testo per apprendere le relazioni tra parole, frasi e concetti, permettendo loro di [...] svolgere molte altre attività linguistiche.</a:t>
            </a:r>
            <a:endParaRPr b="0" sz="21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100"/>
              <a:t>Non e’ sbagliato, ma incompleto in quanto e’ possibile generare qualsiasi cosa su cui l’algoritmo e’ stato addestrato.</a:t>
            </a:r>
            <a:endParaRPr b="0"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b="5330" l="0" r="11111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accent5"/>
                </a:solidFill>
              </a:rPr>
              <a:t>gli LLM possono </a:t>
            </a:r>
            <a:r>
              <a:rPr lang="en" sz="2100">
                <a:solidFill>
                  <a:schemeClr val="accent5"/>
                </a:solidFill>
              </a:rPr>
              <a:t>comprendere</a:t>
            </a:r>
            <a:r>
              <a:rPr b="0" lang="en" sz="2100">
                <a:solidFill>
                  <a:schemeClr val="accent5"/>
                </a:solidFill>
              </a:rPr>
              <a:t> il significato implicito</a:t>
            </a:r>
            <a:endParaRPr b="0" sz="21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100"/>
              <a:t>La parola “comprendere” e’ sbagliata sotto ogni punto di vista.</a:t>
            </a:r>
            <a:endParaRPr b="0" sz="2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100"/>
              <a:t>Dire che un LLM comprenda il concetto di pennarello, e’ come dire che i computer comprendano cosa sia il giallo perche’ lo rappresentano correttamente come </a:t>
            </a:r>
            <a:r>
              <a:rPr b="0" lang="en" sz="2100">
                <a:latin typeface="Arial"/>
                <a:ea typeface="Arial"/>
                <a:cs typeface="Arial"/>
                <a:sym typeface="Arial"/>
              </a:rPr>
              <a:t>#ffff00</a:t>
            </a:r>
            <a:endParaRPr b="0" sz="2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21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29" name="Google Shape;12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30" name="Google Shape;130;p21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21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Hex codes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I codici esadecimali permettono di rappresentando i colori utilizzando i colori rosso blu e verde.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 b="5330" l="0" r="11111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accent5"/>
                </a:solidFill>
              </a:rPr>
              <a:t>un LLM è un modello AI che "impara" come funziona </a:t>
            </a:r>
            <a:r>
              <a:rPr lang="en" sz="2100">
                <a:solidFill>
                  <a:schemeClr val="accent5"/>
                </a:solidFill>
              </a:rPr>
              <a:t>il linguaggio umano</a:t>
            </a:r>
            <a:endParaRPr sz="21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100"/>
              <a:t>E’ incorretto perche’ non impara come funziona il linguaggio, ma qual e’ la relazione matematica di alcuni termini rispetto ad altri.</a:t>
            </a:r>
            <a:endParaRPr b="0" sz="2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100"/>
              <a:t>La generazione di un risultato e’ del tutto caotica anche se per noi sembra essere frutto di “magia” digitale.</a:t>
            </a:r>
            <a:endParaRPr b="0"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 b="5330" l="0" r="11111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chemeClr val="accent5"/>
                </a:solidFill>
              </a:rPr>
              <a:t>In sintesi, l’NLP è la tecnologia che consente ai computer di "parlare" e capire il linguaggio umano </a:t>
            </a:r>
            <a:r>
              <a:rPr lang="en" sz="2100">
                <a:solidFill>
                  <a:schemeClr val="accent5"/>
                </a:solidFill>
              </a:rPr>
              <a:t>in modo naturale e utile</a:t>
            </a:r>
            <a:r>
              <a:rPr b="0" lang="en" sz="2100">
                <a:solidFill>
                  <a:schemeClr val="accent5"/>
                </a:solidFill>
              </a:rPr>
              <a:t>.</a:t>
            </a:r>
            <a:endParaRPr sz="21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100"/>
              <a:t>Anche qui osserviamo un’allucinazione legata ad altri concetti, Natural Language Model, rientra nella spiegazione alla fine.</a:t>
            </a:r>
            <a:endParaRPr b="0" sz="2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100"/>
              <a:t>Il problema e’ che l’NLP correla il linguaggio naturale in modo da generare un output, l’ultima frase e’ del tutto insensata.</a:t>
            </a:r>
            <a:endParaRPr b="0" sz="2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148" name="Google Shape;148;p24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Come funziona un LLM?</a:t>
            </a:r>
            <a:endParaRPr/>
          </a:p>
        </p:txBody>
      </p:sp>
      <p:grpSp>
        <p:nvGrpSpPr>
          <p:cNvPr id="150" name="Google Shape;150;p24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51" name="Google Shape;151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52" name="Google Shape;152;p24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24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Cerchiamo di fare delle supposizioni riguardo l’argomento.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158" name="Google Shape;158;p25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5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LLM accetta un input testuale.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L’input viene chiamato prompt.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164" name="Google Shape;164;p26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 prompt viene diviso in una serie di pacchetti piú piccoli chiamati “tokens”.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170" name="Google Shape;170;p27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>
            <p:ph type="title"/>
          </p:nvPr>
        </p:nvSpPr>
        <p:spPr>
          <a:xfrm>
            <a:off x="283099" y="712150"/>
            <a:ext cx="84147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Ogni token rappresenta un’informazione “parziale”.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Ció significa che piú token formano un’informazione “comprensibile” per l’uomo.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176" name="Google Shape;176;p28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 txBox="1"/>
          <p:nvPr>
            <p:ph type="title"/>
          </p:nvPr>
        </p:nvSpPr>
        <p:spPr>
          <a:xfrm>
            <a:off x="283099" y="712150"/>
            <a:ext cx="84147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Ogni token viene inviato all’LLM che lo reindirizza al suo interno.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182" name="Google Shape;182;p29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>
            <p:ph type="title"/>
          </p:nvPr>
        </p:nvSpPr>
        <p:spPr>
          <a:xfrm>
            <a:off x="283099" y="712150"/>
            <a:ext cx="84147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Il funzionamento proprio di una LLM è paragonabile a quello del cervello umano, in cui un segnale raggiunge un neurone per poi essere inviata al neurone successivo.</a:t>
            </a:r>
            <a:endParaRPr sz="4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188" name="Google Shape;188;p30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0"/>
          <p:cNvSpPr txBox="1"/>
          <p:nvPr>
            <p:ph type="title"/>
          </p:nvPr>
        </p:nvSpPr>
        <p:spPr>
          <a:xfrm>
            <a:off x="283099" y="712150"/>
            <a:ext cx="84147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questo caso i “neuroni” sono nodi che rispondono ai token in modo specifico.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194" name="Google Shape;194;p31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1"/>
          <p:cNvSpPr txBox="1"/>
          <p:nvPr>
            <p:ph type="title"/>
          </p:nvPr>
        </p:nvSpPr>
        <p:spPr>
          <a:xfrm>
            <a:off x="283099" y="712150"/>
            <a:ext cx="84147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Ogni risposta viene poi inviata ad un set di nodi seguente, finché la “LLM” é soddisfatta della risposta.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200" name="Google Shape;200;p32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/>
          <p:nvPr>
            <p:ph type="title"/>
          </p:nvPr>
        </p:nvSpPr>
        <p:spPr>
          <a:xfrm>
            <a:off x="283099" y="712150"/>
            <a:ext cx="84147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Esistono diversi sistemi che portano l’IA a fornire risposte, questi non verranno affrontati.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206" name="Google Shape;206;p33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3"/>
          <p:cNvSpPr txBox="1"/>
          <p:nvPr>
            <p:ph type="title"/>
          </p:nvPr>
        </p:nvSpPr>
        <p:spPr>
          <a:xfrm>
            <a:off x="283099" y="712150"/>
            <a:ext cx="84147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Peró é utile sapere che nella maggior parte dei modelli attualmente “in voga”, quando forniamo un prompt, la IA chiede a se stessa cosa significhi il prompt.</a:t>
            </a:r>
            <a:endParaRPr sz="4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