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Raleway"/>
      <p:regular r:id="rId21"/>
      <p:bold r:id="rId22"/>
      <p:italic r:id="rId23"/>
      <p:boldItalic r:id="rId24"/>
    </p:embeddedFont>
    <p:embeddedFont>
      <p:font typeface="La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aleway-bold.fntdata"/><Relationship Id="rId21" Type="http://schemas.openxmlformats.org/officeDocument/2006/relationships/font" Target="fonts/Raleway-regular.fntdata"/><Relationship Id="rId24" Type="http://schemas.openxmlformats.org/officeDocument/2006/relationships/font" Target="fonts/Raleway-boldItalic.fntdata"/><Relationship Id="rId23" Type="http://schemas.openxmlformats.org/officeDocument/2006/relationships/font" Target="fonts/Raleway-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cb9a0b07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cb9a0b07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385d7b9ce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385d7b9ce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385d7b9ce8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385d7b9ce8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385d7b9ce8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385d7b9ce8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d970c7fbfa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d970c7fbfa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9f7617e4c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9f7617e4c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9f7617e4c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9f7617e4c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9f7617e4cb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9f7617e4cb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9f7617e4c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9f7617e4c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9f7617e4cb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9f7617e4cb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9f7617e4cb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9f7617e4cb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9f7617e4cb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9f7617e4cb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9f7617e4cb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9f7617e4cb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a090997a3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a090997a3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a090997a3d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a090997a3d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4800"/>
              <a:buNone/>
              <a:defRPr sz="4800">
                <a:solidFill>
                  <a:schemeClr val="lt1"/>
                </a:solidFill>
              </a:defRPr>
            </a:lvl1pPr>
            <a:lvl2pPr lvl="1" rtl="0" algn="ctr">
              <a:spcBef>
                <a:spcPts val="0"/>
              </a:spcBef>
              <a:spcAft>
                <a:spcPts val="0"/>
              </a:spcAft>
              <a:buClr>
                <a:schemeClr val="lt1"/>
              </a:buClr>
              <a:buSzPts val="4800"/>
              <a:buNone/>
              <a:defRPr sz="4800">
                <a:solidFill>
                  <a:schemeClr val="lt1"/>
                </a:solidFill>
              </a:defRPr>
            </a:lvl2pPr>
            <a:lvl3pPr lvl="2" rtl="0" algn="ctr">
              <a:spcBef>
                <a:spcPts val="0"/>
              </a:spcBef>
              <a:spcAft>
                <a:spcPts val="0"/>
              </a:spcAft>
              <a:buClr>
                <a:schemeClr val="lt1"/>
              </a:buClr>
              <a:buSzPts val="4800"/>
              <a:buNone/>
              <a:defRPr sz="4800">
                <a:solidFill>
                  <a:schemeClr val="lt1"/>
                </a:solidFill>
              </a:defRPr>
            </a:lvl3pPr>
            <a:lvl4pPr lvl="3" rtl="0" algn="ctr">
              <a:spcBef>
                <a:spcPts val="0"/>
              </a:spcBef>
              <a:spcAft>
                <a:spcPts val="0"/>
              </a:spcAft>
              <a:buClr>
                <a:schemeClr val="lt1"/>
              </a:buClr>
              <a:buSzPts val="4800"/>
              <a:buNone/>
              <a:defRPr sz="4800">
                <a:solidFill>
                  <a:schemeClr val="lt1"/>
                </a:solidFill>
              </a:defRPr>
            </a:lvl4pPr>
            <a:lvl5pPr lvl="4" rtl="0" algn="ctr">
              <a:spcBef>
                <a:spcPts val="0"/>
              </a:spcBef>
              <a:spcAft>
                <a:spcPts val="0"/>
              </a:spcAft>
              <a:buClr>
                <a:schemeClr val="lt1"/>
              </a:buClr>
              <a:buSzPts val="4800"/>
              <a:buNone/>
              <a:defRPr sz="4800">
                <a:solidFill>
                  <a:schemeClr val="lt1"/>
                </a:solidFill>
              </a:defRPr>
            </a:lvl5pPr>
            <a:lvl6pPr lvl="5" rtl="0" algn="ctr">
              <a:spcBef>
                <a:spcPts val="0"/>
              </a:spcBef>
              <a:spcAft>
                <a:spcPts val="0"/>
              </a:spcAft>
              <a:buClr>
                <a:schemeClr val="lt1"/>
              </a:buClr>
              <a:buSzPts val="4800"/>
              <a:buNone/>
              <a:defRPr sz="4800">
                <a:solidFill>
                  <a:schemeClr val="lt1"/>
                </a:solidFill>
              </a:defRPr>
            </a:lvl6pPr>
            <a:lvl7pPr lvl="6" rtl="0" algn="ctr">
              <a:spcBef>
                <a:spcPts val="0"/>
              </a:spcBef>
              <a:spcAft>
                <a:spcPts val="0"/>
              </a:spcAft>
              <a:buClr>
                <a:schemeClr val="lt1"/>
              </a:buClr>
              <a:buSzPts val="4800"/>
              <a:buNone/>
              <a:defRPr sz="4800">
                <a:solidFill>
                  <a:schemeClr val="lt1"/>
                </a:solidFill>
              </a:defRPr>
            </a:lvl7pPr>
            <a:lvl8pPr lvl="7" rtl="0" algn="ctr">
              <a:spcBef>
                <a:spcPts val="0"/>
              </a:spcBef>
              <a:spcAft>
                <a:spcPts val="0"/>
              </a:spcAft>
              <a:buClr>
                <a:schemeClr val="lt1"/>
              </a:buClr>
              <a:buSzPts val="4800"/>
              <a:buNone/>
              <a:defRPr sz="4800">
                <a:solidFill>
                  <a:schemeClr val="lt1"/>
                </a:solidFill>
              </a:defRPr>
            </a:lvl8pPr>
            <a:lvl9pPr lvl="8" rtl="0"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353535"/>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1"/>
              </a:buClr>
              <a:buSzPts val="3600"/>
              <a:buNone/>
              <a:defRPr sz="3600">
                <a:solidFill>
                  <a:schemeClr val="dk1"/>
                </a:solidFill>
              </a:defRPr>
            </a:lvl1pPr>
            <a:lvl2pPr lvl="1" rtl="0" algn="ctr">
              <a:spcBef>
                <a:spcPts val="0"/>
              </a:spcBef>
              <a:spcAft>
                <a:spcPts val="0"/>
              </a:spcAft>
              <a:buClr>
                <a:schemeClr val="dk1"/>
              </a:buClr>
              <a:buSzPts val="3600"/>
              <a:buNone/>
              <a:defRPr sz="3600">
                <a:solidFill>
                  <a:schemeClr val="dk1"/>
                </a:solidFill>
              </a:defRPr>
            </a:lvl2pPr>
            <a:lvl3pPr lvl="2" rtl="0" algn="ctr">
              <a:spcBef>
                <a:spcPts val="0"/>
              </a:spcBef>
              <a:spcAft>
                <a:spcPts val="0"/>
              </a:spcAft>
              <a:buClr>
                <a:schemeClr val="dk1"/>
              </a:buClr>
              <a:buSzPts val="3600"/>
              <a:buNone/>
              <a:defRPr sz="3600">
                <a:solidFill>
                  <a:schemeClr val="dk1"/>
                </a:solidFill>
              </a:defRPr>
            </a:lvl3pPr>
            <a:lvl4pPr lvl="3" rtl="0" algn="ctr">
              <a:spcBef>
                <a:spcPts val="0"/>
              </a:spcBef>
              <a:spcAft>
                <a:spcPts val="0"/>
              </a:spcAft>
              <a:buClr>
                <a:schemeClr val="dk1"/>
              </a:buClr>
              <a:buSzPts val="3600"/>
              <a:buNone/>
              <a:defRPr sz="3600">
                <a:solidFill>
                  <a:schemeClr val="dk1"/>
                </a:solidFill>
              </a:defRPr>
            </a:lvl4pPr>
            <a:lvl5pPr lvl="4" rtl="0" algn="ctr">
              <a:spcBef>
                <a:spcPts val="0"/>
              </a:spcBef>
              <a:spcAft>
                <a:spcPts val="0"/>
              </a:spcAft>
              <a:buClr>
                <a:schemeClr val="dk1"/>
              </a:buClr>
              <a:buSzPts val="3600"/>
              <a:buNone/>
              <a:defRPr sz="3600">
                <a:solidFill>
                  <a:schemeClr val="dk1"/>
                </a:solidFill>
              </a:defRPr>
            </a:lvl5pPr>
            <a:lvl6pPr lvl="5" rtl="0" algn="ctr">
              <a:spcBef>
                <a:spcPts val="0"/>
              </a:spcBef>
              <a:spcAft>
                <a:spcPts val="0"/>
              </a:spcAft>
              <a:buClr>
                <a:schemeClr val="dk1"/>
              </a:buClr>
              <a:buSzPts val="3600"/>
              <a:buNone/>
              <a:defRPr sz="3600">
                <a:solidFill>
                  <a:schemeClr val="dk1"/>
                </a:solidFill>
              </a:defRPr>
            </a:lvl6pPr>
            <a:lvl7pPr lvl="6" rtl="0" algn="ctr">
              <a:spcBef>
                <a:spcPts val="0"/>
              </a:spcBef>
              <a:spcAft>
                <a:spcPts val="0"/>
              </a:spcAft>
              <a:buClr>
                <a:schemeClr val="dk1"/>
              </a:buClr>
              <a:buSzPts val="3600"/>
              <a:buNone/>
              <a:defRPr sz="3600">
                <a:solidFill>
                  <a:schemeClr val="dk1"/>
                </a:solidFill>
              </a:defRPr>
            </a:lvl7pPr>
            <a:lvl8pPr lvl="7" rtl="0" algn="ctr">
              <a:spcBef>
                <a:spcPts val="0"/>
              </a:spcBef>
              <a:spcAft>
                <a:spcPts val="0"/>
              </a:spcAft>
              <a:buClr>
                <a:schemeClr val="dk1"/>
              </a:buClr>
              <a:buSzPts val="3600"/>
              <a:buNone/>
              <a:defRPr sz="3600">
                <a:solidFill>
                  <a:schemeClr val="dk1"/>
                </a:solidFill>
              </a:defRPr>
            </a:lvl8pPr>
            <a:lvl9pPr lvl="8" rtl="0"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rtl="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Lato"/>
                <a:ea typeface="Lato"/>
                <a:cs typeface="Lato"/>
                <a:sym typeface="Lato"/>
              </a:defRPr>
            </a:lvl1pPr>
            <a:lvl2pPr lvl="1" rtl="0" algn="r">
              <a:buNone/>
              <a:defRPr sz="1000">
                <a:solidFill>
                  <a:schemeClr val="dk2"/>
                </a:solidFill>
                <a:latin typeface="Lato"/>
                <a:ea typeface="Lato"/>
                <a:cs typeface="Lato"/>
                <a:sym typeface="Lato"/>
              </a:defRPr>
            </a:lvl2pPr>
            <a:lvl3pPr lvl="2" rtl="0" algn="r">
              <a:buNone/>
              <a:defRPr sz="1000">
                <a:solidFill>
                  <a:schemeClr val="dk2"/>
                </a:solidFill>
                <a:latin typeface="Lato"/>
                <a:ea typeface="Lato"/>
                <a:cs typeface="Lato"/>
                <a:sym typeface="Lato"/>
              </a:defRPr>
            </a:lvl3pPr>
            <a:lvl4pPr lvl="3" rtl="0" algn="r">
              <a:buNone/>
              <a:defRPr sz="1000">
                <a:solidFill>
                  <a:schemeClr val="dk2"/>
                </a:solidFill>
                <a:latin typeface="Lato"/>
                <a:ea typeface="Lato"/>
                <a:cs typeface="Lato"/>
                <a:sym typeface="Lato"/>
              </a:defRPr>
            </a:lvl4pPr>
            <a:lvl5pPr lvl="4" rtl="0" algn="r">
              <a:buNone/>
              <a:defRPr sz="1000">
                <a:solidFill>
                  <a:schemeClr val="dk2"/>
                </a:solidFill>
                <a:latin typeface="Lato"/>
                <a:ea typeface="Lato"/>
                <a:cs typeface="Lato"/>
                <a:sym typeface="Lato"/>
              </a:defRPr>
            </a:lvl5pPr>
            <a:lvl6pPr lvl="5" rtl="0" algn="r">
              <a:buNone/>
              <a:defRPr sz="1000">
                <a:solidFill>
                  <a:schemeClr val="dk2"/>
                </a:solidFill>
                <a:latin typeface="Lato"/>
                <a:ea typeface="Lato"/>
                <a:cs typeface="Lato"/>
                <a:sym typeface="Lato"/>
              </a:defRPr>
            </a:lvl6pPr>
            <a:lvl7pPr lvl="6" rtl="0" algn="r">
              <a:buNone/>
              <a:defRPr sz="1000">
                <a:solidFill>
                  <a:schemeClr val="dk2"/>
                </a:solidFill>
                <a:latin typeface="Lato"/>
                <a:ea typeface="Lato"/>
                <a:cs typeface="Lato"/>
                <a:sym typeface="Lato"/>
              </a:defRPr>
            </a:lvl7pPr>
            <a:lvl8pPr lvl="7" rtl="0" algn="r">
              <a:buNone/>
              <a:defRPr sz="1000">
                <a:solidFill>
                  <a:schemeClr val="dk2"/>
                </a:solidFill>
                <a:latin typeface="Lato"/>
                <a:ea typeface="Lato"/>
                <a:cs typeface="Lato"/>
                <a:sym typeface="Lato"/>
              </a:defRPr>
            </a:lvl8pPr>
            <a:lvl9pPr lvl="8" rtl="0"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hyperlink" Target="http://www.youtube.com/watch?v=xEdZwLRJttQ" TargetMode="External"/><Relationship Id="rId7"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7.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06666"/>
        </a:solidFill>
      </p:bgPr>
    </p:bg>
    <p:spTree>
      <p:nvGrpSpPr>
        <p:cNvPr id="71" name="Shape 71"/>
        <p:cNvGrpSpPr/>
        <p:nvPr/>
      </p:nvGrpSpPr>
      <p:grpSpPr>
        <a:xfrm>
          <a:off x="0" y="0"/>
          <a:ext cx="0" cy="0"/>
          <a:chOff x="0" y="0"/>
          <a:chExt cx="0" cy="0"/>
        </a:xfrm>
      </p:grpSpPr>
      <p:sp>
        <p:nvSpPr>
          <p:cNvPr id="72" name="Google Shape;72;p13"/>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Corso di Formazione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4"/>
          <p:cNvSpPr txBox="1"/>
          <p:nvPr>
            <p:ph idx="4294967295" type="title"/>
          </p:nvPr>
        </p:nvSpPr>
        <p:spPr>
          <a:xfrm>
            <a:off x="535775" y="712150"/>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rgbClr val="E06666"/>
                </a:solidFill>
              </a:rPr>
              <a:t>Contenuti del corso</a:t>
            </a:r>
            <a:endParaRPr sz="2400">
              <a:solidFill>
                <a:srgbClr val="E06666"/>
              </a:solidFill>
            </a:endParaRPr>
          </a:p>
        </p:txBody>
      </p:sp>
      <p:sp>
        <p:nvSpPr>
          <p:cNvPr id="78" name="Google Shape;78;p14"/>
          <p:cNvSpPr txBox="1"/>
          <p:nvPr>
            <p:ph idx="4294967295" type="title"/>
          </p:nvPr>
        </p:nvSpPr>
        <p:spPr>
          <a:xfrm>
            <a:off x="535775" y="1480150"/>
            <a:ext cx="5197200" cy="3067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0" lang="en" sz="1800">
                <a:latin typeface="Lato"/>
                <a:ea typeface="Lato"/>
                <a:cs typeface="Lato"/>
                <a:sym typeface="Lato"/>
              </a:rPr>
              <a:t>Problemi etici dell’intelligenza artificiale</a:t>
            </a:r>
            <a:endParaRPr sz="1700">
              <a:latin typeface="Lato"/>
              <a:ea typeface="Lato"/>
              <a:cs typeface="Lato"/>
              <a:sym typeface="Lato"/>
            </a:endParaRPr>
          </a:p>
        </p:txBody>
      </p:sp>
      <p:pic>
        <p:nvPicPr>
          <p:cNvPr id="79" name="Google Shape;79;p14"/>
          <p:cNvPicPr preferRelativeResize="0"/>
          <p:nvPr/>
        </p:nvPicPr>
        <p:blipFill>
          <a:blip r:embed="rId3">
            <a:alphaModFix/>
          </a:blip>
          <a:stretch>
            <a:fillRect/>
          </a:stretch>
        </p:blipFill>
        <p:spPr>
          <a:xfrm>
            <a:off x="6432750" y="2371225"/>
            <a:ext cx="2406450" cy="2406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83" name="Shape 83"/>
        <p:cNvGrpSpPr/>
        <p:nvPr/>
      </p:nvGrpSpPr>
      <p:grpSpPr>
        <a:xfrm>
          <a:off x="0" y="0"/>
          <a:ext cx="0" cy="0"/>
          <a:chOff x="0" y="0"/>
          <a:chExt cx="0" cy="0"/>
        </a:xfrm>
      </p:grpSpPr>
      <p:pic>
        <p:nvPicPr>
          <p:cNvPr id="84" name="Google Shape;84;p15"/>
          <p:cNvPicPr preferRelativeResize="0"/>
          <p:nvPr/>
        </p:nvPicPr>
        <p:blipFill>
          <a:blip r:embed="rId3">
            <a:alphaModFix/>
          </a:blip>
          <a:stretch>
            <a:fillRect/>
          </a:stretch>
        </p:blipFill>
        <p:spPr>
          <a:xfrm>
            <a:off x="0" y="401650"/>
            <a:ext cx="9143999" cy="4340206"/>
          </a:xfrm>
          <a:prstGeom prst="rect">
            <a:avLst/>
          </a:prstGeom>
          <a:noFill/>
          <a:ln>
            <a:noFill/>
          </a:ln>
        </p:spPr>
      </p:pic>
      <p:pic>
        <p:nvPicPr>
          <p:cNvPr id="85" name="Google Shape;85;p15"/>
          <p:cNvPicPr preferRelativeResize="0"/>
          <p:nvPr/>
        </p:nvPicPr>
        <p:blipFill>
          <a:blip r:embed="rId4">
            <a:alphaModFix/>
          </a:blip>
          <a:stretch>
            <a:fillRect/>
          </a:stretch>
        </p:blipFill>
        <p:spPr>
          <a:xfrm>
            <a:off x="2051137" y="162725"/>
            <a:ext cx="5041725" cy="4818049"/>
          </a:xfrm>
          <a:prstGeom prst="rect">
            <a:avLst/>
          </a:prstGeom>
          <a:noFill/>
          <a:ln>
            <a:noFill/>
          </a:ln>
        </p:spPr>
      </p:pic>
      <p:pic>
        <p:nvPicPr>
          <p:cNvPr descr="Piece of duct tape sticking a note to the slide" id="86" name="Google Shape;86;p15"/>
          <p:cNvPicPr preferRelativeResize="0"/>
          <p:nvPr/>
        </p:nvPicPr>
        <p:blipFill rotWithShape="1">
          <a:blip r:embed="rId5">
            <a:alphaModFix/>
          </a:blip>
          <a:srcRect b="10012" l="9245" r="2118" t="5926"/>
          <a:stretch/>
        </p:blipFill>
        <p:spPr>
          <a:xfrm rot="154828">
            <a:off x="3536000" y="147301"/>
            <a:ext cx="2072000" cy="736050"/>
          </a:xfrm>
          <a:prstGeom prst="rect">
            <a:avLst/>
          </a:prstGeom>
          <a:noFill/>
          <a:ln>
            <a:noFill/>
          </a:ln>
        </p:spPr>
      </p:pic>
      <p:sp>
        <p:nvSpPr>
          <p:cNvPr id="87" name="Google Shape;87;p15"/>
          <p:cNvSpPr txBox="1"/>
          <p:nvPr/>
        </p:nvSpPr>
        <p:spPr>
          <a:xfrm>
            <a:off x="2489775" y="1068400"/>
            <a:ext cx="39771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Applicazione: Self-driving cars</a:t>
            </a:r>
            <a:endParaRPr b="1" sz="3000">
              <a:solidFill>
                <a:schemeClr val="lt2"/>
              </a:solidFill>
              <a:latin typeface="Raleway"/>
              <a:ea typeface="Raleway"/>
              <a:cs typeface="Raleway"/>
              <a:sym typeface="Raleway"/>
            </a:endParaRPr>
          </a:p>
        </p:txBody>
      </p:sp>
      <p:sp>
        <p:nvSpPr>
          <p:cNvPr id="88" name="Google Shape;88;p15"/>
          <p:cNvSpPr txBox="1"/>
          <p:nvPr>
            <p:ph idx="4294967295" type="body"/>
          </p:nvPr>
        </p:nvSpPr>
        <p:spPr>
          <a:xfrm>
            <a:off x="2506500" y="1758475"/>
            <a:ext cx="41310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aleway"/>
                <a:ea typeface="Raleway"/>
                <a:cs typeface="Raleway"/>
                <a:sym typeface="Raleway"/>
              </a:rPr>
              <a:t>Le auto a guida autonoma richiedono una combinazione di diverse tecniche di intelligenza artificiale: ricerca e pianificazione per trovare il percorso più conveniente da A a B, visione artificiale per identificare gli ostacoli e capacità decisionale in condizioni di incertezza per affrontare un ambiente complesso e dinamico.</a:t>
            </a:r>
            <a:endParaRPr sz="1200">
              <a:latin typeface="Raleway"/>
              <a:ea typeface="Raleway"/>
              <a:cs typeface="Raleway"/>
              <a:sym typeface="Raleway"/>
            </a:endParaRPr>
          </a:p>
          <a:p>
            <a:pPr indent="0" lvl="0" marL="0" rtl="0" algn="l">
              <a:spcBef>
                <a:spcPts val="1000"/>
              </a:spcBef>
              <a:spcAft>
                <a:spcPts val="0"/>
              </a:spcAft>
              <a:buNone/>
            </a:pPr>
            <a:r>
              <a:rPr lang="en" sz="1200">
                <a:latin typeface="Raleway"/>
                <a:ea typeface="Raleway"/>
                <a:cs typeface="Raleway"/>
                <a:sym typeface="Raleway"/>
              </a:rPr>
              <a:t>Ognuna di queste tecnologie deve funzionare con una precisione quasi perfetta per evitare incidenti.</a:t>
            </a:r>
            <a:endParaRPr sz="1200">
              <a:latin typeface="Raleway"/>
              <a:ea typeface="Raleway"/>
              <a:cs typeface="Raleway"/>
              <a:sym typeface="Raleway"/>
            </a:endParaRPr>
          </a:p>
          <a:p>
            <a:pPr indent="0" lvl="0" marL="0" rtl="0" algn="l">
              <a:spcBef>
                <a:spcPts val="1000"/>
              </a:spcBef>
              <a:spcAft>
                <a:spcPts val="1000"/>
              </a:spcAft>
              <a:buNone/>
            </a:pPr>
            <a:r>
              <a:rPr lang="en" sz="1200">
                <a:latin typeface="Raleway"/>
                <a:ea typeface="Raleway"/>
                <a:cs typeface="Raleway"/>
                <a:sym typeface="Raleway"/>
              </a:rPr>
              <a:t>Le stesse tecnologie vengono utilizzate anche in altri sistemi autonomi, come robot per le consegne, droni volanti e navi autonome.</a:t>
            </a:r>
            <a:endParaRPr sz="1200">
              <a:latin typeface="Raleway"/>
              <a:ea typeface="Raleway"/>
              <a:cs typeface="Raleway"/>
              <a:sym typeface="Ralewa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92" name="Shape 92"/>
        <p:cNvGrpSpPr/>
        <p:nvPr/>
      </p:nvGrpSpPr>
      <p:grpSpPr>
        <a:xfrm>
          <a:off x="0" y="0"/>
          <a:ext cx="0" cy="0"/>
          <a:chOff x="0" y="0"/>
          <a:chExt cx="0" cy="0"/>
        </a:xfrm>
      </p:grpSpPr>
      <p:pic>
        <p:nvPicPr>
          <p:cNvPr id="93" name="Google Shape;93;p16"/>
          <p:cNvPicPr preferRelativeResize="0"/>
          <p:nvPr/>
        </p:nvPicPr>
        <p:blipFill>
          <a:blip r:embed="rId3">
            <a:alphaModFix/>
          </a:blip>
          <a:stretch>
            <a:fillRect/>
          </a:stretch>
        </p:blipFill>
        <p:spPr>
          <a:xfrm>
            <a:off x="0" y="401650"/>
            <a:ext cx="9143999" cy="4340206"/>
          </a:xfrm>
          <a:prstGeom prst="rect">
            <a:avLst/>
          </a:prstGeom>
          <a:noFill/>
          <a:ln>
            <a:noFill/>
          </a:ln>
        </p:spPr>
      </p:pic>
      <p:pic>
        <p:nvPicPr>
          <p:cNvPr id="94" name="Google Shape;94;p16"/>
          <p:cNvPicPr preferRelativeResize="0"/>
          <p:nvPr/>
        </p:nvPicPr>
        <p:blipFill>
          <a:blip r:embed="rId4">
            <a:alphaModFix/>
          </a:blip>
          <a:stretch>
            <a:fillRect/>
          </a:stretch>
        </p:blipFill>
        <p:spPr>
          <a:xfrm>
            <a:off x="2051137" y="162725"/>
            <a:ext cx="5041725" cy="4818049"/>
          </a:xfrm>
          <a:prstGeom prst="rect">
            <a:avLst/>
          </a:prstGeom>
          <a:noFill/>
          <a:ln>
            <a:noFill/>
          </a:ln>
        </p:spPr>
      </p:pic>
      <p:pic>
        <p:nvPicPr>
          <p:cNvPr descr="Piece of duct tape sticking a note to the slide" id="95" name="Google Shape;95;p16"/>
          <p:cNvPicPr preferRelativeResize="0"/>
          <p:nvPr/>
        </p:nvPicPr>
        <p:blipFill rotWithShape="1">
          <a:blip r:embed="rId5">
            <a:alphaModFix/>
          </a:blip>
          <a:srcRect b="10012" l="9245" r="2118" t="5926"/>
          <a:stretch/>
        </p:blipFill>
        <p:spPr>
          <a:xfrm rot="154828">
            <a:off x="3536000" y="147301"/>
            <a:ext cx="2072000" cy="736050"/>
          </a:xfrm>
          <a:prstGeom prst="rect">
            <a:avLst/>
          </a:prstGeom>
          <a:noFill/>
          <a:ln>
            <a:noFill/>
          </a:ln>
        </p:spPr>
      </p:pic>
      <p:sp>
        <p:nvSpPr>
          <p:cNvPr id="96" name="Google Shape;96;p16"/>
          <p:cNvSpPr txBox="1"/>
          <p:nvPr/>
        </p:nvSpPr>
        <p:spPr>
          <a:xfrm>
            <a:off x="2489775" y="1068400"/>
            <a:ext cx="39771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Applicazione: Self-driving cars</a:t>
            </a:r>
            <a:endParaRPr b="1" sz="3000">
              <a:solidFill>
                <a:schemeClr val="lt2"/>
              </a:solidFill>
              <a:latin typeface="Raleway"/>
              <a:ea typeface="Raleway"/>
              <a:cs typeface="Raleway"/>
              <a:sym typeface="Raleway"/>
            </a:endParaRPr>
          </a:p>
        </p:txBody>
      </p:sp>
      <p:sp>
        <p:nvSpPr>
          <p:cNvPr id="97" name="Google Shape;97;p16"/>
          <p:cNvSpPr txBox="1"/>
          <p:nvPr>
            <p:ph idx="4294967295" type="body"/>
          </p:nvPr>
        </p:nvSpPr>
        <p:spPr>
          <a:xfrm>
            <a:off x="2506500" y="1682275"/>
            <a:ext cx="41310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aleway"/>
                <a:ea typeface="Raleway"/>
                <a:cs typeface="Raleway"/>
                <a:sym typeface="Raleway"/>
              </a:rPr>
              <a:t>Implicazioni:</a:t>
            </a:r>
            <a:endParaRPr sz="1200">
              <a:latin typeface="Raleway"/>
              <a:ea typeface="Raleway"/>
              <a:cs typeface="Raleway"/>
              <a:sym typeface="Raleway"/>
            </a:endParaRPr>
          </a:p>
          <a:p>
            <a:pPr indent="0" lvl="0" marL="0" rtl="0" algn="l">
              <a:spcBef>
                <a:spcPts val="1000"/>
              </a:spcBef>
              <a:spcAft>
                <a:spcPts val="0"/>
              </a:spcAft>
              <a:buNone/>
            </a:pPr>
            <a:r>
              <a:rPr lang="en" sz="1200">
                <a:latin typeface="Raleway"/>
                <a:ea typeface="Raleway"/>
                <a:cs typeface="Raleway"/>
                <a:sym typeface="Raleway"/>
              </a:rPr>
              <a:t>La sicurezza stradale dovrebbe migliorare con il tempo, man mano che l'affidabilità di questi sistemi supererà quella umana. L'efficienza delle catene logistiche nel trasporto delle merci dovrebbe aumentare.</a:t>
            </a:r>
            <a:endParaRPr sz="1200">
              <a:latin typeface="Raleway"/>
              <a:ea typeface="Raleway"/>
              <a:cs typeface="Raleway"/>
              <a:sym typeface="Raleway"/>
            </a:endParaRPr>
          </a:p>
          <a:p>
            <a:pPr indent="0" lvl="0" marL="0" rtl="0" algn="l">
              <a:spcBef>
                <a:spcPts val="1000"/>
              </a:spcBef>
              <a:spcAft>
                <a:spcPts val="0"/>
              </a:spcAft>
              <a:buNone/>
            </a:pPr>
            <a:r>
              <a:rPr lang="en" sz="1200">
                <a:latin typeface="Raleway"/>
                <a:ea typeface="Raleway"/>
                <a:cs typeface="Raleway"/>
                <a:sym typeface="Raleway"/>
              </a:rPr>
              <a:t>Gli esseri umani assumeranno un ruolo di supervisione, monitorando le operazioni mentre le macchine si occuperanno della guida.</a:t>
            </a:r>
            <a:endParaRPr sz="1200">
              <a:latin typeface="Raleway"/>
              <a:ea typeface="Raleway"/>
              <a:cs typeface="Raleway"/>
              <a:sym typeface="Raleway"/>
            </a:endParaRPr>
          </a:p>
          <a:p>
            <a:pPr indent="0" lvl="0" marL="0" rtl="0" algn="l">
              <a:spcBef>
                <a:spcPts val="1000"/>
              </a:spcBef>
              <a:spcAft>
                <a:spcPts val="1000"/>
              </a:spcAft>
              <a:buClr>
                <a:schemeClr val="dk2"/>
              </a:buClr>
              <a:buSzPts val="1100"/>
              <a:buFont typeface="Arial"/>
              <a:buNone/>
            </a:pPr>
            <a:r>
              <a:rPr lang="en" sz="1200">
                <a:latin typeface="Raleway"/>
                <a:ea typeface="Raleway"/>
                <a:cs typeface="Raleway"/>
                <a:sym typeface="Raleway"/>
              </a:rPr>
              <a:t>Dato che il trasporto è un elemento cruciale della nostra vita quotidiana, è probabile che ci siano implicazioni che ancora non abbiamo nemmeno considerato.</a:t>
            </a:r>
            <a:endParaRPr sz="1200">
              <a:latin typeface="Raleway"/>
              <a:ea typeface="Raleway"/>
              <a:cs typeface="Raleway"/>
              <a:sym typeface="Ralewa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101" name="Shape 101"/>
        <p:cNvGrpSpPr/>
        <p:nvPr/>
      </p:nvGrpSpPr>
      <p:grpSpPr>
        <a:xfrm>
          <a:off x="0" y="0"/>
          <a:ext cx="0" cy="0"/>
          <a:chOff x="0" y="0"/>
          <a:chExt cx="0" cy="0"/>
        </a:xfrm>
      </p:grpSpPr>
      <p:pic>
        <p:nvPicPr>
          <p:cNvPr id="102" name="Google Shape;102;p17"/>
          <p:cNvPicPr preferRelativeResize="0"/>
          <p:nvPr/>
        </p:nvPicPr>
        <p:blipFill>
          <a:blip r:embed="rId3">
            <a:alphaModFix/>
          </a:blip>
          <a:stretch>
            <a:fillRect/>
          </a:stretch>
        </p:blipFill>
        <p:spPr>
          <a:xfrm>
            <a:off x="2444700" y="162737"/>
            <a:ext cx="4254600" cy="4818038"/>
          </a:xfrm>
          <a:prstGeom prst="rect">
            <a:avLst/>
          </a:prstGeom>
          <a:noFill/>
          <a:ln>
            <a:noFill/>
          </a:ln>
        </p:spPr>
      </p:pic>
      <p:pic>
        <p:nvPicPr>
          <p:cNvPr descr="Piece of duct tape sticking a note to the slide" id="103" name="Google Shape;103;p17"/>
          <p:cNvPicPr preferRelativeResize="0"/>
          <p:nvPr/>
        </p:nvPicPr>
        <p:blipFill rotWithShape="1">
          <a:blip r:embed="rId4">
            <a:alphaModFix/>
          </a:blip>
          <a:srcRect b="10012" l="9245" r="2118" t="5926"/>
          <a:stretch/>
        </p:blipFill>
        <p:spPr>
          <a:xfrm rot="154828">
            <a:off x="3536000" y="147301"/>
            <a:ext cx="2072000" cy="736050"/>
          </a:xfrm>
          <a:prstGeom prst="rect">
            <a:avLst/>
          </a:prstGeom>
          <a:noFill/>
          <a:ln>
            <a:noFill/>
          </a:ln>
        </p:spPr>
      </p:pic>
      <p:sp>
        <p:nvSpPr>
          <p:cNvPr id="104" name="Google Shape;104;p17"/>
          <p:cNvSpPr txBox="1"/>
          <p:nvPr/>
        </p:nvSpPr>
        <p:spPr>
          <a:xfrm>
            <a:off x="2673600" y="687400"/>
            <a:ext cx="37788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Capacità tecniche</a:t>
            </a:r>
            <a:endParaRPr b="1" sz="3000">
              <a:solidFill>
                <a:schemeClr val="lt2"/>
              </a:solidFill>
              <a:latin typeface="Raleway"/>
              <a:ea typeface="Raleway"/>
              <a:cs typeface="Raleway"/>
              <a:sym typeface="Raleway"/>
            </a:endParaRPr>
          </a:p>
        </p:txBody>
      </p:sp>
      <p:sp>
        <p:nvSpPr>
          <p:cNvPr id="105" name="Google Shape;105;p17"/>
          <p:cNvSpPr txBox="1"/>
          <p:nvPr>
            <p:ph idx="4294967295" type="body"/>
          </p:nvPr>
        </p:nvSpPr>
        <p:spPr>
          <a:xfrm>
            <a:off x="2855550" y="1377480"/>
            <a:ext cx="34329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aleway"/>
                <a:ea typeface="Raleway"/>
                <a:cs typeface="Raleway"/>
                <a:sym typeface="Raleway"/>
              </a:rPr>
              <a:t>Le </a:t>
            </a:r>
            <a:r>
              <a:rPr lang="en" sz="1200">
                <a:latin typeface="Raleway"/>
                <a:ea typeface="Raleway"/>
                <a:cs typeface="Raleway"/>
                <a:sym typeface="Raleway"/>
              </a:rPr>
              <a:t>capacità</a:t>
            </a:r>
            <a:r>
              <a:rPr lang="en" sz="1200">
                <a:latin typeface="Raleway"/>
                <a:ea typeface="Raleway"/>
                <a:cs typeface="Raleway"/>
                <a:sym typeface="Raleway"/>
              </a:rPr>
              <a:t> tecniche delle automobili guidate dall’intelligenza artificiale sono indiscutibili.</a:t>
            </a:r>
            <a:endParaRPr sz="1200">
              <a:latin typeface="Raleway"/>
              <a:ea typeface="Raleway"/>
              <a:cs typeface="Raleway"/>
              <a:sym typeface="Raleway"/>
            </a:endParaRPr>
          </a:p>
          <a:p>
            <a:pPr indent="0" lvl="0" marL="0" rtl="0" algn="l">
              <a:spcBef>
                <a:spcPts val="1000"/>
              </a:spcBef>
              <a:spcAft>
                <a:spcPts val="0"/>
              </a:spcAft>
              <a:buNone/>
            </a:pPr>
            <a:r>
              <a:rPr lang="en" sz="1200">
                <a:latin typeface="Raleway"/>
                <a:ea typeface="Raleway"/>
                <a:cs typeface="Raleway"/>
                <a:sym typeface="Raleway"/>
              </a:rPr>
              <a:t>Le IA non possono addormentarsi o distrarsi, inoltre possono utilizzare i sensori in modo </a:t>
            </a:r>
            <a:r>
              <a:rPr lang="en" sz="1200">
                <a:latin typeface="Raleway"/>
                <a:ea typeface="Raleway"/>
                <a:cs typeface="Raleway"/>
                <a:sym typeface="Raleway"/>
              </a:rPr>
              <a:t>più</a:t>
            </a:r>
            <a:r>
              <a:rPr lang="en" sz="1200">
                <a:latin typeface="Raleway"/>
                <a:ea typeface="Raleway"/>
                <a:cs typeface="Raleway"/>
                <a:sym typeface="Raleway"/>
              </a:rPr>
              <a:t> preciso.</a:t>
            </a:r>
            <a:endParaRPr sz="1200">
              <a:latin typeface="Raleway"/>
              <a:ea typeface="Raleway"/>
              <a:cs typeface="Raleway"/>
              <a:sym typeface="Raleway"/>
            </a:endParaRPr>
          </a:p>
          <a:p>
            <a:pPr indent="0" lvl="0" marL="0" rtl="0" algn="l">
              <a:spcBef>
                <a:spcPts val="1000"/>
              </a:spcBef>
              <a:spcAft>
                <a:spcPts val="1000"/>
              </a:spcAft>
              <a:buNone/>
            </a:pPr>
            <a:r>
              <a:rPr lang="en" sz="1200">
                <a:latin typeface="Raleway"/>
                <a:ea typeface="Raleway"/>
                <a:cs typeface="Raleway"/>
                <a:sym typeface="Raleway"/>
              </a:rPr>
              <a:t>Qualunque inaccuratezza di gestione del veicolo </a:t>
            </a:r>
            <a:r>
              <a:rPr lang="en" sz="1200">
                <a:latin typeface="Raleway"/>
                <a:ea typeface="Raleway"/>
                <a:cs typeface="Raleway"/>
                <a:sym typeface="Raleway"/>
              </a:rPr>
              <a:t>può</a:t>
            </a:r>
            <a:r>
              <a:rPr lang="en" sz="1200">
                <a:latin typeface="Raleway"/>
                <a:ea typeface="Raleway"/>
                <a:cs typeface="Raleway"/>
                <a:sym typeface="Raleway"/>
              </a:rPr>
              <a:t> essere migliorata con il tempo migliorando la </a:t>
            </a:r>
            <a:r>
              <a:rPr lang="en" sz="1200">
                <a:latin typeface="Raleway"/>
                <a:ea typeface="Raleway"/>
                <a:cs typeface="Raleway"/>
                <a:sym typeface="Raleway"/>
              </a:rPr>
              <a:t>qualità</a:t>
            </a:r>
            <a:r>
              <a:rPr lang="en" sz="1200">
                <a:latin typeface="Raleway"/>
                <a:ea typeface="Raleway"/>
                <a:cs typeface="Raleway"/>
                <a:sym typeface="Raleway"/>
              </a:rPr>
              <a:t> del software.</a:t>
            </a:r>
            <a:endParaRPr sz="1200">
              <a:latin typeface="Raleway"/>
              <a:ea typeface="Raleway"/>
              <a:cs typeface="Raleway"/>
              <a:sym typeface="Ralewa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109" name="Shape 109"/>
        <p:cNvGrpSpPr/>
        <p:nvPr/>
      </p:nvGrpSpPr>
      <p:grpSpPr>
        <a:xfrm>
          <a:off x="0" y="0"/>
          <a:ext cx="0" cy="0"/>
          <a:chOff x="0" y="0"/>
          <a:chExt cx="0" cy="0"/>
        </a:xfrm>
      </p:grpSpPr>
      <p:pic>
        <p:nvPicPr>
          <p:cNvPr id="110" name="Google Shape;110;p18"/>
          <p:cNvPicPr preferRelativeResize="0"/>
          <p:nvPr/>
        </p:nvPicPr>
        <p:blipFill>
          <a:blip r:embed="rId3">
            <a:alphaModFix/>
          </a:blip>
          <a:stretch>
            <a:fillRect/>
          </a:stretch>
        </p:blipFill>
        <p:spPr>
          <a:xfrm>
            <a:off x="2444700" y="162737"/>
            <a:ext cx="4254600" cy="4818038"/>
          </a:xfrm>
          <a:prstGeom prst="rect">
            <a:avLst/>
          </a:prstGeom>
          <a:noFill/>
          <a:ln>
            <a:noFill/>
          </a:ln>
        </p:spPr>
      </p:pic>
      <p:pic>
        <p:nvPicPr>
          <p:cNvPr descr="Piece of duct tape sticking a note to the slide" id="111" name="Google Shape;111;p18"/>
          <p:cNvPicPr preferRelativeResize="0"/>
          <p:nvPr/>
        </p:nvPicPr>
        <p:blipFill rotWithShape="1">
          <a:blip r:embed="rId4">
            <a:alphaModFix/>
          </a:blip>
          <a:srcRect b="10012" l="9245" r="2118" t="5926"/>
          <a:stretch/>
        </p:blipFill>
        <p:spPr>
          <a:xfrm rot="154828">
            <a:off x="3536000" y="147301"/>
            <a:ext cx="2072000" cy="736050"/>
          </a:xfrm>
          <a:prstGeom prst="rect">
            <a:avLst/>
          </a:prstGeom>
          <a:noFill/>
          <a:ln>
            <a:noFill/>
          </a:ln>
        </p:spPr>
      </p:pic>
      <p:sp>
        <p:nvSpPr>
          <p:cNvPr id="112" name="Google Shape;112;p18"/>
          <p:cNvSpPr txBox="1"/>
          <p:nvPr/>
        </p:nvSpPr>
        <p:spPr>
          <a:xfrm>
            <a:off x="2673600" y="687400"/>
            <a:ext cx="37788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Errori</a:t>
            </a:r>
            <a:endParaRPr b="1" sz="3000">
              <a:solidFill>
                <a:schemeClr val="lt2"/>
              </a:solidFill>
              <a:latin typeface="Raleway"/>
              <a:ea typeface="Raleway"/>
              <a:cs typeface="Raleway"/>
              <a:sym typeface="Raleway"/>
            </a:endParaRPr>
          </a:p>
        </p:txBody>
      </p:sp>
      <p:sp>
        <p:nvSpPr>
          <p:cNvPr id="113" name="Google Shape;113;p18"/>
          <p:cNvSpPr txBox="1"/>
          <p:nvPr>
            <p:ph idx="4294967295" type="body"/>
          </p:nvPr>
        </p:nvSpPr>
        <p:spPr>
          <a:xfrm>
            <a:off x="2855550" y="1377480"/>
            <a:ext cx="34329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aleway"/>
                <a:ea typeface="Raleway"/>
                <a:cs typeface="Raleway"/>
                <a:sym typeface="Raleway"/>
              </a:rPr>
              <a:t>Gli errori possibili che possono scaturirsi da un’intelligenza artificiale sono del tutto imprevedibili (non in modo differente da quelli commessi dall’uomo), ma la responsabilità degli eventuali incidenti deve essere assorbita da qualcuno.</a:t>
            </a:r>
            <a:endParaRPr sz="1200">
              <a:latin typeface="Raleway"/>
              <a:ea typeface="Raleway"/>
              <a:cs typeface="Raleway"/>
              <a:sym typeface="Raleway"/>
            </a:endParaRPr>
          </a:p>
          <a:p>
            <a:pPr indent="0" lvl="0" marL="0" rtl="0" algn="l">
              <a:spcBef>
                <a:spcPts val="1000"/>
              </a:spcBef>
              <a:spcAft>
                <a:spcPts val="0"/>
              </a:spcAft>
              <a:buNone/>
            </a:pPr>
            <a:r>
              <a:rPr lang="en" sz="1200">
                <a:latin typeface="Raleway"/>
                <a:ea typeface="Raleway"/>
                <a:cs typeface="Raleway"/>
                <a:sym typeface="Raleway"/>
              </a:rPr>
              <a:t>Chi?</a:t>
            </a:r>
            <a:endParaRPr sz="1200">
              <a:latin typeface="Raleway"/>
              <a:ea typeface="Raleway"/>
              <a:cs typeface="Raleway"/>
              <a:sym typeface="Raleway"/>
            </a:endParaRPr>
          </a:p>
          <a:p>
            <a:pPr indent="0" lvl="0" marL="0" rtl="0" algn="l">
              <a:spcBef>
                <a:spcPts val="1000"/>
              </a:spcBef>
              <a:spcAft>
                <a:spcPts val="0"/>
              </a:spcAft>
              <a:buNone/>
            </a:pPr>
            <a:r>
              <a:t/>
            </a:r>
            <a:endParaRPr sz="1200">
              <a:latin typeface="Raleway"/>
              <a:ea typeface="Raleway"/>
              <a:cs typeface="Raleway"/>
              <a:sym typeface="Raleway"/>
            </a:endParaRPr>
          </a:p>
          <a:p>
            <a:pPr indent="0" lvl="0" marL="0" rtl="0" algn="l">
              <a:spcBef>
                <a:spcPts val="1000"/>
              </a:spcBef>
              <a:spcAft>
                <a:spcPts val="1000"/>
              </a:spcAft>
              <a:buNone/>
            </a:pPr>
            <a:r>
              <a:rPr lang="en" sz="1200">
                <a:latin typeface="Raleway"/>
                <a:ea typeface="Raleway"/>
                <a:cs typeface="Raleway"/>
                <a:sym typeface="Raleway"/>
              </a:rPr>
              <a:t>PS nonostante la presenza di sensori, e’ impossibile avere il 100% di prevenzione degli errori.</a:t>
            </a:r>
            <a:endParaRPr sz="1200">
              <a:latin typeface="Raleway"/>
              <a:ea typeface="Raleway"/>
              <a:cs typeface="Raleway"/>
              <a:sym typeface="Raleway"/>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117" name="Shape 117"/>
        <p:cNvGrpSpPr/>
        <p:nvPr/>
      </p:nvGrpSpPr>
      <p:grpSpPr>
        <a:xfrm>
          <a:off x="0" y="0"/>
          <a:ext cx="0" cy="0"/>
          <a:chOff x="0" y="0"/>
          <a:chExt cx="0" cy="0"/>
        </a:xfrm>
      </p:grpSpPr>
      <p:pic>
        <p:nvPicPr>
          <p:cNvPr id="118" name="Google Shape;118;p19"/>
          <p:cNvPicPr preferRelativeResize="0"/>
          <p:nvPr/>
        </p:nvPicPr>
        <p:blipFill>
          <a:blip r:embed="rId3">
            <a:alphaModFix/>
          </a:blip>
          <a:stretch>
            <a:fillRect/>
          </a:stretch>
        </p:blipFill>
        <p:spPr>
          <a:xfrm>
            <a:off x="2444700" y="162737"/>
            <a:ext cx="4254600" cy="4818038"/>
          </a:xfrm>
          <a:prstGeom prst="rect">
            <a:avLst/>
          </a:prstGeom>
          <a:noFill/>
          <a:ln>
            <a:noFill/>
          </a:ln>
        </p:spPr>
      </p:pic>
      <p:pic>
        <p:nvPicPr>
          <p:cNvPr descr="Piece of duct tape sticking a note to the slide" id="119" name="Google Shape;119;p19"/>
          <p:cNvPicPr preferRelativeResize="0"/>
          <p:nvPr/>
        </p:nvPicPr>
        <p:blipFill rotWithShape="1">
          <a:blip r:embed="rId4">
            <a:alphaModFix/>
          </a:blip>
          <a:srcRect b="10012" l="9245" r="2118" t="5926"/>
          <a:stretch/>
        </p:blipFill>
        <p:spPr>
          <a:xfrm rot="154828">
            <a:off x="3536000" y="147301"/>
            <a:ext cx="2072000" cy="736050"/>
          </a:xfrm>
          <a:prstGeom prst="rect">
            <a:avLst/>
          </a:prstGeom>
          <a:noFill/>
          <a:ln>
            <a:noFill/>
          </a:ln>
        </p:spPr>
      </p:pic>
      <p:sp>
        <p:nvSpPr>
          <p:cNvPr id="120" name="Google Shape;120;p19"/>
          <p:cNvSpPr txBox="1"/>
          <p:nvPr/>
        </p:nvSpPr>
        <p:spPr>
          <a:xfrm>
            <a:off x="2673600" y="687400"/>
            <a:ext cx="37788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Chi sceglie?</a:t>
            </a:r>
            <a:endParaRPr b="1" sz="3000">
              <a:solidFill>
                <a:schemeClr val="lt2"/>
              </a:solidFill>
              <a:latin typeface="Raleway"/>
              <a:ea typeface="Raleway"/>
              <a:cs typeface="Raleway"/>
              <a:sym typeface="Raleway"/>
            </a:endParaRPr>
          </a:p>
        </p:txBody>
      </p:sp>
      <p:sp>
        <p:nvSpPr>
          <p:cNvPr id="121" name="Google Shape;121;p19"/>
          <p:cNvSpPr txBox="1"/>
          <p:nvPr>
            <p:ph idx="4294967295" type="body"/>
          </p:nvPr>
        </p:nvSpPr>
        <p:spPr>
          <a:xfrm>
            <a:off x="2855550" y="1377480"/>
            <a:ext cx="34329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aleway"/>
                <a:ea typeface="Raleway"/>
                <a:cs typeface="Raleway"/>
                <a:sym typeface="Raleway"/>
              </a:rPr>
              <a:t>In caso di un approccio multiplo ad una situazione, chi sceglie qual e’ l’azione migliore?</a:t>
            </a:r>
            <a:endParaRPr sz="1200">
              <a:latin typeface="Raleway"/>
              <a:ea typeface="Raleway"/>
              <a:cs typeface="Raleway"/>
              <a:sym typeface="Raleway"/>
            </a:endParaRPr>
          </a:p>
          <a:p>
            <a:pPr indent="0" lvl="0" marL="0" rtl="0" algn="l">
              <a:spcBef>
                <a:spcPts val="1000"/>
              </a:spcBef>
              <a:spcAft>
                <a:spcPts val="0"/>
              </a:spcAft>
              <a:buNone/>
            </a:pPr>
            <a:r>
              <a:rPr lang="en" sz="1200">
                <a:latin typeface="Raleway"/>
                <a:ea typeface="Raleway"/>
                <a:cs typeface="Raleway"/>
                <a:sym typeface="Raleway"/>
              </a:rPr>
              <a:t>Esistono una miriade di esempi in cui non esiste una risposta accurata, almeno non da un punto di vista etico.</a:t>
            </a:r>
            <a:endParaRPr sz="1200">
              <a:latin typeface="Raleway"/>
              <a:ea typeface="Raleway"/>
              <a:cs typeface="Raleway"/>
              <a:sym typeface="Raleway"/>
            </a:endParaRPr>
          </a:p>
          <a:p>
            <a:pPr indent="0" lvl="0" marL="0" rtl="0" algn="l">
              <a:spcBef>
                <a:spcPts val="1000"/>
              </a:spcBef>
              <a:spcAft>
                <a:spcPts val="0"/>
              </a:spcAft>
              <a:buNone/>
            </a:pPr>
            <a:r>
              <a:rPr lang="en" sz="1200">
                <a:latin typeface="Raleway"/>
                <a:ea typeface="Raleway"/>
                <a:cs typeface="Raleway"/>
                <a:sym typeface="Raleway"/>
              </a:rPr>
              <a:t>L’esempio </a:t>
            </a:r>
            <a:r>
              <a:rPr lang="en" sz="1200">
                <a:latin typeface="Raleway"/>
                <a:ea typeface="Raleway"/>
                <a:cs typeface="Raleway"/>
                <a:sym typeface="Raleway"/>
              </a:rPr>
              <a:t>più</a:t>
            </a:r>
            <a:r>
              <a:rPr lang="en" sz="1200">
                <a:latin typeface="Raleway"/>
                <a:ea typeface="Raleway"/>
                <a:cs typeface="Raleway"/>
                <a:sym typeface="Raleway"/>
              </a:rPr>
              <a:t> comune e’ descritto come “il dilemma del carrello”.</a:t>
            </a:r>
            <a:endParaRPr sz="1200">
              <a:latin typeface="Raleway"/>
              <a:ea typeface="Raleway"/>
              <a:cs typeface="Raleway"/>
              <a:sym typeface="Raleway"/>
            </a:endParaRPr>
          </a:p>
          <a:p>
            <a:pPr indent="0" lvl="0" marL="0" rtl="0" algn="l">
              <a:spcBef>
                <a:spcPts val="1000"/>
              </a:spcBef>
              <a:spcAft>
                <a:spcPts val="1000"/>
              </a:spcAft>
              <a:buNone/>
            </a:pPr>
            <a:r>
              <a:rPr lang="en" sz="1200">
                <a:latin typeface="Raleway"/>
                <a:ea typeface="Raleway"/>
                <a:cs typeface="Raleway"/>
                <a:sym typeface="Raleway"/>
              </a:rPr>
              <a:t>https://www.moralmachine.net/</a:t>
            </a:r>
            <a:endParaRPr sz="1200">
              <a:latin typeface="Raleway"/>
              <a:ea typeface="Raleway"/>
              <a:cs typeface="Raleway"/>
              <a:sym typeface="Ralewa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125" name="Shape 125"/>
        <p:cNvGrpSpPr/>
        <p:nvPr/>
      </p:nvGrpSpPr>
      <p:grpSpPr>
        <a:xfrm>
          <a:off x="0" y="0"/>
          <a:ext cx="0" cy="0"/>
          <a:chOff x="0" y="0"/>
          <a:chExt cx="0" cy="0"/>
        </a:xfrm>
      </p:grpSpPr>
      <p:pic>
        <p:nvPicPr>
          <p:cNvPr id="126" name="Google Shape;126;p20"/>
          <p:cNvPicPr preferRelativeResize="0"/>
          <p:nvPr/>
        </p:nvPicPr>
        <p:blipFill>
          <a:blip r:embed="rId3">
            <a:alphaModFix/>
          </a:blip>
          <a:stretch>
            <a:fillRect/>
          </a:stretch>
        </p:blipFill>
        <p:spPr>
          <a:xfrm>
            <a:off x="2444700" y="162737"/>
            <a:ext cx="4254600" cy="4818038"/>
          </a:xfrm>
          <a:prstGeom prst="rect">
            <a:avLst/>
          </a:prstGeom>
          <a:noFill/>
          <a:ln>
            <a:noFill/>
          </a:ln>
        </p:spPr>
      </p:pic>
      <p:pic>
        <p:nvPicPr>
          <p:cNvPr descr="Piece of duct tape sticking a note to the slide" id="127" name="Google Shape;127;p20"/>
          <p:cNvPicPr preferRelativeResize="0"/>
          <p:nvPr/>
        </p:nvPicPr>
        <p:blipFill rotWithShape="1">
          <a:blip r:embed="rId4">
            <a:alphaModFix/>
          </a:blip>
          <a:srcRect b="10012" l="9245" r="2118" t="5926"/>
          <a:stretch/>
        </p:blipFill>
        <p:spPr>
          <a:xfrm rot="154828">
            <a:off x="3536000" y="147301"/>
            <a:ext cx="2072000" cy="736050"/>
          </a:xfrm>
          <a:prstGeom prst="rect">
            <a:avLst/>
          </a:prstGeom>
          <a:noFill/>
          <a:ln>
            <a:noFill/>
          </a:ln>
        </p:spPr>
      </p:pic>
      <p:sp>
        <p:nvSpPr>
          <p:cNvPr id="128" name="Google Shape;128;p20"/>
          <p:cNvSpPr txBox="1"/>
          <p:nvPr/>
        </p:nvSpPr>
        <p:spPr>
          <a:xfrm>
            <a:off x="2673600" y="687400"/>
            <a:ext cx="37788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Normative</a:t>
            </a:r>
            <a:endParaRPr b="1" sz="3000">
              <a:solidFill>
                <a:schemeClr val="lt2"/>
              </a:solidFill>
              <a:latin typeface="Raleway"/>
              <a:ea typeface="Raleway"/>
              <a:cs typeface="Raleway"/>
              <a:sym typeface="Raleway"/>
            </a:endParaRPr>
          </a:p>
        </p:txBody>
      </p:sp>
      <p:sp>
        <p:nvSpPr>
          <p:cNvPr id="129" name="Google Shape;129;p20"/>
          <p:cNvSpPr txBox="1"/>
          <p:nvPr>
            <p:ph idx="4294967295" type="body"/>
          </p:nvPr>
        </p:nvSpPr>
        <p:spPr>
          <a:xfrm>
            <a:off x="2855550" y="1377480"/>
            <a:ext cx="34329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aleway"/>
                <a:ea typeface="Raleway"/>
                <a:cs typeface="Raleway"/>
                <a:sym typeface="Raleway"/>
              </a:rPr>
              <a:t>Per guidare serve la patente.</a:t>
            </a:r>
            <a:endParaRPr sz="1200">
              <a:latin typeface="Raleway"/>
              <a:ea typeface="Raleway"/>
              <a:cs typeface="Raleway"/>
              <a:sym typeface="Raleway"/>
            </a:endParaRPr>
          </a:p>
          <a:p>
            <a:pPr indent="0" lvl="0" marL="0" rtl="0" algn="l">
              <a:spcBef>
                <a:spcPts val="1000"/>
              </a:spcBef>
              <a:spcAft>
                <a:spcPts val="1000"/>
              </a:spcAft>
              <a:buNone/>
            </a:pPr>
            <a:r>
              <a:rPr lang="en" sz="1200">
                <a:latin typeface="Raleway"/>
                <a:ea typeface="Raleway"/>
                <a:cs typeface="Raleway"/>
                <a:sym typeface="Raleway"/>
              </a:rPr>
              <a:t>Chi deve possedere la patente nel caso di un’auto senza pilota?</a:t>
            </a:r>
            <a:endParaRPr sz="1200">
              <a:latin typeface="Raleway"/>
              <a:ea typeface="Raleway"/>
              <a:cs typeface="Raleway"/>
              <a:sym typeface="Raleway"/>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133" name="Shape 133"/>
        <p:cNvGrpSpPr/>
        <p:nvPr/>
      </p:nvGrpSpPr>
      <p:grpSpPr>
        <a:xfrm>
          <a:off x="0" y="0"/>
          <a:ext cx="0" cy="0"/>
          <a:chOff x="0" y="0"/>
          <a:chExt cx="0" cy="0"/>
        </a:xfrm>
      </p:grpSpPr>
      <p:pic>
        <p:nvPicPr>
          <p:cNvPr id="134" name="Google Shape;134;p21"/>
          <p:cNvPicPr preferRelativeResize="0"/>
          <p:nvPr/>
        </p:nvPicPr>
        <p:blipFill>
          <a:blip r:embed="rId3">
            <a:alphaModFix/>
          </a:blip>
          <a:stretch>
            <a:fillRect/>
          </a:stretch>
        </p:blipFill>
        <p:spPr>
          <a:xfrm>
            <a:off x="2444700" y="162737"/>
            <a:ext cx="4254600" cy="4818038"/>
          </a:xfrm>
          <a:prstGeom prst="rect">
            <a:avLst/>
          </a:prstGeom>
          <a:noFill/>
          <a:ln>
            <a:noFill/>
          </a:ln>
        </p:spPr>
      </p:pic>
      <p:pic>
        <p:nvPicPr>
          <p:cNvPr descr="Piece of duct tape sticking a note to the slide" id="135" name="Google Shape;135;p21"/>
          <p:cNvPicPr preferRelativeResize="0"/>
          <p:nvPr/>
        </p:nvPicPr>
        <p:blipFill rotWithShape="1">
          <a:blip r:embed="rId4">
            <a:alphaModFix/>
          </a:blip>
          <a:srcRect b="10012" l="9245" r="2118" t="5926"/>
          <a:stretch/>
        </p:blipFill>
        <p:spPr>
          <a:xfrm rot="154828">
            <a:off x="3536000" y="147301"/>
            <a:ext cx="2072000" cy="736050"/>
          </a:xfrm>
          <a:prstGeom prst="rect">
            <a:avLst/>
          </a:prstGeom>
          <a:noFill/>
          <a:ln>
            <a:noFill/>
          </a:ln>
        </p:spPr>
      </p:pic>
      <p:sp>
        <p:nvSpPr>
          <p:cNvPr id="136" name="Google Shape;136;p21"/>
          <p:cNvSpPr txBox="1"/>
          <p:nvPr/>
        </p:nvSpPr>
        <p:spPr>
          <a:xfrm>
            <a:off x="3664200" y="2059000"/>
            <a:ext cx="37788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Hacking</a:t>
            </a:r>
            <a:endParaRPr b="1" sz="3000">
              <a:solidFill>
                <a:schemeClr val="lt2"/>
              </a:solidFill>
              <a:latin typeface="Raleway"/>
              <a:ea typeface="Raleway"/>
              <a:cs typeface="Raleway"/>
              <a:sym typeface="Raleway"/>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140" name="Shape 140"/>
        <p:cNvGrpSpPr/>
        <p:nvPr/>
      </p:nvGrpSpPr>
      <p:grpSpPr>
        <a:xfrm>
          <a:off x="0" y="0"/>
          <a:ext cx="0" cy="0"/>
          <a:chOff x="0" y="0"/>
          <a:chExt cx="0" cy="0"/>
        </a:xfrm>
      </p:grpSpPr>
      <p:pic>
        <p:nvPicPr>
          <p:cNvPr id="141" name="Google Shape;141;p22"/>
          <p:cNvPicPr preferRelativeResize="0"/>
          <p:nvPr/>
        </p:nvPicPr>
        <p:blipFill>
          <a:blip r:embed="rId3">
            <a:alphaModFix/>
          </a:blip>
          <a:stretch>
            <a:fillRect/>
          </a:stretch>
        </p:blipFill>
        <p:spPr>
          <a:xfrm>
            <a:off x="0" y="288625"/>
            <a:ext cx="5241499" cy="4199775"/>
          </a:xfrm>
          <a:prstGeom prst="rect">
            <a:avLst/>
          </a:prstGeom>
          <a:noFill/>
          <a:ln>
            <a:noFill/>
          </a:ln>
        </p:spPr>
      </p:pic>
      <p:pic>
        <p:nvPicPr>
          <p:cNvPr id="142" name="Google Shape;142;p22"/>
          <p:cNvPicPr preferRelativeResize="0"/>
          <p:nvPr/>
        </p:nvPicPr>
        <p:blipFill>
          <a:blip r:embed="rId4">
            <a:alphaModFix/>
          </a:blip>
          <a:stretch>
            <a:fillRect/>
          </a:stretch>
        </p:blipFill>
        <p:spPr>
          <a:xfrm>
            <a:off x="2051137" y="162725"/>
            <a:ext cx="5041725" cy="4818049"/>
          </a:xfrm>
          <a:prstGeom prst="rect">
            <a:avLst/>
          </a:prstGeom>
          <a:noFill/>
          <a:ln>
            <a:noFill/>
          </a:ln>
        </p:spPr>
      </p:pic>
      <p:pic>
        <p:nvPicPr>
          <p:cNvPr descr="Piece of duct tape sticking a note to the slide" id="143" name="Google Shape;143;p22"/>
          <p:cNvPicPr preferRelativeResize="0"/>
          <p:nvPr/>
        </p:nvPicPr>
        <p:blipFill rotWithShape="1">
          <a:blip r:embed="rId5">
            <a:alphaModFix/>
          </a:blip>
          <a:srcRect b="10012" l="9245" r="2118" t="5926"/>
          <a:stretch/>
        </p:blipFill>
        <p:spPr>
          <a:xfrm rot="154828">
            <a:off x="3536000" y="147301"/>
            <a:ext cx="2072000" cy="736050"/>
          </a:xfrm>
          <a:prstGeom prst="rect">
            <a:avLst/>
          </a:prstGeom>
          <a:noFill/>
          <a:ln>
            <a:noFill/>
          </a:ln>
        </p:spPr>
      </p:pic>
      <p:sp>
        <p:nvSpPr>
          <p:cNvPr id="144" name="Google Shape;144;p22"/>
          <p:cNvSpPr txBox="1"/>
          <p:nvPr/>
        </p:nvSpPr>
        <p:spPr>
          <a:xfrm>
            <a:off x="2489775" y="794628"/>
            <a:ext cx="39771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IA come strumento</a:t>
            </a:r>
            <a:endParaRPr b="1" sz="3000">
              <a:solidFill>
                <a:schemeClr val="lt2"/>
              </a:solidFill>
              <a:latin typeface="Raleway"/>
              <a:ea typeface="Raleway"/>
              <a:cs typeface="Raleway"/>
              <a:sym typeface="Raleway"/>
            </a:endParaRPr>
          </a:p>
        </p:txBody>
      </p:sp>
      <p:pic>
        <p:nvPicPr>
          <p:cNvPr descr="AnyDesk is incredible and one of the biggest contributors in helping fight back against scammers! To learn more about AnyDesk, visit https://anydesk.com/en&#10;&#10;Follow Rachel here:&#10;X: https://www.twitter.com/racheltobac&#10;Instagram: https://www.instagram.com/racheltobac&#10;LinkedIn: https://www.LinkedIn.com/in/racheltobac&#10;https://www.socialproofsecurity.com&#10;&#10;Help us fight these scammer! Become a member today:&#10;https://www.youtube.com/channel/UCC9EjyMN_hx5NdctLBx5X7w/join&#10;&#10;#scammers #scambait #scam&#10;All of our Socials!&#10;Become a member: http://bit.ly/3uRvoEy&#10;Official Site: https://bit.ly/3RgsGoG&#10;Merch: https://bit.ly/4cT6Ql8&#10;Facebook: https://www.facebook.com/PierogiSP&#10;Twitch: http://bit.ly/3bgVGrX&#10;Twitter: https://bit.ly/3c00Jw5&#10;Instagram: https://bit.ly/3c0ZnkS&#10;&#10;&#10;Scammers typically target the elderly and attempt to steal money by several means.&#10;1. Your Bank Saving or Checking accounts&#10;2. Investment accounts or 401k retirement funds&#10;3. Credit and Debit cards&#10;4. Purchasing Gift cards&#10;5. Cash withdrawls &#10;6. Cryptocurrency &#10;&#10;Scammers are ruthless criminals that have no problem stealing every last dime from their victims bank accounts. Please protect yourself as well as family members who might not be familiar with these type of scams." id="145" name="Google Shape;145;p22" title="Social Engineer: YOU are Easier to Hack than your Computer">
            <a:hlinkClick r:id="rId6"/>
          </p:cNvPr>
          <p:cNvPicPr preferRelativeResize="0"/>
          <p:nvPr/>
        </p:nvPicPr>
        <p:blipFill>
          <a:blip r:embed="rId7">
            <a:alphaModFix/>
          </a:blip>
          <a:stretch>
            <a:fillRect/>
          </a:stretch>
        </p:blipFill>
        <p:spPr>
          <a:xfrm>
            <a:off x="2555950" y="1680050"/>
            <a:ext cx="4032100" cy="22680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1000"/>
                                        <p:tgtEl>
                                          <p:spTgt spid="1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149" name="Shape 149"/>
        <p:cNvGrpSpPr/>
        <p:nvPr/>
      </p:nvGrpSpPr>
      <p:grpSpPr>
        <a:xfrm>
          <a:off x="0" y="0"/>
          <a:ext cx="0" cy="0"/>
          <a:chOff x="0" y="0"/>
          <a:chExt cx="0" cy="0"/>
        </a:xfrm>
      </p:grpSpPr>
      <p:pic>
        <p:nvPicPr>
          <p:cNvPr id="150" name="Google Shape;150;p23"/>
          <p:cNvPicPr preferRelativeResize="0"/>
          <p:nvPr/>
        </p:nvPicPr>
        <p:blipFill>
          <a:blip r:embed="rId3">
            <a:alphaModFix/>
          </a:blip>
          <a:stretch>
            <a:fillRect/>
          </a:stretch>
        </p:blipFill>
        <p:spPr>
          <a:xfrm>
            <a:off x="0" y="288625"/>
            <a:ext cx="5241499" cy="4199775"/>
          </a:xfrm>
          <a:prstGeom prst="rect">
            <a:avLst/>
          </a:prstGeom>
          <a:noFill/>
          <a:ln>
            <a:noFill/>
          </a:ln>
        </p:spPr>
      </p:pic>
      <p:pic>
        <p:nvPicPr>
          <p:cNvPr id="151" name="Google Shape;151;p23"/>
          <p:cNvPicPr preferRelativeResize="0"/>
          <p:nvPr/>
        </p:nvPicPr>
        <p:blipFill>
          <a:blip r:embed="rId4">
            <a:alphaModFix/>
          </a:blip>
          <a:stretch>
            <a:fillRect/>
          </a:stretch>
        </p:blipFill>
        <p:spPr>
          <a:xfrm>
            <a:off x="2051137" y="162725"/>
            <a:ext cx="5041725" cy="4818049"/>
          </a:xfrm>
          <a:prstGeom prst="rect">
            <a:avLst/>
          </a:prstGeom>
          <a:noFill/>
          <a:ln>
            <a:noFill/>
          </a:ln>
        </p:spPr>
      </p:pic>
      <p:pic>
        <p:nvPicPr>
          <p:cNvPr descr="Piece of duct tape sticking a note to the slide" id="152" name="Google Shape;152;p23"/>
          <p:cNvPicPr preferRelativeResize="0"/>
          <p:nvPr/>
        </p:nvPicPr>
        <p:blipFill rotWithShape="1">
          <a:blip r:embed="rId5">
            <a:alphaModFix/>
          </a:blip>
          <a:srcRect b="10012" l="9245" r="2118" t="5926"/>
          <a:stretch/>
        </p:blipFill>
        <p:spPr>
          <a:xfrm rot="154828">
            <a:off x="3536000" y="147301"/>
            <a:ext cx="2072000" cy="736050"/>
          </a:xfrm>
          <a:prstGeom prst="rect">
            <a:avLst/>
          </a:prstGeom>
          <a:noFill/>
          <a:ln>
            <a:noFill/>
          </a:ln>
        </p:spPr>
      </p:pic>
      <p:sp>
        <p:nvSpPr>
          <p:cNvPr id="153" name="Google Shape;153;p23"/>
          <p:cNvSpPr txBox="1"/>
          <p:nvPr/>
        </p:nvSpPr>
        <p:spPr>
          <a:xfrm>
            <a:off x="2489775" y="763600"/>
            <a:ext cx="39771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Deep fakes</a:t>
            </a:r>
            <a:endParaRPr b="1" sz="3000">
              <a:solidFill>
                <a:schemeClr val="lt2"/>
              </a:solidFill>
              <a:latin typeface="Raleway"/>
              <a:ea typeface="Raleway"/>
              <a:cs typeface="Raleway"/>
              <a:sym typeface="Raleway"/>
            </a:endParaRPr>
          </a:p>
        </p:txBody>
      </p:sp>
      <p:sp>
        <p:nvSpPr>
          <p:cNvPr id="154" name="Google Shape;154;p23"/>
          <p:cNvSpPr txBox="1"/>
          <p:nvPr>
            <p:ph idx="4294967295" type="body"/>
          </p:nvPr>
        </p:nvSpPr>
        <p:spPr>
          <a:xfrm>
            <a:off x="2506500" y="1758475"/>
            <a:ext cx="41310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aleway"/>
                <a:ea typeface="Raleway"/>
                <a:cs typeface="Raleway"/>
                <a:sym typeface="Raleway"/>
              </a:rPr>
              <a:t>Il deepfake (parola coniata nel 2017) è una tecnica per la sintesi dell'immagine umana fondata sull'intelligenza artificiale, usata per combinare e sovrapporre immagini e video esistenti con video o immagini originali con una tecnica di apprendimento automatico, conosciuta come rete antagonista generativa.</a:t>
            </a:r>
            <a:endParaRPr sz="1200">
              <a:latin typeface="Raleway"/>
              <a:ea typeface="Raleway"/>
              <a:cs typeface="Raleway"/>
              <a:sym typeface="Raleway"/>
            </a:endParaRPr>
          </a:p>
          <a:p>
            <a:pPr indent="0" lvl="0" marL="0" rtl="0" algn="r">
              <a:spcBef>
                <a:spcPts val="1000"/>
              </a:spcBef>
              <a:spcAft>
                <a:spcPts val="1000"/>
              </a:spcAft>
              <a:buNone/>
            </a:pPr>
            <a:r>
              <a:rPr lang="en" sz="1200">
                <a:latin typeface="Raleway"/>
                <a:ea typeface="Raleway"/>
                <a:cs typeface="Raleway"/>
                <a:sym typeface="Raleway"/>
              </a:rPr>
              <a:t>[Wikipedia]</a:t>
            </a:r>
            <a:endParaRPr sz="1200">
              <a:latin typeface="Raleway"/>
              <a:ea typeface="Raleway"/>
              <a:cs typeface="Raleway"/>
              <a:sym typeface="Raleway"/>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158" name="Shape 158"/>
        <p:cNvGrpSpPr/>
        <p:nvPr/>
      </p:nvGrpSpPr>
      <p:grpSpPr>
        <a:xfrm>
          <a:off x="0" y="0"/>
          <a:ext cx="0" cy="0"/>
          <a:chOff x="0" y="0"/>
          <a:chExt cx="0" cy="0"/>
        </a:xfrm>
      </p:grpSpPr>
      <p:pic>
        <p:nvPicPr>
          <p:cNvPr id="159" name="Google Shape;159;p24"/>
          <p:cNvPicPr preferRelativeResize="0"/>
          <p:nvPr/>
        </p:nvPicPr>
        <p:blipFill>
          <a:blip r:embed="rId3">
            <a:alphaModFix/>
          </a:blip>
          <a:stretch>
            <a:fillRect/>
          </a:stretch>
        </p:blipFill>
        <p:spPr>
          <a:xfrm>
            <a:off x="0" y="288625"/>
            <a:ext cx="5241499" cy="4199775"/>
          </a:xfrm>
          <a:prstGeom prst="rect">
            <a:avLst/>
          </a:prstGeom>
          <a:noFill/>
          <a:ln>
            <a:noFill/>
          </a:ln>
        </p:spPr>
      </p:pic>
      <p:pic>
        <p:nvPicPr>
          <p:cNvPr id="160" name="Google Shape;160;p24"/>
          <p:cNvPicPr preferRelativeResize="0"/>
          <p:nvPr/>
        </p:nvPicPr>
        <p:blipFill>
          <a:blip r:embed="rId4">
            <a:alphaModFix/>
          </a:blip>
          <a:stretch>
            <a:fillRect/>
          </a:stretch>
        </p:blipFill>
        <p:spPr>
          <a:xfrm>
            <a:off x="2051137" y="162725"/>
            <a:ext cx="5041725" cy="4818049"/>
          </a:xfrm>
          <a:prstGeom prst="rect">
            <a:avLst/>
          </a:prstGeom>
          <a:noFill/>
          <a:ln>
            <a:noFill/>
          </a:ln>
        </p:spPr>
      </p:pic>
      <p:pic>
        <p:nvPicPr>
          <p:cNvPr descr="Piece of duct tape sticking a note to the slide" id="161" name="Google Shape;161;p24"/>
          <p:cNvPicPr preferRelativeResize="0"/>
          <p:nvPr/>
        </p:nvPicPr>
        <p:blipFill rotWithShape="1">
          <a:blip r:embed="rId5">
            <a:alphaModFix/>
          </a:blip>
          <a:srcRect b="10012" l="9245" r="2118" t="5926"/>
          <a:stretch/>
        </p:blipFill>
        <p:spPr>
          <a:xfrm rot="154828">
            <a:off x="3536000" y="147301"/>
            <a:ext cx="2072000" cy="736050"/>
          </a:xfrm>
          <a:prstGeom prst="rect">
            <a:avLst/>
          </a:prstGeom>
          <a:noFill/>
          <a:ln>
            <a:noFill/>
          </a:ln>
        </p:spPr>
      </p:pic>
      <p:sp>
        <p:nvSpPr>
          <p:cNvPr id="162" name="Google Shape;162;p24"/>
          <p:cNvSpPr txBox="1"/>
          <p:nvPr/>
        </p:nvSpPr>
        <p:spPr>
          <a:xfrm>
            <a:off x="2489775" y="763600"/>
            <a:ext cx="39771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Deep fakes</a:t>
            </a:r>
            <a:endParaRPr b="1" sz="3000">
              <a:solidFill>
                <a:schemeClr val="lt2"/>
              </a:solidFill>
              <a:latin typeface="Raleway"/>
              <a:ea typeface="Raleway"/>
              <a:cs typeface="Raleway"/>
              <a:sym typeface="Raleway"/>
            </a:endParaRPr>
          </a:p>
        </p:txBody>
      </p:sp>
      <p:sp>
        <p:nvSpPr>
          <p:cNvPr id="163" name="Google Shape;163;p24"/>
          <p:cNvSpPr txBox="1"/>
          <p:nvPr>
            <p:ph idx="4294967295" type="body"/>
          </p:nvPr>
        </p:nvSpPr>
        <p:spPr>
          <a:xfrm>
            <a:off x="2506500" y="1758475"/>
            <a:ext cx="41310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aleway"/>
                <a:ea typeface="Raleway"/>
                <a:cs typeface="Raleway"/>
                <a:sym typeface="Raleway"/>
              </a:rPr>
              <a:t>Esistono una serie di strumenti per creare dei cloni di diverse tipologie di media.</a:t>
            </a:r>
            <a:endParaRPr sz="1200">
              <a:latin typeface="Raleway"/>
              <a:ea typeface="Raleway"/>
              <a:cs typeface="Raleway"/>
              <a:sym typeface="Raleway"/>
            </a:endParaRPr>
          </a:p>
          <a:p>
            <a:pPr indent="0" lvl="0" marL="0" rtl="0" algn="l">
              <a:spcBef>
                <a:spcPts val="1000"/>
              </a:spcBef>
              <a:spcAft>
                <a:spcPts val="0"/>
              </a:spcAft>
              <a:buNone/>
            </a:pPr>
            <a:r>
              <a:rPr lang="en" sz="1200">
                <a:latin typeface="Raleway"/>
                <a:ea typeface="Raleway"/>
                <a:cs typeface="Raleway"/>
                <a:sym typeface="Raleway"/>
              </a:rPr>
              <a:t>Il media </a:t>
            </a:r>
            <a:r>
              <a:rPr lang="en" sz="1200">
                <a:latin typeface="Raleway"/>
                <a:ea typeface="Raleway"/>
                <a:cs typeface="Raleway"/>
                <a:sym typeface="Raleway"/>
              </a:rPr>
              <a:t>più</a:t>
            </a:r>
            <a:r>
              <a:rPr lang="en" sz="1200">
                <a:latin typeface="Raleway"/>
                <a:ea typeface="Raleway"/>
                <a:cs typeface="Raleway"/>
                <a:sym typeface="Raleway"/>
              </a:rPr>
              <a:t> diffuso al momento e’ l’immagine, ma sta diventando sempre </a:t>
            </a:r>
            <a:r>
              <a:rPr lang="en" sz="1200">
                <a:latin typeface="Raleway"/>
                <a:ea typeface="Raleway"/>
                <a:cs typeface="Raleway"/>
                <a:sym typeface="Raleway"/>
              </a:rPr>
              <a:t>più</a:t>
            </a:r>
            <a:r>
              <a:rPr lang="en" sz="1200">
                <a:latin typeface="Raleway"/>
                <a:ea typeface="Raleway"/>
                <a:cs typeface="Raleway"/>
                <a:sym typeface="Raleway"/>
              </a:rPr>
              <a:t> frequente la presenza di video fake, mentre e’ abbastanza sconosciuta la </a:t>
            </a:r>
            <a:r>
              <a:rPr lang="en" sz="1200">
                <a:latin typeface="Raleway"/>
                <a:ea typeface="Raleway"/>
                <a:cs typeface="Raleway"/>
                <a:sym typeface="Raleway"/>
              </a:rPr>
              <a:t>possibilità</a:t>
            </a:r>
            <a:r>
              <a:rPr lang="en" sz="1200">
                <a:latin typeface="Raleway"/>
                <a:ea typeface="Raleway"/>
                <a:cs typeface="Raleway"/>
                <a:sym typeface="Raleway"/>
              </a:rPr>
              <a:t> di generare voci in tempo reale.</a:t>
            </a:r>
            <a:endParaRPr sz="1200">
              <a:latin typeface="Raleway"/>
              <a:ea typeface="Raleway"/>
              <a:cs typeface="Raleway"/>
              <a:sym typeface="Raleway"/>
            </a:endParaRPr>
          </a:p>
          <a:p>
            <a:pPr indent="0" lvl="0" marL="0" rtl="0" algn="l">
              <a:spcBef>
                <a:spcPts val="1000"/>
              </a:spcBef>
              <a:spcAft>
                <a:spcPts val="0"/>
              </a:spcAft>
              <a:buNone/>
            </a:pPr>
            <a:r>
              <a:t/>
            </a:r>
            <a:endParaRPr sz="1200">
              <a:latin typeface="Raleway"/>
              <a:ea typeface="Raleway"/>
              <a:cs typeface="Raleway"/>
              <a:sym typeface="Raleway"/>
            </a:endParaRPr>
          </a:p>
          <a:p>
            <a:pPr indent="0" lvl="0" marL="0" rtl="0" algn="l">
              <a:spcBef>
                <a:spcPts val="1000"/>
              </a:spcBef>
              <a:spcAft>
                <a:spcPts val="1000"/>
              </a:spcAft>
              <a:buNone/>
            </a:pPr>
            <a:r>
              <a:rPr lang="en" sz="1200">
                <a:latin typeface="Raleway"/>
                <a:ea typeface="Raleway"/>
                <a:cs typeface="Raleway"/>
                <a:sym typeface="Raleway"/>
              </a:rPr>
              <a:t>Esploriamo le possibili ripercussioni.</a:t>
            </a:r>
            <a:endParaRPr sz="1200">
              <a:latin typeface="Raleway"/>
              <a:ea typeface="Raleway"/>
              <a:cs typeface="Raleway"/>
              <a:sym typeface="Raleway"/>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167" name="Shape 167"/>
        <p:cNvGrpSpPr/>
        <p:nvPr/>
      </p:nvGrpSpPr>
      <p:grpSpPr>
        <a:xfrm>
          <a:off x="0" y="0"/>
          <a:ext cx="0" cy="0"/>
          <a:chOff x="0" y="0"/>
          <a:chExt cx="0" cy="0"/>
        </a:xfrm>
      </p:grpSpPr>
      <p:pic>
        <p:nvPicPr>
          <p:cNvPr id="168" name="Google Shape;168;p25"/>
          <p:cNvPicPr preferRelativeResize="0"/>
          <p:nvPr/>
        </p:nvPicPr>
        <p:blipFill>
          <a:blip r:embed="rId3">
            <a:alphaModFix/>
          </a:blip>
          <a:stretch>
            <a:fillRect/>
          </a:stretch>
        </p:blipFill>
        <p:spPr>
          <a:xfrm>
            <a:off x="325375" y="162731"/>
            <a:ext cx="5078524" cy="4818044"/>
          </a:xfrm>
          <a:prstGeom prst="rect">
            <a:avLst/>
          </a:prstGeom>
          <a:noFill/>
          <a:ln>
            <a:noFill/>
          </a:ln>
        </p:spPr>
      </p:pic>
      <p:pic>
        <p:nvPicPr>
          <p:cNvPr descr="Piece of duct tape sticking a note to the slide" id="169" name="Google Shape;169;p25"/>
          <p:cNvPicPr preferRelativeResize="0"/>
          <p:nvPr/>
        </p:nvPicPr>
        <p:blipFill rotWithShape="1">
          <a:blip r:embed="rId4">
            <a:alphaModFix/>
          </a:blip>
          <a:srcRect b="10012" l="9245" r="2118" t="5926"/>
          <a:stretch/>
        </p:blipFill>
        <p:spPr>
          <a:xfrm rot="129735">
            <a:off x="1628384" y="147137"/>
            <a:ext cx="2472507" cy="736368"/>
          </a:xfrm>
          <a:prstGeom prst="rect">
            <a:avLst/>
          </a:prstGeom>
          <a:noFill/>
          <a:ln>
            <a:noFill/>
          </a:ln>
        </p:spPr>
      </p:pic>
      <p:sp>
        <p:nvSpPr>
          <p:cNvPr id="170" name="Google Shape;170;p25"/>
          <p:cNvSpPr txBox="1"/>
          <p:nvPr/>
        </p:nvSpPr>
        <p:spPr>
          <a:xfrm>
            <a:off x="598603" y="687395"/>
            <a:ext cx="45105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Sfuggire alla minaccia</a:t>
            </a:r>
            <a:endParaRPr b="1" sz="3000">
              <a:solidFill>
                <a:schemeClr val="lt2"/>
              </a:solidFill>
              <a:latin typeface="Raleway"/>
              <a:ea typeface="Raleway"/>
              <a:cs typeface="Raleway"/>
              <a:sym typeface="Raleway"/>
            </a:endParaRPr>
          </a:p>
        </p:txBody>
      </p:sp>
      <p:sp>
        <p:nvSpPr>
          <p:cNvPr id="171" name="Google Shape;171;p25"/>
          <p:cNvSpPr txBox="1"/>
          <p:nvPr>
            <p:ph idx="4294967295" type="body"/>
          </p:nvPr>
        </p:nvSpPr>
        <p:spPr>
          <a:xfrm>
            <a:off x="815788" y="1377476"/>
            <a:ext cx="40977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aleway"/>
                <a:ea typeface="Raleway"/>
                <a:cs typeface="Raleway"/>
                <a:sym typeface="Raleway"/>
              </a:rPr>
              <a:t>E’ possibile evitare di essere hackerati a patto di utilizzare una serie di strumenti di sicurezza.</a:t>
            </a:r>
            <a:endParaRPr sz="1200">
              <a:latin typeface="Raleway"/>
              <a:ea typeface="Raleway"/>
              <a:cs typeface="Raleway"/>
              <a:sym typeface="Raleway"/>
            </a:endParaRPr>
          </a:p>
          <a:p>
            <a:pPr indent="0" lvl="0" marL="0" rtl="0" algn="l">
              <a:spcBef>
                <a:spcPts val="1000"/>
              </a:spcBef>
              <a:spcAft>
                <a:spcPts val="0"/>
              </a:spcAft>
              <a:buNone/>
            </a:pPr>
            <a:r>
              <a:rPr lang="en" sz="1200">
                <a:latin typeface="Raleway"/>
                <a:ea typeface="Raleway"/>
                <a:cs typeface="Raleway"/>
                <a:sym typeface="Raleway"/>
              </a:rPr>
              <a:t>2FA - two factor authorization</a:t>
            </a:r>
            <a:endParaRPr sz="1200">
              <a:latin typeface="Raleway"/>
              <a:ea typeface="Raleway"/>
              <a:cs typeface="Raleway"/>
              <a:sym typeface="Raleway"/>
            </a:endParaRPr>
          </a:p>
          <a:p>
            <a:pPr indent="0" lvl="0" marL="0" rtl="0" algn="l">
              <a:spcBef>
                <a:spcPts val="1000"/>
              </a:spcBef>
              <a:spcAft>
                <a:spcPts val="0"/>
              </a:spcAft>
              <a:buNone/>
            </a:pPr>
            <a:r>
              <a:rPr lang="en" sz="1200">
                <a:latin typeface="Raleway"/>
                <a:ea typeface="Raleway"/>
                <a:cs typeface="Raleway"/>
                <a:sym typeface="Raleway"/>
              </a:rPr>
              <a:t>Ne esistono di diverse tipologie, quella meno sicura e’ legata agli SMS.</a:t>
            </a:r>
            <a:endParaRPr sz="1200">
              <a:latin typeface="Raleway"/>
              <a:ea typeface="Raleway"/>
              <a:cs typeface="Raleway"/>
              <a:sym typeface="Raleway"/>
            </a:endParaRPr>
          </a:p>
          <a:p>
            <a:pPr indent="0" lvl="0" marL="0" rtl="0" algn="l">
              <a:spcBef>
                <a:spcPts val="1000"/>
              </a:spcBef>
              <a:spcAft>
                <a:spcPts val="0"/>
              </a:spcAft>
              <a:buNone/>
            </a:pPr>
            <a:r>
              <a:rPr lang="en" sz="1200">
                <a:latin typeface="Raleway"/>
                <a:ea typeface="Raleway"/>
                <a:cs typeface="Raleway"/>
                <a:sym typeface="Raleway"/>
              </a:rPr>
              <a:t>Passkeys vs passwords</a:t>
            </a:r>
            <a:endParaRPr sz="1200">
              <a:latin typeface="Raleway"/>
              <a:ea typeface="Raleway"/>
              <a:cs typeface="Raleway"/>
              <a:sym typeface="Raleway"/>
            </a:endParaRPr>
          </a:p>
          <a:p>
            <a:pPr indent="0" lvl="0" marL="0" rtl="0" algn="l">
              <a:spcBef>
                <a:spcPts val="1000"/>
              </a:spcBef>
              <a:spcAft>
                <a:spcPts val="0"/>
              </a:spcAft>
              <a:buNone/>
            </a:pPr>
            <a:r>
              <a:rPr lang="en" sz="1200">
                <a:latin typeface="Raleway"/>
                <a:ea typeface="Raleway"/>
                <a:cs typeface="Raleway"/>
                <a:sym typeface="Raleway"/>
              </a:rPr>
              <a:t>Le passkeys richiedono una crittografia legata da due componenti, una parte e’ con noi e l’altra nel sito/applicazione a cui vogliamo accedere.</a:t>
            </a:r>
            <a:endParaRPr sz="1200">
              <a:latin typeface="Raleway"/>
              <a:ea typeface="Raleway"/>
              <a:cs typeface="Raleway"/>
              <a:sym typeface="Raleway"/>
            </a:endParaRPr>
          </a:p>
          <a:p>
            <a:pPr indent="0" lvl="0" marL="0" rtl="0" algn="l">
              <a:spcBef>
                <a:spcPts val="1000"/>
              </a:spcBef>
              <a:spcAft>
                <a:spcPts val="0"/>
              </a:spcAft>
              <a:buNone/>
            </a:pPr>
            <a:r>
              <a:rPr lang="en" sz="1200">
                <a:latin typeface="Raleway"/>
                <a:ea typeface="Raleway"/>
                <a:cs typeface="Raleway"/>
                <a:sym typeface="Raleway"/>
              </a:rPr>
              <a:t>Le passkeys </a:t>
            </a:r>
            <a:r>
              <a:rPr lang="en" sz="1200">
                <a:latin typeface="Raleway"/>
                <a:ea typeface="Raleway"/>
                <a:cs typeface="Raleway"/>
                <a:sym typeface="Raleway"/>
              </a:rPr>
              <a:t>più</a:t>
            </a:r>
            <a:r>
              <a:rPr lang="en" sz="1200">
                <a:latin typeface="Raleway"/>
                <a:ea typeface="Raleway"/>
                <a:cs typeface="Raleway"/>
                <a:sym typeface="Raleway"/>
              </a:rPr>
              <a:t> sicure per l’utente medio sono quelle fisiche (fido2).</a:t>
            </a:r>
            <a:endParaRPr sz="1200">
              <a:latin typeface="Raleway"/>
              <a:ea typeface="Raleway"/>
              <a:cs typeface="Raleway"/>
              <a:sym typeface="Raleway"/>
            </a:endParaRPr>
          </a:p>
          <a:p>
            <a:pPr indent="0" lvl="0" marL="0" rtl="0" algn="l">
              <a:spcBef>
                <a:spcPts val="1000"/>
              </a:spcBef>
              <a:spcAft>
                <a:spcPts val="1000"/>
              </a:spcAft>
              <a:buNone/>
            </a:pPr>
            <a:r>
              <a:t/>
            </a:r>
            <a:endParaRPr sz="1200">
              <a:latin typeface="Raleway"/>
              <a:ea typeface="Raleway"/>
              <a:cs typeface="Raleway"/>
              <a:sym typeface="Raleway"/>
            </a:endParaRPr>
          </a:p>
        </p:txBody>
      </p:sp>
      <p:pic>
        <p:nvPicPr>
          <p:cNvPr descr="a yellow key with a hole in the center (provided by Tenor)" id="172" name="Google Shape;172;p25"/>
          <p:cNvPicPr preferRelativeResize="0"/>
          <p:nvPr/>
        </p:nvPicPr>
        <p:blipFill>
          <a:blip r:embed="rId5">
            <a:alphaModFix/>
          </a:blip>
          <a:stretch>
            <a:fillRect/>
          </a:stretch>
        </p:blipFill>
        <p:spPr>
          <a:xfrm>
            <a:off x="4842200" y="929625"/>
            <a:ext cx="4030200" cy="3965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6"/>
          <p:cNvSpPr txBox="1"/>
          <p:nvPr>
            <p:ph type="title"/>
          </p:nvPr>
        </p:nvSpPr>
        <p:spPr>
          <a:xfrm>
            <a:off x="283100" y="712150"/>
            <a:ext cx="8620500" cy="101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Proprietà</a:t>
            </a:r>
            <a:r>
              <a:rPr lang="en"/>
              <a:t> intellettuale</a:t>
            </a:r>
            <a:endParaRPr/>
          </a:p>
        </p:txBody>
      </p:sp>
      <p:sp>
        <p:nvSpPr>
          <p:cNvPr id="178" name="Google Shape;178;p26"/>
          <p:cNvSpPr/>
          <p:nvPr/>
        </p:nvSpPr>
        <p:spPr>
          <a:xfrm>
            <a:off x="371775" y="1988900"/>
            <a:ext cx="2629500" cy="2244900"/>
          </a:xfrm>
          <a:prstGeom prst="wedgeRectCallout">
            <a:avLst>
              <a:gd fmla="val -20833" name="adj1"/>
              <a:gd fmla="val 62500"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6"/>
          <p:cNvSpPr/>
          <p:nvPr/>
        </p:nvSpPr>
        <p:spPr>
          <a:xfrm>
            <a:off x="3210432" y="1988900"/>
            <a:ext cx="2629500" cy="2244900"/>
          </a:xfrm>
          <a:prstGeom prst="wedgeRectCallout">
            <a:avLst>
              <a:gd fmla="val -20833" name="adj1"/>
              <a:gd fmla="val 62500" name="adj2"/>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6"/>
          <p:cNvSpPr/>
          <p:nvPr/>
        </p:nvSpPr>
        <p:spPr>
          <a:xfrm>
            <a:off x="6049089" y="1988900"/>
            <a:ext cx="2629500" cy="2244900"/>
          </a:xfrm>
          <a:prstGeom prst="wedgeRectCallout">
            <a:avLst>
              <a:gd fmla="val -20833" name="adj1"/>
              <a:gd fmla="val 6250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6"/>
          <p:cNvSpPr txBox="1"/>
          <p:nvPr>
            <p:ph type="title"/>
          </p:nvPr>
        </p:nvSpPr>
        <p:spPr>
          <a:xfrm>
            <a:off x="6125275" y="2061900"/>
            <a:ext cx="2481600" cy="20058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2100"/>
              <a:t>L’arte e’ morta</a:t>
            </a:r>
            <a:endParaRPr b="0" sz="1400">
              <a:solidFill>
                <a:schemeClr val="lt1"/>
              </a:solidFill>
            </a:endParaRPr>
          </a:p>
        </p:txBody>
      </p:sp>
      <p:sp>
        <p:nvSpPr>
          <p:cNvPr id="182" name="Google Shape;182;p26"/>
          <p:cNvSpPr txBox="1"/>
          <p:nvPr>
            <p:ph type="title"/>
          </p:nvPr>
        </p:nvSpPr>
        <p:spPr>
          <a:xfrm>
            <a:off x="447975" y="2061900"/>
            <a:ext cx="2481600" cy="20058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2100"/>
              <a:t>L’intelligenza artificiale danneggia il lavoro creativo</a:t>
            </a:r>
            <a:endParaRPr sz="1400">
              <a:solidFill>
                <a:schemeClr val="lt1"/>
              </a:solidFill>
            </a:endParaRPr>
          </a:p>
        </p:txBody>
      </p:sp>
      <p:sp>
        <p:nvSpPr>
          <p:cNvPr id="183" name="Google Shape;183;p26"/>
          <p:cNvSpPr txBox="1"/>
          <p:nvPr>
            <p:ph type="title"/>
          </p:nvPr>
        </p:nvSpPr>
        <p:spPr>
          <a:xfrm>
            <a:off x="3286625" y="2061900"/>
            <a:ext cx="2481600" cy="20058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2100"/>
              <a:t>Tutti possono copiare il lavoro creativo di un esperto</a:t>
            </a:r>
            <a:endParaRPr b="0" sz="1400">
              <a:solidFill>
                <a:schemeClr val="lt1"/>
              </a:solidFill>
            </a:endParaRPr>
          </a:p>
        </p:txBody>
      </p:sp>
      <p:sp>
        <p:nvSpPr>
          <p:cNvPr id="184" name="Google Shape;184;p26"/>
          <p:cNvSpPr txBox="1"/>
          <p:nvPr/>
        </p:nvSpPr>
        <p:spPr>
          <a:xfrm>
            <a:off x="283100" y="4654975"/>
            <a:ext cx="6244200" cy="25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n" sz="1200">
                <a:solidFill>
                  <a:schemeClr val="lt1"/>
                </a:solidFill>
                <a:latin typeface="Lato"/>
                <a:ea typeface="Lato"/>
                <a:cs typeface="Lato"/>
                <a:sym typeface="Lato"/>
              </a:rPr>
              <a:t>Queste informazioni sono false</a:t>
            </a:r>
            <a:endParaRPr i="1" sz="1200">
              <a:solidFill>
                <a:schemeClr val="accent5"/>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7"/>
          <p:cNvSpPr txBox="1"/>
          <p:nvPr>
            <p:ph type="title"/>
          </p:nvPr>
        </p:nvSpPr>
        <p:spPr>
          <a:xfrm>
            <a:off x="283100" y="712150"/>
            <a:ext cx="8620500" cy="101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Proprietà intellettuale</a:t>
            </a:r>
            <a:endParaRPr/>
          </a:p>
        </p:txBody>
      </p:sp>
      <p:sp>
        <p:nvSpPr>
          <p:cNvPr id="190" name="Google Shape;190;p27"/>
          <p:cNvSpPr/>
          <p:nvPr/>
        </p:nvSpPr>
        <p:spPr>
          <a:xfrm>
            <a:off x="371775" y="1988900"/>
            <a:ext cx="2629500" cy="2244900"/>
          </a:xfrm>
          <a:prstGeom prst="wedgeRectCallout">
            <a:avLst>
              <a:gd fmla="val -20833" name="adj1"/>
              <a:gd fmla="val 62500"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7"/>
          <p:cNvSpPr/>
          <p:nvPr/>
        </p:nvSpPr>
        <p:spPr>
          <a:xfrm>
            <a:off x="3210432" y="1988900"/>
            <a:ext cx="2629500" cy="2244900"/>
          </a:xfrm>
          <a:prstGeom prst="wedgeRectCallout">
            <a:avLst>
              <a:gd fmla="val -20833" name="adj1"/>
              <a:gd fmla="val 62500" name="adj2"/>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7"/>
          <p:cNvSpPr/>
          <p:nvPr/>
        </p:nvSpPr>
        <p:spPr>
          <a:xfrm>
            <a:off x="6049089" y="1988900"/>
            <a:ext cx="2629500" cy="2244900"/>
          </a:xfrm>
          <a:prstGeom prst="wedgeRectCallout">
            <a:avLst>
              <a:gd fmla="val -20833" name="adj1"/>
              <a:gd fmla="val 6250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7"/>
          <p:cNvSpPr txBox="1"/>
          <p:nvPr>
            <p:ph type="title"/>
          </p:nvPr>
        </p:nvSpPr>
        <p:spPr>
          <a:xfrm>
            <a:off x="6125275" y="2061900"/>
            <a:ext cx="2481600" cy="20058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2100"/>
              <a:t>l’artista </a:t>
            </a:r>
            <a:r>
              <a:rPr lang="en" sz="2100"/>
              <a:t>più</a:t>
            </a:r>
            <a:r>
              <a:rPr lang="en" sz="2100"/>
              <a:t> bravo non e’ necessariamente quello più bravo tecnicamente</a:t>
            </a:r>
            <a:endParaRPr b="0" sz="1400">
              <a:solidFill>
                <a:schemeClr val="lt1"/>
              </a:solidFill>
            </a:endParaRPr>
          </a:p>
        </p:txBody>
      </p:sp>
      <p:sp>
        <p:nvSpPr>
          <p:cNvPr id="194" name="Google Shape;194;p27"/>
          <p:cNvSpPr txBox="1"/>
          <p:nvPr>
            <p:ph type="title"/>
          </p:nvPr>
        </p:nvSpPr>
        <p:spPr>
          <a:xfrm>
            <a:off x="447975" y="2061900"/>
            <a:ext cx="2481600" cy="20058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2100"/>
              <a:t>L’intelligenza artificiale e’ un mezzo utile per accorciare le tempistiche</a:t>
            </a:r>
            <a:endParaRPr sz="1400">
              <a:solidFill>
                <a:schemeClr val="lt1"/>
              </a:solidFill>
            </a:endParaRPr>
          </a:p>
        </p:txBody>
      </p:sp>
      <p:sp>
        <p:nvSpPr>
          <p:cNvPr id="195" name="Google Shape;195;p27"/>
          <p:cNvSpPr txBox="1"/>
          <p:nvPr>
            <p:ph type="title"/>
          </p:nvPr>
        </p:nvSpPr>
        <p:spPr>
          <a:xfrm>
            <a:off x="3286625" y="2061900"/>
            <a:ext cx="2481600" cy="20058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2100"/>
              <a:t>Il lavoro creativo non e’ replicativo a differenza degli output dell’IA</a:t>
            </a:r>
            <a:endParaRPr b="0" sz="1400">
              <a:solidFill>
                <a:schemeClr val="lt1"/>
              </a:solidFill>
            </a:endParaRPr>
          </a:p>
        </p:txBody>
      </p:sp>
      <p:sp>
        <p:nvSpPr>
          <p:cNvPr id="196" name="Google Shape;196;p27"/>
          <p:cNvSpPr txBox="1"/>
          <p:nvPr/>
        </p:nvSpPr>
        <p:spPr>
          <a:xfrm>
            <a:off x="283100" y="4654975"/>
            <a:ext cx="6244200" cy="25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n" sz="1200">
                <a:solidFill>
                  <a:schemeClr val="lt1"/>
                </a:solidFill>
                <a:latin typeface="Lato"/>
                <a:ea typeface="Lato"/>
                <a:cs typeface="Lato"/>
                <a:sym typeface="Lato"/>
              </a:rPr>
              <a:t>Queste informazioni forniscono un quadro difensivo per la </a:t>
            </a:r>
            <a:r>
              <a:rPr i="1" lang="en" sz="1200">
                <a:solidFill>
                  <a:schemeClr val="lt1"/>
                </a:solidFill>
                <a:latin typeface="Lato"/>
                <a:ea typeface="Lato"/>
                <a:cs typeface="Lato"/>
                <a:sym typeface="Lato"/>
              </a:rPr>
              <a:t>creatività</a:t>
            </a:r>
            <a:r>
              <a:rPr i="1" lang="en" sz="1200">
                <a:solidFill>
                  <a:schemeClr val="lt1"/>
                </a:solidFill>
                <a:latin typeface="Lato"/>
                <a:ea typeface="Lato"/>
                <a:cs typeface="Lato"/>
                <a:sym typeface="Lato"/>
              </a:rPr>
              <a:t>, l’arte e gli artisti che sostengono la </a:t>
            </a:r>
            <a:r>
              <a:rPr i="1" lang="en" sz="1200">
                <a:solidFill>
                  <a:schemeClr val="lt1"/>
                </a:solidFill>
                <a:latin typeface="Lato"/>
                <a:ea typeface="Lato"/>
                <a:cs typeface="Lato"/>
                <a:sym typeface="Lato"/>
              </a:rPr>
              <a:t>capacità</a:t>
            </a:r>
            <a:r>
              <a:rPr i="1" lang="en" sz="1200">
                <a:solidFill>
                  <a:schemeClr val="lt1"/>
                </a:solidFill>
                <a:latin typeface="Lato"/>
                <a:ea typeface="Lato"/>
                <a:cs typeface="Lato"/>
                <a:sym typeface="Lato"/>
              </a:rPr>
              <a:t> di pensiero creativo contro le </a:t>
            </a:r>
            <a:r>
              <a:rPr i="1" lang="en" sz="1200">
                <a:solidFill>
                  <a:schemeClr val="lt1"/>
                </a:solidFill>
                <a:latin typeface="Lato"/>
                <a:ea typeface="Lato"/>
                <a:cs typeface="Lato"/>
                <a:sym typeface="Lato"/>
              </a:rPr>
              <a:t>capacità</a:t>
            </a:r>
            <a:r>
              <a:rPr i="1" lang="en" sz="1200">
                <a:solidFill>
                  <a:schemeClr val="lt1"/>
                </a:solidFill>
                <a:latin typeface="Lato"/>
                <a:ea typeface="Lato"/>
                <a:cs typeface="Lato"/>
                <a:sym typeface="Lato"/>
              </a:rPr>
              <a:t> esecutive.</a:t>
            </a:r>
            <a:endParaRPr i="1" sz="1200">
              <a:solidFill>
                <a:schemeClr val="accent5"/>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